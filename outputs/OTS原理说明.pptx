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OTS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035" y="1522095"/>
            <a:ext cx="5377180" cy="652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7600" y="1028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处于电磁波</a:t>
            </a:r>
            <a:r>
              <a:rPr lang="en-US" altLang="zh-CN"/>
              <a:t>Bi=i</a:t>
            </a:r>
            <a:r>
              <a:rPr lang="zh-CN" altLang="en-US"/>
              <a:t>×</a:t>
            </a:r>
            <a:r>
              <a:rPr lang="en-US" altLang="zh-CN"/>
              <a:t>Ei</a:t>
            </a:r>
            <a:r>
              <a:rPr lang="zh-CN" altLang="en-US"/>
              <a:t>中的电子加速度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14755" y="2421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远场区的电场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95" y="2911475"/>
            <a:ext cx="4336415" cy="9671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1660" y="4037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与场点有关联的电子密度函数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55155" y="916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总电场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10" y="3106420"/>
            <a:ext cx="5740400" cy="8502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79565" y="2483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单位立体角单位频率的辐射功率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l="2690"/>
          <a:stretch>
            <a:fillRect/>
          </a:stretch>
        </p:blipFill>
        <p:spPr>
          <a:xfrm>
            <a:off x="0" y="4564380"/>
            <a:ext cx="5513705" cy="8756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70" y="1504950"/>
            <a:ext cx="5726430" cy="6953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rcRect r="1380"/>
          <a:stretch>
            <a:fillRect/>
          </a:stretch>
        </p:blipFill>
        <p:spPr>
          <a:xfrm>
            <a:off x="5387975" y="4544060"/>
            <a:ext cx="6804025" cy="203009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899275" y="4081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傅里叶变换为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77545" y="5636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因子保证单电荷单次贡献为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8955" y="480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在低温极限</a:t>
            </a:r>
            <a:r>
              <a:rPr lang="en-US" altLang="zh-CN"/>
              <a:t>v/c&lt;&lt;1</a:t>
            </a:r>
            <a:r>
              <a:rPr lang="zh-CN" altLang="en-US"/>
              <a:t>情况</a:t>
            </a:r>
            <a:r>
              <a:rPr lang="zh-CN" altLang="en-US"/>
              <a:t>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5" y="1057275"/>
            <a:ext cx="4775835" cy="1292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555"/>
            <a:ext cx="6073140" cy="1165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" y="4160520"/>
            <a:ext cx="3574415" cy="59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0075" y="3886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代入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" y="5110480"/>
            <a:ext cx="6118225" cy="15767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0235" y="4813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得到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77305" y="465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完成积分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t="17164" r="3533"/>
          <a:stretch>
            <a:fillRect/>
          </a:stretch>
        </p:blipFill>
        <p:spPr>
          <a:xfrm>
            <a:off x="5360035" y="974725"/>
            <a:ext cx="6831965" cy="4933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64080"/>
            <a:ext cx="5514975" cy="59753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377305" y="1684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忽略高频项，</a:t>
            </a:r>
            <a:r>
              <a:rPr lang="zh-CN" altLang="en-US"/>
              <a:t>可写成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705" y="2761615"/>
            <a:ext cx="5676265" cy="5060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643370" y="3267710"/>
            <a:ext cx="483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r>
              <a:rPr lang="en-US" altLang="zh-CN"/>
              <a:t>S</a:t>
            </a:r>
            <a:r>
              <a:rPr lang="zh-CN" altLang="en-US"/>
              <a:t>为谱函数，</a:t>
            </a:r>
            <a:r>
              <a:rPr lang="en-US" altLang="zh-CN"/>
              <a:t>ne0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zh-CN" altLang="en-US"/>
              <a:t>均为</a:t>
            </a:r>
            <a:r>
              <a:rPr lang="zh-CN" altLang="en-US"/>
              <a:t>归一化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6695" y="3833495"/>
            <a:ext cx="5285105" cy="10261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9615" y="5057140"/>
            <a:ext cx="4396740" cy="6635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812280" y="59347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/>
              <a:t>可通过</a:t>
            </a:r>
            <a:r>
              <a:rPr lang="en-US" altLang="zh-CN"/>
              <a:t>WK</a:t>
            </a:r>
            <a:r>
              <a:rPr lang="zh-CN" altLang="en-US"/>
              <a:t>定理和涨落耗散定理与介电函数虚部</a:t>
            </a:r>
            <a:r>
              <a:rPr lang="zh-CN" altLang="en-US"/>
              <a:t>联系起来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18160" y="557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在较低温时，</a:t>
            </a:r>
            <a:r>
              <a:rPr lang="en-US" altLang="zh-CN"/>
              <a:t>(v/c)</a:t>
            </a:r>
            <a:r>
              <a:rPr lang="en-US" altLang="zh-CN" baseline="30000"/>
              <a:t>2</a:t>
            </a:r>
            <a:r>
              <a:rPr lang="en-US" altLang="zh-CN"/>
              <a:t>&lt;&lt;1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996950"/>
            <a:ext cx="2876550" cy="655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1919605"/>
            <a:ext cx="3538855" cy="297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3720" y="1828165"/>
            <a:ext cx="4166870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2520315"/>
            <a:ext cx="6250940" cy="10394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-2369" t="20952" r="2369" b="-20952"/>
          <a:stretch>
            <a:fillRect/>
          </a:stretch>
        </p:blipFill>
        <p:spPr>
          <a:xfrm>
            <a:off x="666115" y="3776980"/>
            <a:ext cx="2158365" cy="332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4330" y="3691890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若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15" y="4192270"/>
            <a:ext cx="2929255" cy="3155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6245" y="4756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平方后一阶</a:t>
            </a:r>
            <a:r>
              <a:rPr lang="zh-CN" altLang="en-US"/>
              <a:t>小量仅剩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4005"/>
            <a:ext cx="1237615" cy="2844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929755" y="583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zh-CN" altLang="en-US"/>
              <a:t>散射强度峰附近</a:t>
            </a:r>
            <a:r>
              <a:rPr lang="zh-CN" altLang="en-US"/>
              <a:t>有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980" y="1237615"/>
            <a:ext cx="2428875" cy="533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9755" y="21043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此处</a:t>
            </a:r>
            <a:r>
              <a:rPr lang="en-US" altLang="zh-CN"/>
              <a:t>β</a:t>
            </a:r>
            <a:r>
              <a:rPr lang="zh-CN" altLang="en-US"/>
              <a:t>应该以积分变量的平均值</a:t>
            </a:r>
            <a:r>
              <a:rPr lang="zh-CN" altLang="en-US"/>
              <a:t>理解</a:t>
            </a:r>
            <a:endParaRPr lang="zh-CN" altLang="en-US"/>
          </a:p>
          <a:p>
            <a:r>
              <a:rPr lang="en-US" altLang="zh-CN"/>
              <a:t>ωs/ωi</a:t>
            </a:r>
            <a:r>
              <a:rPr lang="zh-CN" altLang="en-US"/>
              <a:t>以强度峰所处频率</a:t>
            </a:r>
            <a:r>
              <a:rPr lang="zh-CN" altLang="en-US"/>
              <a:t>理解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01510" y="3277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因此相对于前面结果额外</a:t>
            </a:r>
            <a:r>
              <a:rPr lang="zh-CN" altLang="en-US"/>
              <a:t>乘以一项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165" y="3832860"/>
            <a:ext cx="7823835" cy="7359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437380" y="4792980"/>
            <a:ext cx="77539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1-βi</a:t>
            </a:r>
            <a:r>
              <a:rPr lang="zh-CN" altLang="en-US"/>
              <a:t>说明当电子向光源移动时，电子系内看到光源发生前灯</a:t>
            </a:r>
            <a:r>
              <a:rPr lang="zh-CN" altLang="en-US"/>
              <a:t>效应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1-βs</a:t>
            </a:r>
            <a:r>
              <a:rPr lang="zh-CN" altLang="en-US"/>
              <a:t>说明当电子向接收源移动时，实验室系内看到电子发生</a:t>
            </a:r>
            <a:r>
              <a:rPr lang="zh-CN" altLang="en-US"/>
              <a:t>前灯效应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电子系内的前灯效应等价于实验室系内磁场力与电场力</a:t>
            </a:r>
            <a:r>
              <a:rPr lang="zh-CN" altLang="en-US"/>
              <a:t>平行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3370" y="962025"/>
            <a:ext cx="4602480" cy="720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" y="593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速度分布函数的</a:t>
            </a:r>
            <a:r>
              <a:rPr lang="en-US" altLang="zh-CN"/>
              <a:t>Fourier-Laplace</a:t>
            </a:r>
            <a:r>
              <a:rPr lang="zh-CN" altLang="en-US"/>
              <a:t>变换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7200" y="1628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r>
              <a:rPr lang="en-US" altLang="zh-CN"/>
              <a:t>γ&gt;0</a:t>
            </a:r>
            <a:r>
              <a:rPr lang="zh-CN" altLang="en-US"/>
              <a:t>，表示朗道</a:t>
            </a:r>
            <a:r>
              <a:rPr lang="zh-CN" altLang="en-US"/>
              <a:t>规则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" y="2063115"/>
            <a:ext cx="3811270" cy="5283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7200" y="2662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Vlasov</a:t>
            </a:r>
            <a:r>
              <a:rPr lang="zh-CN" altLang="en-US"/>
              <a:t>方程的</a:t>
            </a:r>
            <a:r>
              <a:rPr lang="en-US" altLang="zh-CN"/>
              <a:t>F-L</a:t>
            </a:r>
            <a:r>
              <a:rPr lang="zh-CN" altLang="en-US"/>
              <a:t>变换</a:t>
            </a:r>
            <a:r>
              <a:rPr lang="zh-CN" altLang="en-US"/>
              <a:t>显示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030855"/>
            <a:ext cx="6680200" cy="5670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" y="4011295"/>
            <a:ext cx="5737860" cy="16008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3080" y="3650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将分布函数代入，并完成对</a:t>
            </a:r>
            <a:r>
              <a:rPr lang="en-US" altLang="zh-CN"/>
              <a:t>v</a:t>
            </a:r>
            <a:r>
              <a:rPr lang="zh-CN" altLang="en-US"/>
              <a:t>积分后</a:t>
            </a:r>
            <a:r>
              <a:rPr lang="zh-CN" altLang="en-US"/>
              <a:t>得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685" y="757555"/>
            <a:ext cx="4530725" cy="15157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84035" y="393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其中介电函数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035" y="2366010"/>
            <a:ext cx="2941955" cy="36004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 l="8307" r="2957"/>
          <a:stretch>
            <a:fillRect/>
          </a:stretch>
        </p:blipFill>
        <p:spPr>
          <a:xfrm>
            <a:off x="6296025" y="3562350"/>
            <a:ext cx="5681980" cy="17430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105015" y="3138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解得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00495" y="5622290"/>
            <a:ext cx="4867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第一项是匀速直线电子，第二项是电子相互作用，第三项是离子相互作用，均为一阶</a:t>
            </a:r>
            <a:r>
              <a:rPr lang="zh-CN" altLang="en-US"/>
              <a:t>修正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203200"/>
            <a:ext cx="4946650" cy="2256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6245" y="2292985"/>
            <a:ext cx="4437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</a:t>
            </a:r>
            <a:r>
              <a:rPr lang="en-US" altLang="zh-CN"/>
              <a:t>Laplace</a:t>
            </a:r>
            <a:r>
              <a:rPr lang="zh-CN" altLang="en-US"/>
              <a:t>变换，时间平均由</a:t>
            </a:r>
            <a:r>
              <a:rPr lang="en-US" altLang="zh-CN"/>
              <a:t>1/T</a:t>
            </a:r>
            <a:r>
              <a:rPr lang="zh-CN" altLang="en-US"/>
              <a:t>变为</a:t>
            </a:r>
            <a:r>
              <a:rPr lang="en-US" altLang="zh-CN"/>
              <a:t>2</a:t>
            </a:r>
            <a:r>
              <a:rPr lang="en-US" altLang="zh-CN"/>
              <a:t>γ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6878" r="5874"/>
          <a:stretch>
            <a:fillRect/>
          </a:stretch>
        </p:blipFill>
        <p:spPr>
          <a:xfrm>
            <a:off x="177165" y="3239135"/>
            <a:ext cx="5574030" cy="3402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6245" y="2785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/>
              <a:t>为多粒子系综的</a:t>
            </a:r>
            <a:r>
              <a:rPr lang="zh-CN" altLang="en-US"/>
              <a:t>平均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3385"/>
            <a:ext cx="5658485" cy="31445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00545" y="39071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两粒子系综平均为</a:t>
            </a:r>
            <a:r>
              <a:rPr lang="en-US" altLang="zh-CN"/>
              <a:t>0</a:t>
            </a:r>
            <a:r>
              <a:rPr lang="zh-CN" altLang="en-US"/>
              <a:t>，仅保留</a:t>
            </a:r>
            <a:r>
              <a:rPr lang="zh-CN" altLang="en-US"/>
              <a:t>第一项</a:t>
            </a:r>
            <a:endParaRPr lang="zh-CN" altLang="en-US"/>
          </a:p>
          <a:p>
            <a:r>
              <a:rPr lang="zh-CN" altLang="en-US"/>
              <a:t>同理，左边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项为</a:t>
            </a:r>
            <a:r>
              <a:rPr lang="en-US" altLang="zh-CN"/>
              <a:t>0</a:t>
            </a:r>
            <a:r>
              <a:rPr lang="zh-CN" altLang="en-US"/>
              <a:t>，仅余电子和离子自</a:t>
            </a:r>
            <a:r>
              <a:rPr lang="zh-CN" altLang="en-US"/>
              <a:t>关联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最终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79955" y="2729230"/>
            <a:ext cx="7115175" cy="847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20" y="3740785"/>
            <a:ext cx="9340850" cy="1012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WPS 演示</Application>
  <PresentationFormat>宽屏</PresentationFormat>
  <Paragraphs>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OTS原理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Iris wu</cp:lastModifiedBy>
  <cp:revision>12</cp:revision>
  <dcterms:created xsi:type="dcterms:W3CDTF">2023-08-09T12:44:00Z</dcterms:created>
  <dcterms:modified xsi:type="dcterms:W3CDTF">2026-07-05T11:41:29Z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EED4C62B36FC4E45848338650D79449B_12</vt:lpwstr>
  </property>
</Properties>
</file>