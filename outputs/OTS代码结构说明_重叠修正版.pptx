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f1552bde7f4741" /><Relationship Type="http://schemas.openxmlformats.org/officeDocument/2006/relationships/extended-properties" Target="/docProps/app.xml" Id="Rfcc29fa637a44dd9" /><Relationship Type="http://schemas.openxmlformats.org/officeDocument/2006/relationships/officeDocument" Target="/ppt/presentation.xml" Id="R83a904e2d6bb49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891250a1894122"/>
  </p:sldMasterIdLst>
  <p:notesMasterIdLst>
    <p:notesMasterId xmlns:r="http://schemas.openxmlformats.org/officeDocument/2006/relationships" r:id="R467bba3db38d447f"/>
  </p:notesMasterIdLst>
  <p:sldIdLst>
    <p:sldId xmlns:r="http://schemas.openxmlformats.org/officeDocument/2006/relationships" id="256" r:id="Re8301513133f4a44"/>
    <p:sldId xmlns:r="http://schemas.openxmlformats.org/officeDocument/2006/relationships" id="257" r:id="Rd8e1dda1a4134292"/>
    <p:sldId xmlns:r="http://schemas.openxmlformats.org/officeDocument/2006/relationships" id="258" r:id="R9eb24302aa7e4c58"/>
    <p:sldId xmlns:r="http://schemas.openxmlformats.org/officeDocument/2006/relationships" id="259" r:id="R82257b7cded946d3"/>
    <p:sldId xmlns:r="http://schemas.openxmlformats.org/officeDocument/2006/relationships" id="260" r:id="R47f5e50ea0dc47bf"/>
    <p:sldId xmlns:r="http://schemas.openxmlformats.org/officeDocument/2006/relationships" id="261" r:id="R4d4e31675b55410f"/>
    <p:sldId xmlns:r="http://schemas.openxmlformats.org/officeDocument/2006/relationships" id="262" r:id="R59247d09d0624f05"/>
    <p:sldId xmlns:r="http://schemas.openxmlformats.org/officeDocument/2006/relationships" id="263" r:id="Rdb3b7faf27c24cb0"/>
    <p:sldId xmlns:r="http://schemas.openxmlformats.org/officeDocument/2006/relationships" id="264" r:id="R7fcfebfa40024210"/>
    <p:sldId xmlns:r="http://schemas.openxmlformats.org/officeDocument/2006/relationships" id="265" r:id="Ra4ab9987369a4fe3"/>
    <p:sldId xmlns:r="http://schemas.openxmlformats.org/officeDocument/2006/relationships" id="266" r:id="Rb6af7c86c9f14274"/>
    <p:sldId xmlns:r="http://schemas.openxmlformats.org/officeDocument/2006/relationships" id="267" r:id="R6e49b8bfdc6245b8"/>
    <p:sldId xmlns:r="http://schemas.openxmlformats.org/officeDocument/2006/relationships" id="268" r:id="R9dbcc28cf68645c6"/>
    <p:sldId xmlns:r="http://schemas.openxmlformats.org/officeDocument/2006/relationships" id="269" r:id="Re9e803bf645d4a51"/>
    <p:sldId xmlns:r="http://schemas.openxmlformats.org/officeDocument/2006/relationships" id="270" r:id="R3bcb9da073084d8a"/>
    <p:sldId xmlns:r="http://schemas.openxmlformats.org/officeDocument/2006/relationships" id="271" r:id="R1fa28cb3db314ea8"/>
    <p:sldId xmlns:r="http://schemas.openxmlformats.org/officeDocument/2006/relationships" id="272" r:id="R2f4a23d6861e4a81"/>
    <p:sldId xmlns:r="http://schemas.openxmlformats.org/officeDocument/2006/relationships" id="273" r:id="R07f299a687824d1c"/>
    <p:sldId xmlns:r="http://schemas.openxmlformats.org/officeDocument/2006/relationships" id="274" r:id="R4d13bf0e786047ad"/>
    <p:sldId xmlns:r="http://schemas.openxmlformats.org/officeDocument/2006/relationships" id="275" r:id="R0dd9f128b8bf4367"/>
    <p:sldId xmlns:r="http://schemas.openxmlformats.org/officeDocument/2006/relationships" id="276" r:id="R67bb9f4abd104554"/>
    <p:sldId xmlns:r="http://schemas.openxmlformats.org/officeDocument/2006/relationships" id="277" r:id="R914cf3bebec647d5"/>
    <p:sldId xmlns:r="http://schemas.openxmlformats.org/officeDocument/2006/relationships" id="278" r:id="R80cea846a9144754"/>
    <p:sldId xmlns:r="http://schemas.openxmlformats.org/officeDocument/2006/relationships" id="279" r:id="R532c1f8696c7499e"/>
    <p:sldId xmlns:r="http://schemas.openxmlformats.org/officeDocument/2006/relationships" id="280" r:id="R8cb364dab1ab4e37"/>
    <p:sldId xmlns:r="http://schemas.openxmlformats.org/officeDocument/2006/relationships" id="281" r:id="R41a92f2fb4dc4065"/>
    <p:sldId xmlns:r="http://schemas.openxmlformats.org/officeDocument/2006/relationships" id="282" r:id="Rf89eda97366c4938"/>
    <p:sldId xmlns:r="http://schemas.openxmlformats.org/officeDocument/2006/relationships" id="283" r:id="R2095765262d843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d397610c744936" /><Relationship Type="http://schemas.openxmlformats.org/officeDocument/2006/relationships/slideMaster" Target="/ppt/slideMasters/slideMaster1.xml" Id="R21891250a1894122" /><Relationship Type="http://schemas.openxmlformats.org/officeDocument/2006/relationships/notesMaster" Target="/ppt/notesMasters/notesMaster1.xml" Id="R467bba3db38d447f" /><Relationship Type="http://schemas.openxmlformats.org/officeDocument/2006/relationships/presProps" Target="/ppt/presProps.xml" Id="R3afd2395e9114667" /><Relationship Type="http://schemas.openxmlformats.org/officeDocument/2006/relationships/tableStyles" Target="/ppt/tableStyles.xml" Id="R3c5d1cb223e649dc" /><Relationship Type="http://schemas.openxmlformats.org/officeDocument/2006/relationships/slide" Target="/ppt/slides/slide1.xml" Id="Re8301513133f4a44" /><Relationship Type="http://schemas.openxmlformats.org/officeDocument/2006/relationships/slide" Target="/ppt/slides/slide2.xml" Id="Rd8e1dda1a4134292" /><Relationship Type="http://schemas.openxmlformats.org/officeDocument/2006/relationships/slide" Target="/ppt/slides/slide3.xml" Id="R9eb24302aa7e4c58" /><Relationship Type="http://schemas.openxmlformats.org/officeDocument/2006/relationships/slide" Target="/ppt/slides/slide4.xml" Id="R82257b7cded946d3" /><Relationship Type="http://schemas.openxmlformats.org/officeDocument/2006/relationships/slide" Target="/ppt/slides/slide5.xml" Id="R47f5e50ea0dc47bf" /><Relationship Type="http://schemas.openxmlformats.org/officeDocument/2006/relationships/slide" Target="/ppt/slides/slide6.xml" Id="R4d4e31675b55410f" /><Relationship Type="http://schemas.openxmlformats.org/officeDocument/2006/relationships/slide" Target="/ppt/slides/slide7.xml" Id="R59247d09d0624f05" /><Relationship Type="http://schemas.openxmlformats.org/officeDocument/2006/relationships/slide" Target="/ppt/slides/slide8.xml" Id="Rdb3b7faf27c24cb0" /><Relationship Type="http://schemas.openxmlformats.org/officeDocument/2006/relationships/slide" Target="/ppt/slides/slide9.xml" Id="R7fcfebfa40024210" /><Relationship Type="http://schemas.openxmlformats.org/officeDocument/2006/relationships/slide" Target="/ppt/slides/slide10.xml" Id="Ra4ab9987369a4fe3" /><Relationship Type="http://schemas.openxmlformats.org/officeDocument/2006/relationships/slide" Target="/ppt/slides/slide11.xml" Id="Rb6af7c86c9f14274" /><Relationship Type="http://schemas.openxmlformats.org/officeDocument/2006/relationships/slide" Target="/ppt/slides/slide12.xml" Id="R6e49b8bfdc6245b8" /><Relationship Type="http://schemas.openxmlformats.org/officeDocument/2006/relationships/slide" Target="/ppt/slides/slide13.xml" Id="R9dbcc28cf68645c6" /><Relationship Type="http://schemas.openxmlformats.org/officeDocument/2006/relationships/slide" Target="/ppt/slides/slide14.xml" Id="Re9e803bf645d4a51" /><Relationship Type="http://schemas.openxmlformats.org/officeDocument/2006/relationships/slide" Target="/ppt/slides/slide15.xml" Id="R3bcb9da073084d8a" /><Relationship Type="http://schemas.openxmlformats.org/officeDocument/2006/relationships/slide" Target="/ppt/slides/slide16.xml" Id="R1fa28cb3db314ea8" /><Relationship Type="http://schemas.openxmlformats.org/officeDocument/2006/relationships/slide" Target="/ppt/slides/slide17.xml" Id="R2f4a23d6861e4a81" /><Relationship Type="http://schemas.openxmlformats.org/officeDocument/2006/relationships/slide" Target="/ppt/slides/slide18.xml" Id="R07f299a687824d1c" /><Relationship Type="http://schemas.openxmlformats.org/officeDocument/2006/relationships/slide" Target="/ppt/slides/slide19.xml" Id="R4d13bf0e786047ad" /><Relationship Type="http://schemas.openxmlformats.org/officeDocument/2006/relationships/slide" Target="/ppt/slides/slide20.xml" Id="R0dd9f128b8bf4367" /><Relationship Type="http://schemas.openxmlformats.org/officeDocument/2006/relationships/slide" Target="/ppt/slides/slide21.xml" Id="R67bb9f4abd104554" /><Relationship Type="http://schemas.openxmlformats.org/officeDocument/2006/relationships/slide" Target="/ppt/slides/slide22.xml" Id="R914cf3bebec647d5" /><Relationship Type="http://schemas.openxmlformats.org/officeDocument/2006/relationships/slide" Target="/ppt/slides/slide23.xml" Id="R80cea846a9144754" /><Relationship Type="http://schemas.openxmlformats.org/officeDocument/2006/relationships/slide" Target="/ppt/slides/slide24.xml" Id="R532c1f8696c7499e" /><Relationship Type="http://schemas.openxmlformats.org/officeDocument/2006/relationships/slide" Target="/ppt/slides/slide25.xml" Id="R8cb364dab1ab4e37" /><Relationship Type="http://schemas.openxmlformats.org/officeDocument/2006/relationships/slide" Target="/ppt/slides/slide26.xml" Id="R41a92f2fb4dc4065" /><Relationship Type="http://schemas.openxmlformats.org/officeDocument/2006/relationships/slide" Target="/ppt/slides/slide27.xml" Id="Rf89eda97366c4938" /><Relationship Type="http://schemas.openxmlformats.org/officeDocument/2006/relationships/slide" Target="/ppt/slides/slide28.xml" Id="R2095765262d843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99dd14ba440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Segoe UI">
      <a:majorFont>
        <a:latin typeface="Segoe UI"/>
        <a:ea typeface="Segoe UI"/>
        <a:cs typeface="Segoe UI"/>
      </a:majorFont>
      <a:minorFont>
        <a:latin typeface="Segoe UI"/>
        <a:ea typeface="Segoe UI"/>
        <a:cs typeface="Segoe UI"/>
      </a:minorFont>
    </a:fontScheme>
    <a:fmtScheme name="SJTU-202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a1f94b9d7943ce" /><Relationship Type="http://schemas.openxmlformats.org/officeDocument/2006/relationships/notesMaster" Target="/ppt/notesMasters/notesMaster1.xml" Id="R2416a25427fb44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d489374d8246e5" /><Relationship Type="http://schemas.openxmlformats.org/officeDocument/2006/relationships/notesMaster" Target="/ppt/notesMasters/notesMaster1.xml" Id="Rf9d512809d9749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c91d3490d94572" /><Relationship Type="http://schemas.openxmlformats.org/officeDocument/2006/relationships/notesMaster" Target="/ppt/notesMasters/notesMaster1.xml" Id="Rbd804d96089a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00032b0fe1454d" /><Relationship Type="http://schemas.openxmlformats.org/officeDocument/2006/relationships/notesMaster" Target="/ppt/notesMasters/notesMaster1.xml" Id="Re4c8521ca5b14c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9e90eca0a74d41" /><Relationship Type="http://schemas.openxmlformats.org/officeDocument/2006/relationships/notesMaster" Target="/ppt/notesMasters/notesMaster1.xml" Id="Rc0cd0e8c461a44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1a3508b6c24c78" /><Relationship Type="http://schemas.openxmlformats.org/officeDocument/2006/relationships/notesMaster" Target="/ppt/notesMasters/notesMaster1.xml" Id="Rbf92d30175644f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aa31e286904f70" /><Relationship Type="http://schemas.openxmlformats.org/officeDocument/2006/relationships/notesMaster" Target="/ppt/notesMasters/notesMaster1.xml" Id="Rb2698cdfc71b44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7f77686b004401" /><Relationship Type="http://schemas.openxmlformats.org/officeDocument/2006/relationships/notesMaster" Target="/ppt/notesMasters/notesMaster1.xml" Id="R8e61c5c72c744c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0c70eab1e748f3" /><Relationship Type="http://schemas.openxmlformats.org/officeDocument/2006/relationships/notesMaster" Target="/ppt/notesMasters/notesMaster1.xml" Id="R472b2da3b31644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fb77c5312a4c51" /><Relationship Type="http://schemas.openxmlformats.org/officeDocument/2006/relationships/notesMaster" Target="/ppt/notesMasters/notesMaster1.xml" Id="R6ccf898531c241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04787f7ff54883" /><Relationship Type="http://schemas.openxmlformats.org/officeDocument/2006/relationships/notesMaster" Target="/ppt/notesMasters/notesMaster1.xml" Id="R3a33d5c8724c43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c3fb52c24d4389" /><Relationship Type="http://schemas.openxmlformats.org/officeDocument/2006/relationships/notesMaster" Target="/ppt/notesMasters/notesMaster1.xml" Id="R70a16bdd741348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e11878fee84524" /><Relationship Type="http://schemas.openxmlformats.org/officeDocument/2006/relationships/notesMaster" Target="/ppt/notesMasters/notesMaster1.xml" Id="R131e46f67a4b4b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6927eff494464a" /><Relationship Type="http://schemas.openxmlformats.org/officeDocument/2006/relationships/notesMaster" Target="/ppt/notesMasters/notesMaster1.xml" Id="Rd58f5bea88a245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fbfe799751413c" /><Relationship Type="http://schemas.openxmlformats.org/officeDocument/2006/relationships/notesMaster" Target="/ppt/notesMasters/notesMaster1.xml" Id="Rf34bfe08199a4e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2b05dcb2344b25" /><Relationship Type="http://schemas.openxmlformats.org/officeDocument/2006/relationships/notesMaster" Target="/ppt/notesMasters/notesMaster1.xml" Id="R18d5def5213744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2a1178cbc7499d" /><Relationship Type="http://schemas.openxmlformats.org/officeDocument/2006/relationships/notesMaster" Target="/ppt/notesMasters/notesMaster1.xml" Id="Rcc8b2b5789874c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748fad0b5f4f71" /><Relationship Type="http://schemas.openxmlformats.org/officeDocument/2006/relationships/notesMaster" Target="/ppt/notesMasters/notesMaster1.xml" Id="R32e496b1491749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d287df322d417e" /><Relationship Type="http://schemas.openxmlformats.org/officeDocument/2006/relationships/notesMaster" Target="/ppt/notesMasters/notesMaster1.xml" Id="Re333aa581d644e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68a8cb48604d45" /><Relationship Type="http://schemas.openxmlformats.org/officeDocument/2006/relationships/notesMaster" Target="/ppt/notesMasters/notesMaster1.xml" Id="R4270fdaef48541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5e09f70c07489a" /><Relationship Type="http://schemas.openxmlformats.org/officeDocument/2006/relationships/notesMaster" Target="/ppt/notesMasters/notesMaster1.xml" Id="R9ad2f278544241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7610fb8c314f7b" /><Relationship Type="http://schemas.openxmlformats.org/officeDocument/2006/relationships/notesMaster" Target="/ppt/notesMasters/notesMaster1.xml" Id="R5bfa1587d96747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d2d6cfb73a4c57" /><Relationship Type="http://schemas.openxmlformats.org/officeDocument/2006/relationships/notesMaster" Target="/ppt/notesMasters/notesMaster1.xml" Id="R4fdf5be94d8545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bc67c320104a89" /><Relationship Type="http://schemas.openxmlformats.org/officeDocument/2006/relationships/notesMaster" Target="/ppt/notesMasters/notesMaster1.xml" Id="R957c0f97648446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3ae8936a3394194" /><Relationship Type="http://schemas.openxmlformats.org/officeDocument/2006/relationships/notesMaster" Target="/ppt/notesMasters/notesMaster1.xml" Id="R59a2bcae523a4d7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28952722624467" /><Relationship Type="http://schemas.openxmlformats.org/officeDocument/2006/relationships/notesMaster" Target="/ppt/notesMasters/notesMaster1.xml" Id="Rba644fa0dfe74a3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46fe207e1e74f41" /><Relationship Type="http://schemas.openxmlformats.org/officeDocument/2006/relationships/notesMaster" Target="/ppt/notesMasters/notesMaster1.xml" Id="R7f55bcf2ba5341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565c605752d400c" /><Relationship Type="http://schemas.openxmlformats.org/officeDocument/2006/relationships/notesMaster" Target="/ppt/notesMasters/notesMaster1.xml" Id="Rf18901fc0de24e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35c56805f4e80" /><Relationship Type="http://schemas.openxmlformats.org/officeDocument/2006/relationships/image" Target="/ppt/media/image.png" Id="Rb0c1464671dd456e" /><Relationship Type="http://schemas.openxmlformats.org/officeDocument/2006/relationships/image" Target="/ppt/media/image2.png" Id="R17a6218235d143e4" /><Relationship Type="http://schemas.openxmlformats.org/officeDocument/2006/relationships/image" Target="/ppt/media/image3.png" Id="R602b9f5c5d4845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3b01303c246dd" /><Relationship Type="http://schemas.openxmlformats.org/officeDocument/2006/relationships/image" Target="/ppt/media/image3.png" Id="R92a62d184bfe49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dae55c08f4a57" /><Relationship Type="http://schemas.openxmlformats.org/officeDocument/2006/relationships/image" Target="/ppt/media/image2.png" Id="R3f9f31fa8155491d" /><Relationship Type="http://schemas.openxmlformats.org/officeDocument/2006/relationships/image" Target="/ppt/media/image3.png" Id="Refb1114a9c1e40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d95200d8b4803" /><Relationship Type="http://schemas.openxmlformats.org/officeDocument/2006/relationships/image" Target="/ppt/media/image4.png" Id="R0aed69083e4a4ed9" /><Relationship Type="http://schemas.openxmlformats.org/officeDocument/2006/relationships/image" Target="/ppt/media/image5.png" Id="R7fc57b51ee0749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abb25509d45f2" /><Relationship Type="http://schemas.openxmlformats.org/officeDocument/2006/relationships/image" Target="/ppt/media/image2.png" Id="R80cae67abb6d460e" /><Relationship Type="http://schemas.openxmlformats.org/officeDocument/2006/relationships/image" Target="/ppt/media/image3.png" Id="R68bf1791efa24e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31ac19fa64be4" /><Relationship Type="http://schemas.openxmlformats.org/officeDocument/2006/relationships/image" Target="/ppt/media/image.png" Id="R417ded3a89ca4c5e" /><Relationship Type="http://schemas.openxmlformats.org/officeDocument/2006/relationships/image" Target="/ppt/media/image6.png" Id="Rbbced06dadea49e1" /><Relationship Type="http://schemas.openxmlformats.org/officeDocument/2006/relationships/image" Target="/ppt/media/image2.png" Id="R3009255274ec42ce" /><Relationship Type="http://schemas.openxmlformats.org/officeDocument/2006/relationships/image" Target="/ppt/media/image3.png" Id="R5d1d133b9f0340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76ab2a18de45c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af402e60b148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614df34764fce" /><Relationship Type="http://schemas.openxmlformats.org/officeDocument/2006/relationships/image" Target="/ppt/media/image3.png" Id="Ra1f2a83b318040b6" /><Relationship Type="http://schemas.openxmlformats.org/officeDocument/2006/relationships/image" Target="/ppt/media/image7.png" Id="R70396918090a43f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e6a90cb794c44" /><Relationship Type="http://schemas.openxmlformats.org/officeDocument/2006/relationships/image" Target="/ppt/media/image8.png" Id="R8b1582c0a2924df0" /><Relationship Type="http://schemas.openxmlformats.org/officeDocument/2006/relationships/image" Target="/ppt/media/image5.png" Id="R2527b1f5a38849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883562deb4ebb" /><Relationship Type="http://schemas.openxmlformats.org/officeDocument/2006/relationships/image" Target="/ppt/media/image3.png" Id="R5858df511ae542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8742dffde4c96" /><Relationship Type="http://schemas.openxmlformats.org/officeDocument/2006/relationships/image" Target="/ppt/media/image3.png" Id="R8e44868903254f8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25677750442fb" /><Relationship Type="http://schemas.openxmlformats.org/officeDocument/2006/relationships/image" Target="/ppt/media/image9.png" Id="Rf97a2708fc36448e" /><Relationship Type="http://schemas.openxmlformats.org/officeDocument/2006/relationships/image" Target="/ppt/media/image3.png" Id="Re456d922a669405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62f3f00894369" /><Relationship Type="http://schemas.openxmlformats.org/officeDocument/2006/relationships/image" Target="/ppt/media/image10.png" Id="Rc7398ee994934c3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6aa90c6c941ee" /><Relationship Type="http://schemas.openxmlformats.org/officeDocument/2006/relationships/image" Target="/ppt/media/image11.png" Id="Rbeec578892b549c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62d8d53e44174" /><Relationship Type="http://schemas.openxmlformats.org/officeDocument/2006/relationships/image" Target="/ppt/media/image12.png" Id="R667211e07d294ce9" /><Relationship Type="http://schemas.openxmlformats.org/officeDocument/2006/relationships/image" Target="/ppt/media/image13.png" Id="R4478842000e8434c" /><Relationship Type="http://schemas.openxmlformats.org/officeDocument/2006/relationships/image" Target="/ppt/media/image.png" Id="Rfc0650671188483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f641bf42648d5" /></Relationships>
</file>

<file path=ppt/slideLayouts/slideLayout1.xml><?xml version="1.0" encoding="utf-8"?>
<p:sldLayout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1464671dd456e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pic>
        <p:nvPicPr>
          <p:cNvPr id="2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6218235d143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13" y="275589"/>
            <a:ext cx="2169174" cy="713098"/>
          </a:xfrm>
          <a:prstGeom xmlns:a="http://schemas.openxmlformats.org/drawingml/2006/main" prst="rect">
            <a:avLst/>
          </a:prstGeom>
        </p:spPr>
      </p:pic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4C3D3F1E-83F1-48BD-80D5-8B02549EEB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5400" b="1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单击此处编辑标题样式</a:t>
            </a:r>
          </a:p>
        </p:txBody>
      </p:sp>
      <p:sp>
        <p:nvSpPr>
          <p:cNvPr id="7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8117644B-8B12-4FE0-BC55-BC4403AF787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8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601D053-5671-4EFE-8E92-F384FC42BECA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2b9f5c5d4845c0"/>
          <a:srcRect xmlns:a="http://schemas.openxmlformats.org/drawingml/2006/main" l="74359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0172" y="356842"/>
            <a:ext cx="3002280" cy="411617"/>
          </a:xfrm>
          <a:prstGeom xmlns:a="http://schemas.openxmlformats.org/drawingml/2006/main" prst="rect">
            <a:avLst/>
          </a:prstGeom>
        </p:spPr>
      </p:pic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8B2C525E-5C7E-4497-AD96-77363AF0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118A5B66-62DA-4342-BA4E-585A40C2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图片占位符 6">
            <a:extLst xmlns:a="http://schemas.openxmlformats.org/drawingml/2006/main">
              <a:ext uri="{FF2B5EF4-FFF2-40B4-BE49-F238E27FC236}">
                <a16:creationId xmlns:a16="http://schemas.microsoft.com/office/drawing/2014/main" id="{A160E52A-6981-46C4-AD91-1B9FF716DF9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1"/>
            <a:ext cx="12192000" cy="39909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8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C41E74C7-3DD5-4657-91F2-EEB045459D08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88484" y="6091547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C490EF9-0508-49E9-8145-2764D4028031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88484" y="533759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D730C532-2365-4990-8471-D7F188A39E0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88484" y="4121272"/>
            <a:ext cx="7798316" cy="1060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4800" b="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单击此处编辑标题样式</a:t>
            </a:r>
          </a:p>
        </p:txBody>
      </p:sp>
      <p:pic>
        <p:nvPicPr>
          <p:cNvPr id="11" name="图片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a62d184bfe49e7"/>
          <a:srcRect xmlns:a="http://schemas.openxmlformats.org/drawingml/2006/main" l="74359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0172" y="6192838"/>
            <a:ext cx="3002280" cy="411617"/>
          </a:xfrm>
          <a:prstGeom xmlns:a="http://schemas.openxmlformats.org/drawingml/2006/main" prst="rect">
            <a:avLst/>
          </a:prstGeom>
        </p:spPr>
      </p:pic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8EA4B1FE-5263-4E5C-B317-0DFA6ADD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735" y="4049349"/>
            <a:ext cx="1227273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3.xml><?xml version="1.0" encoding="utf-8"?>
<p:sldLayout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6">
            <a:extLst xmlns:a="http://schemas.openxmlformats.org/drawingml/2006/main">
              <a:ext uri="{FF2B5EF4-FFF2-40B4-BE49-F238E27FC236}">
                <a16:creationId xmlns:a16="http://schemas.microsoft.com/office/drawing/2014/main" id="{818DFAB9-F2C3-4EF1-997D-22DECA2E55F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388100" y="0"/>
            <a:ext cx="58039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4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1B061A9A-8AC0-414C-A179-21AFA94AD0F3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360363" y="3867150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5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079AF348-2300-4269-B0D5-89FA122BFAB9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60363" y="3113196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CE472232-86F1-4177-8295-F087542B6D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60363" y="1896875"/>
            <a:ext cx="5740916" cy="1060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4000" b="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单击此处编辑标题样式</a:t>
            </a:r>
          </a:p>
        </p:txBody>
      </p:sp>
      <p:pic>
        <p:nvPicPr>
          <p:cNvPr id="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f31fa815549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13" y="275589"/>
            <a:ext cx="2169174" cy="713098"/>
          </a:xfrm>
          <a:prstGeom xmlns:a="http://schemas.openxmlformats.org/drawingml/2006/main" prst="rect">
            <a:avLst/>
          </a:prstGeom>
        </p:spPr>
      </p:pic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b1114a9c1e406d"/>
          <a:srcRect xmlns:a="http://schemas.openxmlformats.org/drawingml/2006/main" l="74359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878" y="6192838"/>
            <a:ext cx="3002280" cy="411617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6EBE1AA0-1E48-4551-AC97-50DBDF97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面3-dark">
    <p:bg>
      <p:bgPr>
        <a:solidFill xmlns:a="http://schemas.openxmlformats.org/drawingml/2006/main">
          <a:schemeClr val="accent6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57F8CA3-C612-4913-A5C3-65571D6E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0"/>
            <a:ext cx="6115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" name="图片占位符 6">
            <a:extLst xmlns:a="http://schemas.openxmlformats.org/drawingml/2006/main">
              <a:ext uri="{FF2B5EF4-FFF2-40B4-BE49-F238E27FC236}">
                <a16:creationId xmlns:a16="http://schemas.microsoft.com/office/drawing/2014/main" id="{25B31FDE-CB6D-4532-8288-FC0387C07D9B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388100" y="0"/>
            <a:ext cx="58039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4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73EDF6AD-0F00-431C-8ACE-237E4DA64C8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360363" y="3867150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5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7C80C594-37C5-48FA-8248-61551480275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60363" y="3113196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B990B975-29AA-4F75-AEEB-E7F32B85A76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60363" y="1896875"/>
            <a:ext cx="5740916" cy="1060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4000" b="0">
                <a:solidFill>
                  <a:schemeClr val="bg1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单击此处编辑标题样式</a:t>
            </a:r>
          </a:p>
        </p:txBody>
      </p:sp>
      <p:pic>
        <p:nvPicPr>
          <p:cNvPr id="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d69083e4a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13" y="275589"/>
            <a:ext cx="2169174" cy="713098"/>
          </a:xfrm>
          <a:prstGeom xmlns:a="http://schemas.openxmlformats.org/drawingml/2006/main" prst="rect">
            <a:avLst/>
          </a:prstGeom>
        </p:spPr>
      </p:pic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c57b51ee0749c3"/>
          <a:srcRect xmlns:a="http://schemas.openxmlformats.org/drawingml/2006/main" l="74359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878" y="6192838"/>
            <a:ext cx="3002280" cy="411617"/>
          </a:xfrm>
          <a:prstGeom xmlns:a="http://schemas.openxmlformats.org/drawingml/2006/main" prst="rect">
            <a:avLst/>
          </a:prstGeom>
        </p:spPr>
      </p:pic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01A63CBA-D8C0-453D-8EFE-A504469D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5.xml><?xml version="1.0" encoding="utf-8"?>
<p:sldLayout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等腰三角形 3">
            <a:extLst xmlns:a="http://schemas.openxmlformats.org/drawingml/2006/main">
              <a:ext uri="{FF2B5EF4-FFF2-40B4-BE49-F238E27FC236}">
                <a16:creationId xmlns:a16="http://schemas.microsoft.com/office/drawing/2014/main" id="{B4DABE58-75E0-4966-BD34-3B8FC372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-25400"/>
            <a:ext cx="1676400" cy="6883400"/>
          </a:xfrm>
          <a:prstGeom xmlns:a="http://schemas.openxmlformats.org/drawingml/2006/main" prst="triangle">
            <a:avLst>
              <a:gd name="adj" fmla="val 99435"/>
            </a:avLst>
          </a:prstGeom>
          <a:gradFill xmlns:a="http://schemas.openxmlformats.org/drawingml/2006/main"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xmlns:a="http://schemas.openxmlformats.org/drawingml/2006/main" w="12700" cmpd="sng">
            <a:solidFill>
              <a:schemeClr val="bg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E3FB3C89-F851-4593-A278-7475E50EF72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360363" y="3867150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6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0E4F52-EC64-4890-8BAA-6945A17584E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60363" y="3113196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75DD22EA-8D72-485D-85E8-B21A06BB40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60363" y="1896875"/>
            <a:ext cx="5740916" cy="1060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4000" b="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单击此处编辑标题样式</a:t>
            </a:r>
          </a:p>
        </p:txBody>
      </p:sp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ae67abb6d46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13" y="275589"/>
            <a:ext cx="2169174" cy="713098"/>
          </a:xfrm>
          <a:prstGeom xmlns:a="http://schemas.openxmlformats.org/drawingml/2006/main" prst="rect">
            <a:avLst/>
          </a:prstGeom>
        </p:spPr>
      </p:pic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bf1791efa24e6b"/>
          <a:srcRect xmlns:a="http://schemas.openxmlformats.org/drawingml/2006/main" l="74359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878" y="6192838"/>
            <a:ext cx="3002280" cy="411617"/>
          </a:xfrm>
          <a:prstGeom xmlns:a="http://schemas.openxmlformats.org/drawingml/2006/main" prst="rect">
            <a:avLst/>
          </a:prstGeom>
        </p:spPr>
      </p:pic>
      <p:sp>
        <p:nvSpPr>
          <p:cNvPr id="10" name="图片占位符 6">
            <a:extLst xmlns:a="http://schemas.openxmlformats.org/drawingml/2006/main">
              <a:ext uri="{FF2B5EF4-FFF2-40B4-BE49-F238E27FC236}">
                <a16:creationId xmlns:a16="http://schemas.microsoft.com/office/drawing/2014/main" id="{43093857-99E0-400D-8F8D-669042C1500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859400" y="0"/>
            <a:ext cx="6146801" cy="6858000"/>
          </a:xfrm>
          <a:prstGeom xmlns:a="http://schemas.openxmlformats.org/drawingml/2006/main" prst="parallelogram">
            <a:avLst>
              <a:gd name="adj" fmla="val 28125"/>
            </a:avLst>
          </a:prstGeom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61F4692C-DB5E-4C8A-85E5-54F0624B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10548" y="-25400"/>
            <a:ext cx="1737055" cy="688340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6.xml><?xml version="1.0" encoding="utf-8"?>
<p:sldLayout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ded3a89ca4c5e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4710" y="2394097"/>
            <a:ext cx="8047290" cy="2590938"/>
          </a:xfrm>
          <a:prstGeom xmlns:a="http://schemas.openxmlformats.org/drawingml/2006/main" prst="rect">
            <a:avLst/>
          </a:prstGeom>
        </p:spPr>
      </p:pic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B567CC18-A42E-4037-A7C3-C7A28383C1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460763" y="2407580"/>
            <a:ext cx="6426437" cy="1060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4000" b="1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单击此处编辑标题样式</a:t>
            </a:r>
          </a:p>
        </p:txBody>
      </p:sp>
      <p:sp>
        <p:nvSpPr>
          <p:cNvPr id="7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CE4FA8D6-545F-4BA6-9AC9-1881CBFDC440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8946863" y="4107201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8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2573BCF2-3217-45E4-9CAA-BFDFA9DC8DA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5460764" y="3997557"/>
            <a:ext cx="3349862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9" name="图片占位符 14">
            <a:extLst xmlns:a="http://schemas.openxmlformats.org/drawingml/2006/main">
              <a:ext uri="{FF2B5EF4-FFF2-40B4-BE49-F238E27FC236}">
                <a16:creationId xmlns:a16="http://schemas.microsoft.com/office/drawing/2014/main" id="{514221EC-9B35-4E14-B30C-B732317981F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0" y="1415726"/>
            <a:ext cx="6323888" cy="4026547"/>
          </a:xfrm>
          <a:custGeom xmlns:a="http://schemas.openxmlformats.org/drawingml/2006/main"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0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ed06dadea49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4558" y="4706725"/>
            <a:ext cx="3935296" cy="209291"/>
          </a:xfrm>
          <a:prstGeom xmlns:a="http://schemas.openxmlformats.org/drawingml/2006/main" prst="rect">
            <a:avLst/>
          </a:prstGeom>
        </p:spPr>
      </p:pic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9255274ec42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913" y="271357"/>
            <a:ext cx="2169174" cy="713098"/>
          </a:xfrm>
          <a:prstGeom xmlns:a="http://schemas.openxmlformats.org/drawingml/2006/main" prst="rect">
            <a:avLst/>
          </a:prstGeom>
        </p:spPr>
      </p:pic>
      <p:pic>
        <p:nvPicPr>
          <p:cNvPr id="12" name="图片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1d133b9f034078"/>
          <a:srcRect xmlns:a="http://schemas.openxmlformats.org/drawingml/2006/main" l="0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图片占位符 6">
            <a:extLst xmlns:a="http://schemas.openxmlformats.org/drawingml/2006/main">
              <a:ext uri="{FF2B5EF4-FFF2-40B4-BE49-F238E27FC236}">
                <a16:creationId xmlns:a16="http://schemas.microsoft.com/office/drawing/2014/main" id="{FDE2A883-E7BA-41CB-A68B-1FA4341A6FD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5999" y="0"/>
            <a:ext cx="6096001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图片占位符 6">
            <a:extLst xmlns:a="http://schemas.openxmlformats.org/drawingml/2006/main">
              <a:ext uri="{FF2B5EF4-FFF2-40B4-BE49-F238E27FC236}">
                <a16:creationId xmlns:a16="http://schemas.microsoft.com/office/drawing/2014/main" id="{B1924B88-572A-4833-A8CF-682A7263AEC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" y="3240088"/>
            <a:ext cx="12192000" cy="3617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007FC6-46EC-41F2-B91C-6786AA9E7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368" y="263408"/>
            <a:ext cx="8940432" cy="65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2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单击此处编辑母版标题样式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47937D2E-8422-46C1-B2EC-F896B88B0AC5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81368" y="1142440"/>
            <a:ext cx="11429264" cy="49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500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  <a:lvl2pPr>
              <a:lnSpc>
                <a:spcPct val="120000"/>
              </a:lnSpc>
              <a:buNone/>
              <a:defRPr sz="211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2pPr>
            <a:lvl3pPr>
              <a:lnSpc>
                <a:spcPct val="120000"/>
              </a:lnSpc>
              <a:buNone/>
              <a:defRPr sz="190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3pPr>
            <a:lvl4pPr>
              <a:lnSpc>
                <a:spcPct val="120000"/>
              </a:lnSpc>
              <a:buNone/>
              <a:defRPr sz="169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4pPr>
            <a:lvl5pPr>
              <a:lnSpc>
                <a:spcPct val="120000"/>
              </a:lnSpc>
              <a:buNone/>
              <a:defRPr sz="169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5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编辑母版文本样式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第二级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第三级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第四级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第五级</a:t>
            </a:r>
          </a:p>
        </p:txBody>
      </p:sp>
      <p:pic>
        <p:nvPicPr>
          <p:cNvPr id="6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f2a83b318040b6"/>
          <a:srcRect xmlns:a="http://schemas.openxmlformats.org/drawingml/2006/main" l="0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" y="6149854"/>
            <a:ext cx="12191484" cy="411617"/>
          </a:xfrm>
          <a:prstGeom xmlns:a="http://schemas.openxmlformats.org/drawingml/2006/main" prst="rect">
            <a:avLst/>
          </a:prstGeom>
        </p:spPr>
      </p:pic>
      <p:pic>
        <p:nvPicPr>
          <p:cNvPr id="7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96918090a43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3162" y="263409"/>
            <a:ext cx="2305463" cy="757902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86C36D1-A9B9-407E-A17A-12982C2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11884"/>
            <a:ext cx="360363" cy="56075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A84090A-C01B-4DC0-9775-9AC8E879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8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6DBDD0-607D-4D35-9493-9718D44CE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27468" y="85609"/>
            <a:ext cx="6895732" cy="538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200">
                <a:solidFill>
                  <a:schemeClr val="bg1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单击此处编辑母版标题样式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82BE27D0-A5FD-45D0-B6B8-83FA51BC4743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81368" y="1034104"/>
            <a:ext cx="11429264" cy="4761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500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  <a:lvl2pPr>
              <a:lnSpc>
                <a:spcPct val="120000"/>
              </a:lnSpc>
              <a:buNone/>
              <a:defRPr sz="211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2pPr>
            <a:lvl3pPr>
              <a:lnSpc>
                <a:spcPct val="120000"/>
              </a:lnSpc>
              <a:buNone/>
              <a:defRPr sz="190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3pPr>
            <a:lvl4pPr>
              <a:lnSpc>
                <a:spcPct val="120000"/>
              </a:lnSpc>
              <a:buNone/>
              <a:defRPr sz="169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4pPr>
            <a:lvl5pPr>
              <a:lnSpc>
                <a:spcPct val="120000"/>
              </a:lnSpc>
              <a:buNone/>
              <a:defRPr sz="169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5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编辑母版文本样式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第二级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第三级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第四级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第五级</a:t>
            </a:r>
          </a:p>
        </p:txBody>
      </p:sp>
      <p:pic>
        <p:nvPicPr>
          <p:cNvPr id="1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582c0a2924d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pic>
        <p:nvPicPr>
          <p:cNvPr id="13" name="图片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27b1f5a3884933"/>
          <a:srcRect xmlns:a="http://schemas.openxmlformats.org/drawingml/2006/main" l="73973" t="0" r="31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6840" y="274621"/>
            <a:ext cx="2821309" cy="411617"/>
          </a:xfrm>
          <a:prstGeom xmlns:a="http://schemas.openxmlformats.org/drawingml/2006/main" prst="rect">
            <a:avLst/>
          </a:prstGeom>
        </p:spPr>
      </p:pic>
      <p:sp>
        <p:nvSpPr>
          <p:cNvPr id="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E18D35D-9519-4308-BC4F-ADD1D45C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489" y="6338955"/>
            <a:ext cx="169214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1600" i="1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rPr>
              <a:t>www.sjtu.edu.cn 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907B47D-850D-4AE6-AB75-FABFF631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64" y="6338955"/>
            <a:ext cx="222318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16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rPr>
              <a:t>饮水思源   爱国荣校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C1EF4644-64B9-4BC0-A8FE-42C83E3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37" y="6297613"/>
            <a:ext cx="11460162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1.xml><?xml version="1.0" encoding="utf-8"?>
<p:sldLayout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C6FCFA-6FEA-436E-BEED-308F6B382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368" y="263408"/>
            <a:ext cx="8940432" cy="657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2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单击此处编辑母版标题样式</a:t>
            </a:r>
          </a:p>
        </p:txBody>
      </p:sp>
      <p:sp>
        <p:nvSpPr>
          <p:cNvPr id="5" name="内容占位符 4">
            <a:extLst xmlns:a="http://schemas.openxmlformats.org/drawingml/2006/main">
              <a:ext uri="{FF2B5EF4-FFF2-40B4-BE49-F238E27FC236}">
                <a16:creationId xmlns:a16="http://schemas.microsoft.com/office/drawing/2014/main" id="{333DD864-2BA0-4023-ADFF-A3C8AEE77433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381368" y="1142440"/>
            <a:ext cx="11429264" cy="49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2500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  <a:lvl2pPr>
              <a:lnSpc>
                <a:spcPct val="120000"/>
              </a:lnSpc>
              <a:buNone/>
              <a:defRPr sz="211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2pPr>
            <a:lvl3pPr>
              <a:lnSpc>
                <a:spcPct val="120000"/>
              </a:lnSpc>
              <a:buNone/>
              <a:defRPr sz="190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3pPr>
            <a:lvl4pPr>
              <a:lnSpc>
                <a:spcPct val="120000"/>
              </a:lnSpc>
              <a:buNone/>
              <a:defRPr sz="169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4pPr>
            <a:lvl5pPr>
              <a:lnSpc>
                <a:spcPct val="120000"/>
              </a:lnSpc>
              <a:buNone/>
              <a:defRPr sz="1695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5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编辑母版文本样式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第二级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第三级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第四级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第五级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C2DFC8-9CFA-48E6-83FF-19DC10BD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11884"/>
            <a:ext cx="360363" cy="56075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" name="图片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58df511ae542d1"/>
          <a:srcRect xmlns:a="http://schemas.openxmlformats.org/drawingml/2006/main" l="74359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0172" y="360363"/>
            <a:ext cx="3002280" cy="411617"/>
          </a:xfrm>
          <a:prstGeom xmlns:a="http://schemas.openxmlformats.org/drawingml/2006/main" prst="rect">
            <a:avLst/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4FB1BF9-AEDE-44E5-9D60-C5679CF4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62" y="6446383"/>
            <a:ext cx="11460164" cy="41161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639FC6AA-C51E-4BC4-9BA5-C7C704EF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489" y="6484482"/>
            <a:ext cx="169214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1600" i="1">
                <a:solidFill>
                  <a:schemeClr val="bg1"/>
                </a:solidFill>
                <a:latin typeface="Segoe UI"/>
                <a:ea typeface="Segoe UI"/>
                <a:cs typeface="Segoe UI"/>
              </a:rPr>
              <a:t>www.sjtu.edu.cn 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63588D5-6FBD-4F2E-92E1-B9A5F939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64" y="6497182"/>
            <a:ext cx="222318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1600">
                <a:solidFill>
                  <a:schemeClr val="bg1"/>
                </a:solidFill>
                <a:latin typeface="Segoe UI"/>
                <a:ea typeface="Segoe UI"/>
                <a:cs typeface="Segoe UI"/>
              </a:rPr>
              <a:t>饮水思源   爱国荣校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标题 1">
            <a:extLst xmlns:a="http://schemas.openxmlformats.org/drawingml/2006/main">
              <a:ext uri="{FF2B5EF4-FFF2-40B4-BE49-F238E27FC236}">
                <a16:creationId xmlns:a16="http://schemas.microsoft.com/office/drawing/2014/main" id="{DE479579-8272-445B-BE81-3228653896C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39862" y="1355320"/>
            <a:ext cx="8796337" cy="1060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单击此处编辑标题样式</a:t>
            </a:r>
          </a:p>
        </p:txBody>
      </p:sp>
      <p:pic>
        <p:nvPicPr>
          <p:cNvPr id="14" name="图片 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44868903254f8a"/>
          <a:srcRect xmlns:a="http://schemas.openxmlformats.org/drawingml/2006/main" l="0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" y="5781221"/>
            <a:ext cx="12191484" cy="411617"/>
          </a:xfrm>
          <a:prstGeom xmlns:a="http://schemas.openxmlformats.org/drawingml/2006/main" prst="rect">
            <a:avLst/>
          </a:prstGeom>
        </p:spPr>
      </p:pic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AAA192B-718A-4877-941F-314F7542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3797"/>
            <a:ext cx="360363" cy="7239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a2708fc3644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4" y="0"/>
            <a:ext cx="12188951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FA2DC35-FCAA-428D-B1E2-25A7ACC0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51000" y="-2616750"/>
            <a:ext cx="90000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图片占位符 33">
            <a:extLst xmlns:a="http://schemas.openxmlformats.org/drawingml/2006/main">
              <a:ext uri="{FF2B5EF4-FFF2-40B4-BE49-F238E27FC236}">
                <a16:creationId xmlns:a16="http://schemas.microsoft.com/office/drawing/2014/main" id="{09F284B1-DA6F-4114-B5DB-8AC077764097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-19050"/>
            <a:ext cx="12192000" cy="34423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3">
            <a:extLst xmlns:a="http://schemas.openxmlformats.org/drawingml/2006/main">
              <a:ext uri="{FF2B5EF4-FFF2-40B4-BE49-F238E27FC236}">
                <a16:creationId xmlns:a16="http://schemas.microsoft.com/office/drawing/2014/main" id="{49B540C6-9BC3-4AE8-A335-689DD96C2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54075" y="3047028"/>
            <a:ext cx="6489700" cy="7753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4000" b="1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单击此处编辑母版标题样式</a:t>
            </a:r>
          </a:p>
        </p:txBody>
      </p:sp>
      <p:pic>
        <p:nvPicPr>
          <p:cNvPr id="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456d922a6694057"/>
          <a:srcRect xmlns:a="http://schemas.openxmlformats.org/drawingml/2006/main" l="0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8" name="文本占位符 38">
            <a:extLst xmlns:a="http://schemas.openxmlformats.org/drawingml/2006/main">
              <a:ext uri="{FF2B5EF4-FFF2-40B4-BE49-F238E27FC236}">
                <a16:creationId xmlns:a16="http://schemas.microsoft.com/office/drawing/2014/main" id="{FB64CB87-644F-4241-9A03-ECB699EE269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4654075" y="4054685"/>
            <a:ext cx="6489700" cy="153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30000"/>
              </a:lnSpc>
              <a:buNone/>
              <a:defRPr sz="2200">
                <a:solidFill>
                  <a:schemeClr val="accent2"/>
                </a:solidFill>
                <a:latin typeface="Segoe UI"/>
                <a:ea typeface="Segoe UI"/>
                <a:cs typeface="Segoe UI"/>
              </a:defRPr>
            </a:lvl1pPr>
            <a:lvl2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2pPr>
            <a:lvl3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3pPr>
            <a:lvl4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4pPr>
            <a:lvl5pPr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5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编辑母版文本样式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" name="直接连接符 9"/>
          <p:cNvCxnSpPr/>
          <p:nvPr/>
        </p:nvCxn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srgbClr val="FFFFFF"/>
            </a:solidFill>
            <a:prstDash val="solid"/>
            <a:miter/>
          </a:ln>
        </p:spPr>
      </p:cxnSp>
      <p:cxnSp>
        <p:nvCxnSpPr>
          <p:cNvPr id="2" name="直接连接符 10"/>
          <p:cNvCxnSpPr/>
          <p:nvPr/>
        </p:nvCxn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srgbClr val="FFFFFF"/>
            </a:solidFill>
            <a:prstDash val="solid"/>
            <a:miter/>
          </a:ln>
        </p:spPr>
      </p:cxnSp>
      <p:sp>
        <p:nvSpPr>
          <p:cNvPr id="13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7BC15BB0-0DA7-472C-8A72-746930F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1060"/>
              </a:spcBef>
              <a:buNone/>
              <a:defRPr sz="6000" b="1" spc="600">
                <a:solidFill>
                  <a:schemeClr val="bg1"/>
                </a:solidFill>
                <a:latin typeface="Segoe UI"/>
                <a:ea typeface="Segoe UI"/>
                <a:cs typeface="Segoe UI"/>
              </a:defRPr>
            </a:lvl1pPr>
            <a:lvl2pPr marL="725805" indent="-241935" algn="l">
              <a:lnSpc>
                <a:spcPct val="90000"/>
              </a:lnSpc>
              <a:spcBef>
                <a:spcPts val="530"/>
              </a:spcBef>
              <a:buChar char="•"/>
              <a:defRPr sz="2540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2pPr>
            <a:lvl3pPr marL="1209675" indent="-241935" algn="l">
              <a:lnSpc>
                <a:spcPct val="90000"/>
              </a:lnSpc>
              <a:spcBef>
                <a:spcPts val="530"/>
              </a:spcBef>
              <a:buChar char="•"/>
              <a:defRPr sz="2115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3pPr>
            <a:lvl4pPr marL="169354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4pPr>
            <a:lvl5pPr marL="217741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5pPr>
            <a:lvl6pPr marL="266128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6pPr>
            <a:lvl7pPr marL="314515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7pPr>
            <a:lvl8pPr marL="362902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8pPr>
            <a:lvl9pPr marL="411289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</a:p>
        </p:txBody>
      </p:sp>
      <p:pic>
        <p:nvPicPr>
          <p:cNvPr id="14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98ee994934c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75242" y="806450"/>
            <a:ext cx="3841516" cy="2692400"/>
          </a:xfrm>
          <a:prstGeom xmlns:a="http://schemas.openxmlformats.org/drawingml/2006/main" prst="rect">
            <a:avLst/>
          </a:prstGeom>
        </p:spPr>
      </p:pic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F8623885-ECBD-4A7B-A92F-492F845894E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351313" y="3700057"/>
            <a:ext cx="7561943" cy="1060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000" b="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单击此处编辑标题样式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BCFA292-03FC-40E2-8C7D-3C872CDA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489" y="6338955"/>
            <a:ext cx="169214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1600" i="1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rPr>
              <a:t>www.sjtu.edu.cn 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F200A6D5-9036-496F-91FC-8E0B5724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64" y="6338955"/>
            <a:ext cx="222318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16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rPr>
              <a:t>饮水思源   爱国荣校</a:t>
            </a: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CFC3573F-221F-45FE-BE73-F8815FF2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37" y="6297613"/>
            <a:ext cx="11460162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15.xml><?xml version="1.0" encoding="utf-8"?>
<p:sldLayout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" name="直接连接符 9"/>
          <p:cNvCxnSpPr/>
          <p:nvPr/>
        </p:nvCxn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srgbClr val="FFFFFF"/>
            </a:solidFill>
            <a:prstDash val="solid"/>
            <a:miter/>
          </a:ln>
        </p:spPr>
      </p:cxnSp>
      <p:cxnSp>
        <p:nvCxnSpPr>
          <p:cNvPr id="2" name="直接连接符 10"/>
          <p:cNvCxnSpPr/>
          <p:nvPr/>
        </p:nvCxn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 w="6350" cap="flat">
            <a:solidFill>
              <a:srgbClr val="FFFFFF"/>
            </a:solidFill>
            <a:prstDash val="solid"/>
            <a:miter/>
          </a:ln>
        </p:spPr>
      </p:cxnSp>
      <p:sp>
        <p:nvSpPr>
          <p:cNvPr id="13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EF94BC7-7F64-4D61-AAC3-C1BA15F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1060"/>
              </a:spcBef>
              <a:buNone/>
              <a:defRPr sz="6000" b="1" spc="600">
                <a:solidFill>
                  <a:schemeClr val="bg1"/>
                </a:solidFill>
                <a:latin typeface="Segoe UI"/>
                <a:ea typeface="Segoe UI"/>
                <a:cs typeface="Segoe UI"/>
              </a:defRPr>
            </a:lvl1pPr>
            <a:lvl2pPr marL="725805" indent="-241935" algn="l">
              <a:lnSpc>
                <a:spcPct val="90000"/>
              </a:lnSpc>
              <a:spcBef>
                <a:spcPts val="530"/>
              </a:spcBef>
              <a:buChar char="•"/>
              <a:defRPr sz="2540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2pPr>
            <a:lvl3pPr marL="1209675" indent="-241935" algn="l">
              <a:lnSpc>
                <a:spcPct val="90000"/>
              </a:lnSpc>
              <a:spcBef>
                <a:spcPts val="530"/>
              </a:spcBef>
              <a:buChar char="•"/>
              <a:defRPr sz="2115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3pPr>
            <a:lvl4pPr marL="169354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4pPr>
            <a:lvl5pPr marL="217741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5pPr>
            <a:lvl6pPr marL="266128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6pPr>
            <a:lvl7pPr marL="314515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7pPr>
            <a:lvl8pPr marL="362902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8pPr>
            <a:lvl9pPr marL="411289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BB1B992A-7605-4054-A949-2C7CB4B7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489" y="6338955"/>
            <a:ext cx="169214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1600" i="1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rPr>
              <a:t>www.sjtu.edu.cn 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5F40489-6F19-47CB-91F8-7B06ACB0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64" y="6338955"/>
            <a:ext cx="222318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16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rPr>
              <a:t>饮水思源   爱国荣校</a:t>
            </a: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FBA67AF0-62D3-4FF0-A3DF-581BF89A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37" y="6297613"/>
            <a:ext cx="11460162" cy="0"/>
          </a:xfrm>
          <a:prstGeom xmlns:a="http://schemas.openxmlformats.org/drawingml/2006/main" prst="line">
            <a:avLst/>
          </a:prstGeom>
          <a:ln xmlns:a="http://schemas.openxmlformats.org/drawingml/2006/main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c578892b549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315" y="1918497"/>
            <a:ext cx="4717143" cy="1550721"/>
          </a:xfrm>
          <a:prstGeom xmlns:a="http://schemas.openxmlformats.org/drawingml/2006/main" prst="rect">
            <a:avLst/>
          </a:prstGeom>
        </p:spPr>
      </p:pic>
      <p:sp>
        <p:nvSpPr>
          <p:cNvPr id="12" name="标题 1">
            <a:extLst xmlns:a="http://schemas.openxmlformats.org/drawingml/2006/main">
              <a:ext uri="{FF2B5EF4-FFF2-40B4-BE49-F238E27FC236}">
                <a16:creationId xmlns:a16="http://schemas.microsoft.com/office/drawing/2014/main" id="{D4A28739-608D-4423-B3C4-3149128F24F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1" y="2179233"/>
            <a:ext cx="5613400" cy="1060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4000" b="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单击此处编辑标题样式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封底3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流程图: 离页连接符 8">
            <a:extLst xmlns:a="http://schemas.openxmlformats.org/drawingml/2006/main">
              <a:ext uri="{FF2B5EF4-FFF2-40B4-BE49-F238E27FC236}">
                <a16:creationId xmlns:a16="http://schemas.microsoft.com/office/drawing/2014/main" id="{73D48164-A518-4DB5-B344-F4195D4C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386" y="0"/>
            <a:ext cx="5353229" cy="5219695"/>
          </a:xfrm>
          <a:prstGeom xmlns:a="http://schemas.openxmlformats.org/drawingml/2006/main" prst="flowChartOffpageConnector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2C9A5FE6-BE08-4636-8FC8-B7E62F4F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571" y="2609847"/>
            <a:ext cx="6286859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1060"/>
              </a:spcBef>
              <a:buNone/>
              <a:defRPr sz="5400" b="1" spc="600">
                <a:solidFill>
                  <a:schemeClr val="accent1"/>
                </a:solidFill>
                <a:latin typeface="Segoe UI"/>
                <a:ea typeface="Segoe UI"/>
                <a:cs typeface="Segoe UI"/>
              </a:defRPr>
            </a:lvl1pPr>
            <a:lvl2pPr marL="725805" indent="-241935" algn="l">
              <a:lnSpc>
                <a:spcPct val="90000"/>
              </a:lnSpc>
              <a:spcBef>
                <a:spcPts val="530"/>
              </a:spcBef>
              <a:buChar char="•"/>
              <a:defRPr sz="2540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2pPr>
            <a:lvl3pPr marL="1209675" indent="-241935" algn="l">
              <a:lnSpc>
                <a:spcPct val="90000"/>
              </a:lnSpc>
              <a:spcBef>
                <a:spcPts val="530"/>
              </a:spcBef>
              <a:buChar char="•"/>
              <a:defRPr sz="2115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3pPr>
            <a:lvl4pPr marL="169354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4pPr>
            <a:lvl5pPr marL="2177415" indent="-241935" algn="l">
              <a:lnSpc>
                <a:spcPct val="90000"/>
              </a:lnSpc>
              <a:spcBef>
                <a:spcPts val="530"/>
              </a:spcBef>
              <a:buChar char="•"/>
              <a:defRPr sz="1905" b="0">
                <a:solidFill>
                  <a:schemeClr val="tx2">
                    <a:lumMod val="75000"/>
                    <a:lumOff val="25000"/>
                  </a:schemeClr>
                </a:solidFill>
                <a:latin typeface="Segoe UI"/>
                <a:ea typeface="Segoe UI"/>
                <a:cs typeface="Segoe UI"/>
              </a:defRPr>
            </a:lvl5pPr>
            <a:lvl6pPr marL="266128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6pPr>
            <a:lvl7pPr marL="314515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7pPr>
            <a:lvl8pPr marL="362902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8pPr>
            <a:lvl9pPr marL="4112895" indent="-241935" algn="l">
              <a:lnSpc>
                <a:spcPct val="90000"/>
              </a:lnSpc>
              <a:spcBef>
                <a:spcPts val="530"/>
              </a:spcBef>
              <a:buChar char="•"/>
              <a:defRPr sz="1905">
                <a:solidFill>
                  <a:schemeClr val="tx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7211e07d294ce9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  <p:pic>
        <p:nvPicPr>
          <p:cNvPr id="1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8842000e843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6410" y="188997"/>
            <a:ext cx="3019180" cy="2116050"/>
          </a:xfrm>
          <a:prstGeom xmlns:a="http://schemas.openxmlformats.org/drawingml/2006/main" prst="rect">
            <a:avLst/>
          </a:prstGeom>
        </p:spPr>
      </p:pic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9971E224-473F-4271-A49C-8A8A5343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386" y="4393629"/>
            <a:ext cx="5353229" cy="1461642"/>
          </a:xfrm>
          <a:custGeom xmlns:a="http://schemas.openxmlformats.org/drawingml/2006/main"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6506711884830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5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25ECE6B-2ECD-4E16-9B06-2818CE8A68B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104971" y="2762247"/>
            <a:ext cx="6286859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e24aa95b7345e8" /><Relationship Type="http://schemas.openxmlformats.org/officeDocument/2006/relationships/slideLayout" Target="/ppt/slideLayouts/slideLayout1.xml" Id="Rb56780a5746c48da" /><Relationship Type="http://schemas.openxmlformats.org/officeDocument/2006/relationships/slideLayout" Target="/ppt/slideLayouts/slideLayout2.xml" Id="Rf438fa7860b8463e" /><Relationship Type="http://schemas.openxmlformats.org/officeDocument/2006/relationships/slideLayout" Target="/ppt/slideLayouts/slideLayout3.xml" Id="Rae41026224c844e9" /><Relationship Type="http://schemas.openxmlformats.org/officeDocument/2006/relationships/slideLayout" Target="/ppt/slideLayouts/slideLayout4.xml" Id="R761f60edba8b4faf" /><Relationship Type="http://schemas.openxmlformats.org/officeDocument/2006/relationships/slideLayout" Target="/ppt/slideLayouts/slideLayout5.xml" Id="R245b6e928c56462a" /><Relationship Type="http://schemas.openxmlformats.org/officeDocument/2006/relationships/slideLayout" Target="/ppt/slideLayouts/slideLayout6.xml" Id="Rc550aa4542fc430c" /><Relationship Type="http://schemas.openxmlformats.org/officeDocument/2006/relationships/slideLayout" Target="/ppt/slideLayouts/slideLayout7.xml" Id="R7c07f31a16924419" /><Relationship Type="http://schemas.openxmlformats.org/officeDocument/2006/relationships/slideLayout" Target="/ppt/slideLayouts/slideLayout8.xml" Id="R9350f1ccb67841d6" /><Relationship Type="http://schemas.openxmlformats.org/officeDocument/2006/relationships/slideLayout" Target="/ppt/slideLayouts/slideLayout9.xml" Id="R6d94cf683bfe4758" /><Relationship Type="http://schemas.openxmlformats.org/officeDocument/2006/relationships/slideLayout" Target="/ppt/slideLayouts/slideLayout10.xml" Id="R447521ddd5ac4c32" /><Relationship Type="http://schemas.openxmlformats.org/officeDocument/2006/relationships/slideLayout" Target="/ppt/slideLayouts/slideLayout11.xml" Id="Rb54d52e0cbdf460b" /><Relationship Type="http://schemas.openxmlformats.org/officeDocument/2006/relationships/slideLayout" Target="/ppt/slideLayouts/slideLayout12.xml" Id="R2718cf4a04974041" /><Relationship Type="http://schemas.openxmlformats.org/officeDocument/2006/relationships/slideLayout" Target="/ppt/slideLayouts/slideLayout13.xml" Id="R78941bb62f584b16" /><Relationship Type="http://schemas.openxmlformats.org/officeDocument/2006/relationships/slideLayout" Target="/ppt/slideLayouts/slideLayout14.xml" Id="R65d88d99fef14bf3" /><Relationship Type="http://schemas.openxmlformats.org/officeDocument/2006/relationships/slideLayout" Target="/ppt/slideLayouts/slideLayout15.xml" Id="R26fbd80376dc4996" /><Relationship Type="http://schemas.openxmlformats.org/officeDocument/2006/relationships/slideLayout" Target="/ppt/slideLayouts/slideLayout16.xml" Id="R23bacfa04d76498a" /><Relationship Type="http://schemas.openxmlformats.org/officeDocument/2006/relationships/slideLayout" Target="/ppt/slideLayouts/slideLayout17.xml" Id="R338495140ded4b9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accent6">
            <a:lumMod val="20000"/>
            <a:lumOff val="80000"/>
            <a:alpha val="5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6780a5746c48da"/>
    <p:sldLayoutId xmlns:r="http://schemas.openxmlformats.org/officeDocument/2006/relationships" id="2147483650" r:id="Rf438fa7860b8463e"/>
    <p:sldLayoutId xmlns:r="http://schemas.openxmlformats.org/officeDocument/2006/relationships" id="2147483651" r:id="Rae41026224c844e9"/>
    <p:sldLayoutId xmlns:r="http://schemas.openxmlformats.org/officeDocument/2006/relationships" id="2147483652" r:id="R761f60edba8b4faf"/>
    <p:sldLayoutId xmlns:r="http://schemas.openxmlformats.org/officeDocument/2006/relationships" id="2147483653" r:id="R245b6e928c56462a"/>
    <p:sldLayoutId xmlns:r="http://schemas.openxmlformats.org/officeDocument/2006/relationships" id="2147483654" r:id="Rc550aa4542fc430c"/>
    <p:sldLayoutId xmlns:r="http://schemas.openxmlformats.org/officeDocument/2006/relationships" id="2147483655" r:id="R7c07f31a16924419"/>
    <p:sldLayoutId xmlns:r="http://schemas.openxmlformats.org/officeDocument/2006/relationships" id="2147483656" r:id="R9350f1ccb67841d6"/>
    <p:sldLayoutId xmlns:r="http://schemas.openxmlformats.org/officeDocument/2006/relationships" id="2147483657" r:id="R6d94cf683bfe4758"/>
    <p:sldLayoutId xmlns:r="http://schemas.openxmlformats.org/officeDocument/2006/relationships" id="2147483658" r:id="R447521ddd5ac4c32"/>
    <p:sldLayoutId xmlns:r="http://schemas.openxmlformats.org/officeDocument/2006/relationships" id="2147483659" r:id="Rb54d52e0cbdf460b"/>
    <p:sldLayoutId xmlns:r="http://schemas.openxmlformats.org/officeDocument/2006/relationships" id="2147483660" r:id="R2718cf4a04974041"/>
    <p:sldLayoutId xmlns:r="http://schemas.openxmlformats.org/officeDocument/2006/relationships" id="2147483661" r:id="R78941bb62f584b16"/>
    <p:sldLayoutId xmlns:r="http://schemas.openxmlformats.org/officeDocument/2006/relationships" id="2147483662" r:id="R65d88d99fef14bf3"/>
    <p:sldLayoutId xmlns:r="http://schemas.openxmlformats.org/officeDocument/2006/relationships" id="2147483663" r:id="R26fbd80376dc4996"/>
    <p:sldLayoutId xmlns:r="http://schemas.openxmlformats.org/officeDocument/2006/relationships" id="2147483664" r:id="R23bacfa04d76498a"/>
    <p:sldLayoutId xmlns:r="http://schemas.openxmlformats.org/officeDocument/2006/relationships" id="2147483665" r:id="R338495140ded4b9b"/>
  </p:sldLayoutIdLst>
  <p:hf hdr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600" b="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41935" indent="-241935" algn="l">
        <a:lnSpc>
          <a:spcPct val="90000"/>
        </a:lnSpc>
        <a:spcBef>
          <a:spcPts val="1060"/>
        </a:spcBef>
        <a:buNone/>
        <a:defRPr sz="2965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25805" indent="-241935" algn="l">
        <a:lnSpc>
          <a:spcPct val="90000"/>
        </a:lnSpc>
        <a:spcBef>
          <a:spcPts val="530"/>
        </a:spcBef>
        <a:buChar char="•"/>
        <a:defRPr sz="2540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209675" indent="-241935" algn="l">
        <a:lnSpc>
          <a:spcPct val="90000"/>
        </a:lnSpc>
        <a:spcBef>
          <a:spcPts val="530"/>
        </a:spcBef>
        <a:buChar char="•"/>
        <a:defRPr sz="2115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93545" indent="-241935" algn="l">
        <a:lnSpc>
          <a:spcPct val="90000"/>
        </a:lnSpc>
        <a:spcBef>
          <a:spcPts val="530"/>
        </a:spcBef>
        <a:buChar char="•"/>
        <a:defRPr sz="1905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177415" indent="-241935" algn="l">
        <a:lnSpc>
          <a:spcPct val="90000"/>
        </a:lnSpc>
        <a:spcBef>
          <a:spcPts val="530"/>
        </a:spcBef>
        <a:buChar char="•"/>
        <a:defRPr sz="1905" b="0">
          <a:solidFill>
            <a:schemeClr val="tx2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661285" indent="-241935" algn="l">
        <a:lnSpc>
          <a:spcPct val="90000"/>
        </a:lnSpc>
        <a:spcBef>
          <a:spcPts val="530"/>
        </a:spcBef>
        <a:buChar char="•"/>
        <a:defRPr sz="1905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145155" indent="-241935" algn="l">
        <a:lnSpc>
          <a:spcPct val="90000"/>
        </a:lnSpc>
        <a:spcBef>
          <a:spcPts val="530"/>
        </a:spcBef>
        <a:buChar char="•"/>
        <a:defRPr sz="1905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629025" indent="-241935" algn="l">
        <a:lnSpc>
          <a:spcPct val="90000"/>
        </a:lnSpc>
        <a:spcBef>
          <a:spcPts val="530"/>
        </a:spcBef>
        <a:buChar char="•"/>
        <a:defRPr sz="1905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112895" indent="-241935" algn="l">
        <a:lnSpc>
          <a:spcPct val="90000"/>
        </a:lnSpc>
        <a:spcBef>
          <a:spcPts val="530"/>
        </a:spcBef>
        <a:buChar char="•"/>
        <a:defRPr sz="190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8387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6774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45161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3548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41935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0322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38709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70960" algn="l">
        <a:buNone/>
        <a:defRPr sz="190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Segoe UI">
      <a:majorFont>
        <a:latin typeface="Segoe UI"/>
        <a:ea typeface="Segoe UI"/>
        <a:cs typeface="Segoe UI"/>
      </a:majorFont>
      <a:minorFont>
        <a:latin typeface="Segoe UI"/>
        <a:ea typeface="Segoe UI"/>
        <a:cs typeface="Segoe UI"/>
      </a:minorFont>
    </a:fontScheme>
    <a:fmtScheme name="SJTU-202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4e18ae57d4831" /><Relationship Type="http://schemas.openxmlformats.org/officeDocument/2006/relationships/notesSlide" Target="/ppt/notesSlides/notesSlide1.xml" Id="R9b307d89d95442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515117d7f9a4452" /><Relationship Type="http://schemas.openxmlformats.org/officeDocument/2006/relationships/image" Target="/ppt/media/image3.png" Id="R1a4c3c68f6a54a2f" /><Relationship Type="http://schemas.openxmlformats.org/officeDocument/2006/relationships/notesSlide" Target="/ppt/notesSlides/notesSlide2.xml" Id="Rb87b1d50aecb40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4ad3f7e32e14776" /><Relationship Type="http://schemas.openxmlformats.org/officeDocument/2006/relationships/notesSlide" Target="/ppt/notesSlides/notesSlide3.xml" Id="R4dcd78cb423b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665755342164917" /><Relationship Type="http://schemas.openxmlformats.org/officeDocument/2006/relationships/notesSlide" Target="/ppt/notesSlides/notesSlide4.xml" Id="R254bd73d0b2b41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3d8f4c79ad0429b" /><Relationship Type="http://schemas.openxmlformats.org/officeDocument/2006/relationships/notesSlide" Target="/ppt/notesSlides/notesSlide5.xml" Id="R0fde4fdf134f4c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f2dd92983714c54" /><Relationship Type="http://schemas.openxmlformats.org/officeDocument/2006/relationships/notesSlide" Target="/ppt/notesSlides/notesSlide6.xml" Id="R01e9f8d2dc9544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4630c6211af44a6" /><Relationship Type="http://schemas.openxmlformats.org/officeDocument/2006/relationships/notesSlide" Target="/ppt/notesSlides/notesSlide7.xml" Id="R9b3f1a2e69c643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8383ddaeb714664" /><Relationship Type="http://schemas.openxmlformats.org/officeDocument/2006/relationships/chart" Target="/ppt/slides/charts/chart1.xml" Id="R039afadd11da4dd2" /><Relationship Type="http://schemas.openxmlformats.org/officeDocument/2006/relationships/notesSlide" Target="/ppt/notesSlides/notesSlide8.xml" Id="Rb40b09bb53a844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2a45524fdc040e4" /><Relationship Type="http://schemas.openxmlformats.org/officeDocument/2006/relationships/chart" Target="/ppt/slides/charts/chart2.xml" Id="R054fb5b44dfa423f" /><Relationship Type="http://schemas.openxmlformats.org/officeDocument/2006/relationships/chart" Target="/ppt/slides/charts/chart3.xml" Id="R3dcb7bb115d94615" /><Relationship Type="http://schemas.openxmlformats.org/officeDocument/2006/relationships/notesSlide" Target="/ppt/notesSlides/notesSlide9.xml" Id="R3322152d372144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402b5daf04f4d0a" /><Relationship Type="http://schemas.openxmlformats.org/officeDocument/2006/relationships/notesSlide" Target="/ppt/notesSlides/notesSlide10.xml" Id="R7c7e493ae14540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b61c8481a647fb" /><Relationship Type="http://schemas.openxmlformats.org/officeDocument/2006/relationships/notesSlide" Target="/ppt/notesSlides/notesSlide11.xml" Id="R2bb38d0b91744f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a38f5114e9154845" /><Relationship Type="http://schemas.openxmlformats.org/officeDocument/2006/relationships/notesSlide" Target="/ppt/notesSlides/notesSlide12.xml" Id="R97ae6bd5ff9649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02bec7d8e5b4c06" /><Relationship Type="http://schemas.openxmlformats.org/officeDocument/2006/relationships/notesSlide" Target="/ppt/notesSlides/notesSlide13.xml" Id="Rb973429e26e840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bc4c3098155455b" /><Relationship Type="http://schemas.openxmlformats.org/officeDocument/2006/relationships/image" Target="/ppt/media/image3.png" Id="R45a4392ef12749d9" /><Relationship Type="http://schemas.openxmlformats.org/officeDocument/2006/relationships/notesSlide" Target="/ppt/notesSlides/notesSlide14.xml" Id="R3be2ebbede7244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36be9e32d1d4365" /><Relationship Type="http://schemas.openxmlformats.org/officeDocument/2006/relationships/notesSlide" Target="/ppt/notesSlides/notesSlide15.xml" Id="R392d509eb5014e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4c6bdca66f541a3" /><Relationship Type="http://schemas.openxmlformats.org/officeDocument/2006/relationships/notesSlide" Target="/ppt/notesSlides/notesSlide16.xml" Id="R2f4386f3ae4944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b0a17474e3b44f6" /><Relationship Type="http://schemas.openxmlformats.org/officeDocument/2006/relationships/notesSlide" Target="/ppt/notesSlides/notesSlide17.xml" Id="R70c5b24631b34e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7a6bc89c7074a8b" /><Relationship Type="http://schemas.openxmlformats.org/officeDocument/2006/relationships/notesSlide" Target="/ppt/notesSlides/notesSlide18.xml" Id="R35ea6f9f7a924c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bcd71f72cd349ed" /><Relationship Type="http://schemas.openxmlformats.org/officeDocument/2006/relationships/notesSlide" Target="/ppt/notesSlides/notesSlide19.xml" Id="R1ece4727dfcc4e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3393077a7824f7b" /><Relationship Type="http://schemas.openxmlformats.org/officeDocument/2006/relationships/notesSlide" Target="/ppt/notesSlides/notesSlide20.xml" Id="R03267bc0f3d240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2b6177b5f34de6" /><Relationship Type="http://schemas.openxmlformats.org/officeDocument/2006/relationships/notesSlide" Target="/ppt/notesSlides/notesSlide21.xml" Id="R1674e69d02c643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85824c01cc84f9c" /><Relationship Type="http://schemas.openxmlformats.org/officeDocument/2006/relationships/notesSlide" Target="/ppt/notesSlides/notesSlide22.xml" Id="R823f1e9ead8e48f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9b4a0d936b34f72" /><Relationship Type="http://schemas.openxmlformats.org/officeDocument/2006/relationships/notesSlide" Target="/ppt/notesSlides/notesSlide23.xml" Id="R799200febba74f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b493a8e39e84c63" /><Relationship Type="http://schemas.openxmlformats.org/officeDocument/2006/relationships/notesSlide" Target="/ppt/notesSlides/notesSlide24.xml" Id="Rdd1b07e3f0ac466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23e14ddfa154aae" /><Relationship Type="http://schemas.openxmlformats.org/officeDocument/2006/relationships/notesSlide" Target="/ppt/notesSlides/notesSlide25.xml" Id="R996d8cd9f4234aa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b193d46dba4e436e" /><Relationship Type="http://schemas.openxmlformats.org/officeDocument/2006/relationships/image" Target="/ppt/media/image3.png" Id="Ref2eb00969ea4e82" /><Relationship Type="http://schemas.openxmlformats.org/officeDocument/2006/relationships/notesSlide" Target="/ppt/notesSlides/notesSlide26.xml" Id="R24a14d753f58413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adf1ba63dd84f40" /><Relationship Type="http://schemas.openxmlformats.org/officeDocument/2006/relationships/notesSlide" Target="/ppt/notesSlides/notesSlide27.xml" Id="Rbf432e61d74b4a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11f874847dc4830" /><Relationship Type="http://schemas.openxmlformats.org/officeDocument/2006/relationships/notesSlide" Target="/ppt/notesSlides/notesSlide28.xml" Id="R25ad96e6bc044cff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 i="0" u="none">
                <a:solidFill>
                  <a:srgbClr val="C8161E"/>
                </a:solidFill>
                <a:latin typeface="+mn-lt"/>
                <a:ea typeface="+mn-lt"/>
                <a:cs typeface="+mn-lt"/>
              </a:rPr>
              <a:t>示意 EVDF：主体 + 弱热电子尾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 i="0" u="none">
              <a:solidFill>
                <a:srgbClr val="C8161E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fₑ(v)</c:f>
              <c:strCache>
                <c:ptCount val="1"/>
                <c:pt idx="0">
                  <c:v>fₑ(v)</c:v>
                </c:pt>
              </c:strCache>
            </c:strRef>
          </c:tx>
          <c:spPr>
            <a:ln xmlns:a="http://schemas.openxmlformats.org/drawingml/2006/main" w="22860">
              <a:solidFill>
                <a:srgbClr val="C8161E"/>
              </a:solidFill>
              <a:prstDash val="solid"/>
            </a:ln>
          </c:spPr>
          <c:marker>
            <c:symbol val="none"/>
          </c:marker>
          <c:dLbls>
            <c:spPr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{-0.8,-0.77,-0.73,-0.7,-0.67,-0.63,-0.6,-0.57,-0.53,-0.5,-0.47,-0.43,-0.4,-0.37,-0.33,-0.3,-0.27,-0.23,-0.2,-0.17,-0.13,-0.1,-0.07,-0.03,0,0.03,0.07,0.1,0.13,0.17,0.2,0.23,0.27,0.3,0.33,0.37,0.4,0.43,0.47,0.5,0.53,0.57,0.6,0.63,0.67,0.7,0.73,0.77,0.8}</c:f>
              <c:numCache>
                <c:formatCode>General</c:formatCode>
                <c:ptCount val="49"/>
                <c:pt idx="0">
                  <c:v>-0.8</c:v>
                </c:pt>
                <c:pt idx="1">
                  <c:v>-0.77</c:v>
                </c:pt>
                <c:pt idx="2">
                  <c:v>-0.73</c:v>
                </c:pt>
                <c:pt idx="3">
                  <c:v>-0.7</c:v>
                </c:pt>
                <c:pt idx="4">
                  <c:v>-0.67</c:v>
                </c:pt>
                <c:pt idx="5">
                  <c:v>-0.63</c:v>
                </c:pt>
                <c:pt idx="6">
                  <c:v>-0.6</c:v>
                </c:pt>
                <c:pt idx="7">
                  <c:v>-0.57</c:v>
                </c:pt>
                <c:pt idx="8">
                  <c:v>-0.53</c:v>
                </c:pt>
                <c:pt idx="9">
                  <c:v>-0.5</c:v>
                </c:pt>
                <c:pt idx="10">
                  <c:v>-0.47</c:v>
                </c:pt>
                <c:pt idx="11">
                  <c:v>-0.43</c:v>
                </c:pt>
                <c:pt idx="12">
                  <c:v>-0.4</c:v>
                </c:pt>
                <c:pt idx="13">
                  <c:v>-0.37</c:v>
                </c:pt>
                <c:pt idx="14">
                  <c:v>-0.33</c:v>
                </c:pt>
                <c:pt idx="15">
                  <c:v>-0.3</c:v>
                </c:pt>
                <c:pt idx="16">
                  <c:v>-0.27</c:v>
                </c:pt>
                <c:pt idx="17">
                  <c:v>-0.23</c:v>
                </c:pt>
                <c:pt idx="18">
                  <c:v>-0.2</c:v>
                </c:pt>
                <c:pt idx="19">
                  <c:v>-0.17</c:v>
                </c:pt>
                <c:pt idx="20">
                  <c:v>-0.13</c:v>
                </c:pt>
                <c:pt idx="21">
                  <c:v>-0.1</c:v>
                </c:pt>
                <c:pt idx="22">
                  <c:v>-0.07</c:v>
                </c:pt>
                <c:pt idx="23">
                  <c:v>-0.03</c:v>
                </c:pt>
                <c:pt idx="24">
                  <c:v>0</c:v>
                </c:pt>
                <c:pt idx="25">
                  <c:v>0.03</c:v>
                </c:pt>
                <c:pt idx="26">
                  <c:v>0.07</c:v>
                </c:pt>
                <c:pt idx="27">
                  <c:v>0.1</c:v>
                </c:pt>
                <c:pt idx="28">
                  <c:v>0.13</c:v>
                </c:pt>
                <c:pt idx="29">
                  <c:v>0.17</c:v>
                </c:pt>
                <c:pt idx="30">
                  <c:v>0.2</c:v>
                </c:pt>
                <c:pt idx="31">
                  <c:v>0.23</c:v>
                </c:pt>
                <c:pt idx="32">
                  <c:v>0.27</c:v>
                </c:pt>
                <c:pt idx="33">
                  <c:v>0.3</c:v>
                </c:pt>
                <c:pt idx="34">
                  <c:v>0.33</c:v>
                </c:pt>
                <c:pt idx="35">
                  <c:v>0.37</c:v>
                </c:pt>
                <c:pt idx="36">
                  <c:v>0.4</c:v>
                </c:pt>
                <c:pt idx="37">
                  <c:v>0.43</c:v>
                </c:pt>
                <c:pt idx="38">
                  <c:v>0.47</c:v>
                </c:pt>
                <c:pt idx="39">
                  <c:v>0.5</c:v>
                </c:pt>
                <c:pt idx="40">
                  <c:v>0.53</c:v>
                </c:pt>
                <c:pt idx="41">
                  <c:v>0.57</c:v>
                </c:pt>
                <c:pt idx="42">
                  <c:v>0.6</c:v>
                </c:pt>
                <c:pt idx="43">
                  <c:v>0.63</c:v>
                </c:pt>
                <c:pt idx="44">
                  <c:v>0.67</c:v>
                </c:pt>
                <c:pt idx="45">
                  <c:v>0.7</c:v>
                </c:pt>
                <c:pt idx="46">
                  <c:v>0.73</c:v>
                </c:pt>
                <c:pt idx="47">
                  <c:v>0.77</c:v>
                </c:pt>
                <c:pt idx="48">
                  <c:v>0.8</c:v>
                </c:pt>
              </c:numCache>
            </c:numRef>
          </c:cat>
          <c:val>
            <c:numRef>
              <c:f>{1.27065588436352e-42,4.84465128990157e-39,1.27931243873895e-35,2.33975428620988e-32,2.96376257502248e-29,2.60013619534792e-26,1.57989532273909e-23,6.64875085134482e-21,1.93789987028588e-18,3.9120296480339e-16,5.46956100363338e-14,5.29641897325036e-12,3.55215349323987e-10,1.64998746312772e-8,5.30822220019337e-7,1.18276121069034e-5,0.000182525941505565,0.00195088671641474,0.0144419654575653,0.0740617108940468,0.263568181734998,0.65773788580315,1.19709189430407,1.71223994004219,1.98693480958345,1.85477594687479,1.3878263301976,0.593506002098651,0.100087578651685,0.0063892022750016,0.000298515850969514,0.000675868004261219,0.00407369923373621,0.0143889416184963,0.0293638721177348,0.034618012001502,0.0235773459370994,0.00927666119098912,0.0021085915549976,0.000276883590687558,2.10041911454335e-5,9.20489191563831e-7,2.33042651445003e-8,3.40844366463312e-10,2.87992259867338e-12,1.40575455420235e-14,3.96407780999469e-17,6.45771434096668e-20,6.07742317091642e-23}</c:f>
              <c:numCache>
                <c:formatCode>General</c:formatCode>
                <c:ptCount val="49"/>
                <c:pt idx="0">
                  <c:v>1.27065588436352E-42</c:v>
                </c:pt>
                <c:pt idx="1">
                  <c:v>4.84465128990157E-39</c:v>
                </c:pt>
                <c:pt idx="2">
                  <c:v>1.27931243873895E-35</c:v>
                </c:pt>
                <c:pt idx="3">
                  <c:v>2.33975428620988E-32</c:v>
                </c:pt>
                <c:pt idx="4">
                  <c:v>2.96376257502248E-29</c:v>
                </c:pt>
                <c:pt idx="5">
                  <c:v>2.60013619534792E-26</c:v>
                </c:pt>
                <c:pt idx="6">
                  <c:v>1.57989532273909E-23</c:v>
                </c:pt>
                <c:pt idx="7">
                  <c:v>6.64875085134482E-21</c:v>
                </c:pt>
                <c:pt idx="8">
                  <c:v>1.93789987028588E-18</c:v>
                </c:pt>
                <c:pt idx="9">
                  <c:v>3.9120296480339E-16</c:v>
                </c:pt>
                <c:pt idx="10">
                  <c:v>5.46956100363338E-14</c:v>
                </c:pt>
                <c:pt idx="11">
                  <c:v>5.29641897325036E-12</c:v>
                </c:pt>
                <c:pt idx="12">
                  <c:v>3.55215349323987E-10</c:v>
                </c:pt>
                <c:pt idx="13">
                  <c:v>1.64998746312772E-08</c:v>
                </c:pt>
                <c:pt idx="14">
                  <c:v>5.30822220019337E-07</c:v>
                </c:pt>
                <c:pt idx="15">
                  <c:v>1.18276121069034E-05</c:v>
                </c:pt>
                <c:pt idx="16">
                  <c:v>0.000182525941505565</c:v>
                </c:pt>
                <c:pt idx="17">
                  <c:v>0.00195088671641474</c:v>
                </c:pt>
                <c:pt idx="18">
                  <c:v>0.0144419654575653</c:v>
                </c:pt>
                <c:pt idx="19">
                  <c:v>0.0740617108940468</c:v>
                </c:pt>
                <c:pt idx="20">
                  <c:v>0.263568181734998</c:v>
                </c:pt>
                <c:pt idx="21">
                  <c:v>0.65773788580315</c:v>
                </c:pt>
                <c:pt idx="22">
                  <c:v>1.19709189430407</c:v>
                </c:pt>
                <c:pt idx="23">
                  <c:v>1.71223994004219</c:v>
                </c:pt>
                <c:pt idx="24">
                  <c:v>1.98693480958345</c:v>
                </c:pt>
                <c:pt idx="25">
                  <c:v>1.85477594687479</c:v>
                </c:pt>
                <c:pt idx="26">
                  <c:v>1.3878263301976</c:v>
                </c:pt>
                <c:pt idx="27">
                  <c:v>0.593506002098651</c:v>
                </c:pt>
                <c:pt idx="28">
                  <c:v>0.100087578651685</c:v>
                </c:pt>
                <c:pt idx="29">
                  <c:v>0.0063892022750016</c:v>
                </c:pt>
                <c:pt idx="30">
                  <c:v>0.000298515850969514</c:v>
                </c:pt>
                <c:pt idx="31">
                  <c:v>0.000675868004261219</c:v>
                </c:pt>
                <c:pt idx="32">
                  <c:v>0.00407369923373621</c:v>
                </c:pt>
                <c:pt idx="33">
                  <c:v>0.0143889416184963</c:v>
                </c:pt>
                <c:pt idx="34">
                  <c:v>0.0293638721177348</c:v>
                </c:pt>
                <c:pt idx="35">
                  <c:v>0.034618012001502</c:v>
                </c:pt>
                <c:pt idx="36">
                  <c:v>0.0235773459370994</c:v>
                </c:pt>
                <c:pt idx="37">
                  <c:v>0.00927666119098912</c:v>
                </c:pt>
                <c:pt idx="38">
                  <c:v>0.0021085915549976</c:v>
                </c:pt>
                <c:pt idx="39">
                  <c:v>0.000276883590687558</c:v>
                </c:pt>
                <c:pt idx="40">
                  <c:v>2.10041911454335E-05</c:v>
                </c:pt>
                <c:pt idx="41">
                  <c:v>9.20489191563831E-07</c:v>
                </c:pt>
                <c:pt idx="42">
                  <c:v>2.33042651445003E-08</c:v>
                </c:pt>
                <c:pt idx="43">
                  <c:v>3.40844366463312E-10</c:v>
                </c:pt>
                <c:pt idx="44">
                  <c:v>2.87992259867338E-12</c:v>
                </c:pt>
                <c:pt idx="45">
                  <c:v>1.40575455420235E-14</c:v>
                </c:pt>
                <c:pt idx="46">
                  <c:v>3.96407780999469E-17</c:v>
                </c:pt>
                <c:pt idx="47">
                  <c:v>6.45771434096668E-20</c:v>
                </c:pt>
                <c:pt idx="48">
                  <c:v>6.07742317091642E-23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v / c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750" b="0" i="0" u="none">
                <a:solidFill>
                  <a:srgbClr val="666666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normalized fₑ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750" b="0" i="0" u="none">
                <a:solidFill>
                  <a:srgbClr val="666666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8D8D8"/>
      </a:solidFill>
      <a:prstDash val="solid"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 i="0" u="none">
                <a:solidFill>
                  <a:srgbClr val="C8161E"/>
                </a:solidFill>
                <a:latin typeface="+mn-lt"/>
                <a:ea typeface="+mn-lt"/>
                <a:cs typeface="+mn-lt"/>
              </a:rPr>
              <a:t>80 个模式：Re(Fₑ) 与 Im(Fₑ)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 i="0" u="none">
              <a:solidFill>
                <a:srgbClr val="C8161E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Re</c:f>
              <c:strCache>
                <c:ptCount val="1"/>
                <c:pt idx="0">
                  <c:v>Re</c:v>
                </c:pt>
              </c:strCache>
            </c:strRef>
          </c:tx>
          <c:spPr>
            <a:ln xmlns:a="http://schemas.openxmlformats.org/drawingml/2006/main" w="19050">
              <a:solidFill>
                <a:srgbClr val="C8161E"/>
              </a:solidFill>
              <a:prstDash val="solid"/>
            </a:ln>
          </c:spPr>
          <c:marker>
            <c:symbol val="none"/>
          </c:marker>
          <c:dLbls>
            <c:spPr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{-40,-39,-38,-37,-36,-35,-34,-33,-32,-31,-30,-29,-28,-27,-26,-25,-24,-23,-22,-21,-20,-19,-18,-17,-16,-15,-14,-13,-12,-11,-10,-9,-8,-7,-6,-5,-4,-3,-2,-1,0,1,2,3,4,5,6,7,8,9,10,11,12,13,14,15,16,17,18,19,20,21,22,23,24,25,26,27,28,29,30,31,32,33,34,35,36,37,38,39}</c:f>
              <c:numCache>
                <c:formatCode>General</c:formatCode>
                <c:ptCount val="80"/>
                <c:pt idx="0">
                  <c:v>-40</c:v>
                </c:pt>
                <c:pt idx="1">
                  <c:v>-39</c:v>
                </c:pt>
                <c:pt idx="2">
                  <c:v>-38</c:v>
                </c:pt>
                <c:pt idx="3">
                  <c:v>-37</c:v>
                </c:pt>
                <c:pt idx="4">
                  <c:v>-36</c:v>
                </c:pt>
                <c:pt idx="5">
                  <c:v>-35</c:v>
                </c:pt>
                <c:pt idx="6">
                  <c:v>-34</c:v>
                </c:pt>
                <c:pt idx="7">
                  <c:v>-33</c:v>
                </c:pt>
                <c:pt idx="8">
                  <c:v>-32</c:v>
                </c:pt>
                <c:pt idx="9">
                  <c:v>-31</c:v>
                </c:pt>
                <c:pt idx="10">
                  <c:v>-30</c:v>
                </c:pt>
                <c:pt idx="11">
                  <c:v>-29</c:v>
                </c:pt>
                <c:pt idx="12">
                  <c:v>-28</c:v>
                </c:pt>
                <c:pt idx="13">
                  <c:v>-27</c:v>
                </c:pt>
                <c:pt idx="14">
                  <c:v>-26</c:v>
                </c:pt>
                <c:pt idx="15">
                  <c:v>-25</c:v>
                </c:pt>
                <c:pt idx="16">
                  <c:v>-24</c:v>
                </c:pt>
                <c:pt idx="17">
                  <c:v>-23</c:v>
                </c:pt>
                <c:pt idx="18">
                  <c:v>-22</c:v>
                </c:pt>
                <c:pt idx="19">
                  <c:v>-21</c:v>
                </c:pt>
                <c:pt idx="20">
                  <c:v>-20</c:v>
                </c:pt>
                <c:pt idx="21">
                  <c:v>-19</c:v>
                </c:pt>
                <c:pt idx="22">
                  <c:v>-18</c:v>
                </c:pt>
                <c:pt idx="23">
                  <c:v>-17</c:v>
                </c:pt>
                <c:pt idx="24">
                  <c:v>-16</c:v>
                </c:pt>
                <c:pt idx="25">
                  <c:v>-15</c:v>
                </c:pt>
                <c:pt idx="26">
                  <c:v>-14</c:v>
                </c:pt>
                <c:pt idx="27">
                  <c:v>-13</c:v>
                </c:pt>
                <c:pt idx="28">
                  <c:v>-12</c:v>
                </c:pt>
                <c:pt idx="29">
                  <c:v>-11</c:v>
                </c:pt>
                <c:pt idx="30">
                  <c:v>-10</c:v>
                </c:pt>
                <c:pt idx="31">
                  <c:v>-9</c:v>
                </c:pt>
                <c:pt idx="32">
                  <c:v>-8</c:v>
                </c:pt>
                <c:pt idx="33">
                  <c:v>-7</c:v>
                </c:pt>
                <c:pt idx="34">
                  <c:v>-6</c:v>
                </c:pt>
                <c:pt idx="35">
                  <c:v>-5</c:v>
                </c:pt>
                <c:pt idx="36">
                  <c:v>-4</c:v>
                </c:pt>
                <c:pt idx="37">
                  <c:v>-3</c:v>
                </c:pt>
                <c:pt idx="38">
                  <c:v>-2</c:v>
                </c:pt>
                <c:pt idx="39">
                  <c:v>-1</c:v>
                </c:pt>
                <c:pt idx="40">
                  <c:v>0</c:v>
                </c:pt>
                <c:pt idx="41">
                  <c:v>1</c:v>
                </c:pt>
                <c:pt idx="42">
                  <c:v>2</c:v>
                </c:pt>
                <c:pt idx="43">
                  <c:v>3</c:v>
                </c:pt>
                <c:pt idx="44">
                  <c:v>4</c:v>
                </c:pt>
                <c:pt idx="45">
                  <c:v>5</c:v>
                </c:pt>
                <c:pt idx="46">
                  <c:v>6</c:v>
                </c:pt>
                <c:pt idx="47">
                  <c:v>7</c:v>
                </c:pt>
                <c:pt idx="48">
                  <c:v>8</c:v>
                </c:pt>
                <c:pt idx="49">
                  <c:v>9</c:v>
                </c:pt>
                <c:pt idx="50">
                  <c:v>10</c:v>
                </c:pt>
                <c:pt idx="51">
                  <c:v>11</c:v>
                </c:pt>
                <c:pt idx="52">
                  <c:v>12</c:v>
                </c:pt>
                <c:pt idx="53">
                  <c:v>13</c:v>
                </c:pt>
                <c:pt idx="54">
                  <c:v>14</c:v>
                </c:pt>
                <c:pt idx="55">
                  <c:v>15</c:v>
                </c:pt>
                <c:pt idx="56">
                  <c:v>16</c:v>
                </c:pt>
                <c:pt idx="57">
                  <c:v>17</c:v>
                </c:pt>
                <c:pt idx="58">
                  <c:v>18</c:v>
                </c:pt>
                <c:pt idx="59">
                  <c:v>19</c:v>
                </c:pt>
                <c:pt idx="60">
                  <c:v>20</c:v>
                </c:pt>
                <c:pt idx="61">
                  <c:v>21</c:v>
                </c:pt>
                <c:pt idx="62">
                  <c:v>22</c:v>
                </c:pt>
                <c:pt idx="63">
                  <c:v>23</c:v>
                </c:pt>
                <c:pt idx="64">
                  <c:v>24</c:v>
                </c:pt>
                <c:pt idx="65">
                  <c:v>25</c:v>
                </c:pt>
                <c:pt idx="66">
                  <c:v>26</c:v>
                </c:pt>
                <c:pt idx="67">
                  <c:v>27</c:v>
                </c:pt>
                <c:pt idx="68">
                  <c:v>28</c:v>
                </c:pt>
                <c:pt idx="69">
                  <c:v>29</c:v>
                </c:pt>
                <c:pt idx="70">
                  <c:v>30</c:v>
                </c:pt>
                <c:pt idx="71">
                  <c:v>31</c:v>
                </c:pt>
                <c:pt idx="72">
                  <c:v>32</c:v>
                </c:pt>
                <c:pt idx="73">
                  <c:v>33</c:v>
                </c:pt>
                <c:pt idx="74">
                  <c:v>34</c:v>
                </c:pt>
                <c:pt idx="75">
                  <c:v>35</c:v>
                </c:pt>
                <c:pt idx="76">
                  <c:v>36</c:v>
                </c:pt>
                <c:pt idx="77">
                  <c:v>37</c:v>
                </c:pt>
                <c:pt idx="78">
                  <c:v>38</c:v>
                </c:pt>
                <c:pt idx="79">
                  <c:v>39</c:v>
                </c:pt>
              </c:numCache>
            </c:numRef>
          </c:cat>
          <c:val>
            <c:numRef>
              <c:f>{-0.0148556867507283,-0.0134385512676949,-0.0108430781587632,-0.0069753620574552,-0.00180255745845482,0.00463148931891917,0.0121920812371583,0.0206422217823875,0.0296352129380092,0.0387126720630276,0.0473092950212119,0.0547655527599241,0.0603492609817189,0.063286599733889,0.0628026794838043,0.0581711574474967,0.0487717158164228,0.0341534446207519,0.0141013587448967,-0.0112975364200454,-0.0415929810064504,-0.0759200029550923,-0.112962748259853,-0.150939310978758,-0.187613188390869,-0.2203365192031,-0.246129359897328,-0.261797877854403,-0.264092473487825,-0.249904498866297,-0.216497462144666,-0.161765478334739,-0.0845083711941794,0.0152905860626472,0.136201575659713,0.275119954771347,0.427095184310853,0.585240639290258,0.740748010576637,0.883028528320184,1,0.883028528320184,0.740748010576637,0.585240639290258,0.427095184310853,0.275119954771347,0.136201575659713,0.0152905860626472,-0.0845083711941794,-0.161765478334739,-0.216497462144666,-0.249904498866297,-0.264092473487825,-0.261797877854403,-0.246129359897328,-0.2203365192031,-0.187613188390869,-0.150939310978758,-0.112962748259853,-0.0759200029550923,-0.0415929810064504,-0.0112975364200454,0.0141013587448967,0.0341534446207519,0.0487717158164228,0.0581711574474967,0.0628026794838043,0.063286599733889,0.0603492609817189,0.0547655527599241,0.0473092950212119,0.0387126720630276,0.0296352129380092,0.0206422217823875,0.0121920812371583,0.00463148931891917,-0.00180255745845482,-0.0069753620574552,-0.0108430781587632,-0.0134385512676949}</c:f>
              <c:numCache>
                <c:formatCode>General</c:formatCode>
                <c:ptCount val="80"/>
                <c:pt idx="0">
                  <c:v>-0.0148556867507283</c:v>
                </c:pt>
                <c:pt idx="1">
                  <c:v>-0.0134385512676949</c:v>
                </c:pt>
                <c:pt idx="2">
                  <c:v>-0.0108430781587632</c:v>
                </c:pt>
                <c:pt idx="3">
                  <c:v>-0.0069753620574552</c:v>
                </c:pt>
                <c:pt idx="4">
                  <c:v>-0.00180255745845482</c:v>
                </c:pt>
                <c:pt idx="5">
                  <c:v>0.00463148931891917</c:v>
                </c:pt>
                <c:pt idx="6">
                  <c:v>0.0121920812371583</c:v>
                </c:pt>
                <c:pt idx="7">
                  <c:v>0.0206422217823875</c:v>
                </c:pt>
                <c:pt idx="8">
                  <c:v>0.0296352129380092</c:v>
                </c:pt>
                <c:pt idx="9">
                  <c:v>0.0387126720630276</c:v>
                </c:pt>
                <c:pt idx="10">
                  <c:v>0.0473092950212119</c:v>
                </c:pt>
                <c:pt idx="11">
                  <c:v>0.0547655527599241</c:v>
                </c:pt>
                <c:pt idx="12">
                  <c:v>0.0603492609817189</c:v>
                </c:pt>
                <c:pt idx="13">
                  <c:v>0.063286599733889</c:v>
                </c:pt>
                <c:pt idx="14">
                  <c:v>0.0628026794838043</c:v>
                </c:pt>
                <c:pt idx="15">
                  <c:v>0.0581711574474967</c:v>
                </c:pt>
                <c:pt idx="16">
                  <c:v>0.0487717158164228</c:v>
                </c:pt>
                <c:pt idx="17">
                  <c:v>0.0341534446207519</c:v>
                </c:pt>
                <c:pt idx="18">
                  <c:v>0.0141013587448967</c:v>
                </c:pt>
                <c:pt idx="19">
                  <c:v>-0.0112975364200454</c:v>
                </c:pt>
                <c:pt idx="20">
                  <c:v>-0.0415929810064504</c:v>
                </c:pt>
                <c:pt idx="21">
                  <c:v>-0.0759200029550923</c:v>
                </c:pt>
                <c:pt idx="22">
                  <c:v>-0.112962748259853</c:v>
                </c:pt>
                <c:pt idx="23">
                  <c:v>-0.150939310978758</c:v>
                </c:pt>
                <c:pt idx="24">
                  <c:v>-0.187613188390869</c:v>
                </c:pt>
                <c:pt idx="25">
                  <c:v>-0.2203365192031</c:v>
                </c:pt>
                <c:pt idx="26">
                  <c:v>-0.246129359897328</c:v>
                </c:pt>
                <c:pt idx="27">
                  <c:v>-0.261797877854403</c:v>
                </c:pt>
                <c:pt idx="28">
                  <c:v>-0.264092473487825</c:v>
                </c:pt>
                <c:pt idx="29">
                  <c:v>-0.249904498866297</c:v>
                </c:pt>
                <c:pt idx="30">
                  <c:v>-0.216497462144666</c:v>
                </c:pt>
                <c:pt idx="31">
                  <c:v>-0.161765478334739</c:v>
                </c:pt>
                <c:pt idx="32">
                  <c:v>-0.0845083711941794</c:v>
                </c:pt>
                <c:pt idx="33">
                  <c:v>0.0152905860626472</c:v>
                </c:pt>
                <c:pt idx="34">
                  <c:v>0.136201575659713</c:v>
                </c:pt>
                <c:pt idx="35">
                  <c:v>0.275119954771347</c:v>
                </c:pt>
                <c:pt idx="36">
                  <c:v>0.427095184310853</c:v>
                </c:pt>
                <c:pt idx="37">
                  <c:v>0.585240639290258</c:v>
                </c:pt>
                <c:pt idx="38">
                  <c:v>0.740748010576637</c:v>
                </c:pt>
                <c:pt idx="39">
                  <c:v>0.883028528320184</c:v>
                </c:pt>
                <c:pt idx="40">
                  <c:v>1</c:v>
                </c:pt>
                <c:pt idx="41">
                  <c:v>0.883028528320184</c:v>
                </c:pt>
                <c:pt idx="42">
                  <c:v>0.740748010576637</c:v>
                </c:pt>
                <c:pt idx="43">
                  <c:v>0.585240639290258</c:v>
                </c:pt>
                <c:pt idx="44">
                  <c:v>0.427095184310853</c:v>
                </c:pt>
                <c:pt idx="45">
                  <c:v>0.275119954771347</c:v>
                </c:pt>
                <c:pt idx="46">
                  <c:v>0.136201575659713</c:v>
                </c:pt>
                <c:pt idx="47">
                  <c:v>0.0152905860626472</c:v>
                </c:pt>
                <c:pt idx="48">
                  <c:v>-0.0845083711941794</c:v>
                </c:pt>
                <c:pt idx="49">
                  <c:v>-0.161765478334739</c:v>
                </c:pt>
                <c:pt idx="50">
                  <c:v>-0.216497462144666</c:v>
                </c:pt>
                <c:pt idx="51">
                  <c:v>-0.249904498866297</c:v>
                </c:pt>
                <c:pt idx="52">
                  <c:v>-0.264092473487825</c:v>
                </c:pt>
                <c:pt idx="53">
                  <c:v>-0.261797877854403</c:v>
                </c:pt>
                <c:pt idx="54">
                  <c:v>-0.246129359897328</c:v>
                </c:pt>
                <c:pt idx="55">
                  <c:v>-0.2203365192031</c:v>
                </c:pt>
                <c:pt idx="56">
                  <c:v>-0.187613188390869</c:v>
                </c:pt>
                <c:pt idx="57">
                  <c:v>-0.150939310978758</c:v>
                </c:pt>
                <c:pt idx="58">
                  <c:v>-0.112962748259853</c:v>
                </c:pt>
                <c:pt idx="59">
                  <c:v>-0.0759200029550923</c:v>
                </c:pt>
                <c:pt idx="60">
                  <c:v>-0.0415929810064504</c:v>
                </c:pt>
                <c:pt idx="61">
                  <c:v>-0.0112975364200454</c:v>
                </c:pt>
                <c:pt idx="62">
                  <c:v>0.0141013587448967</c:v>
                </c:pt>
                <c:pt idx="63">
                  <c:v>0.0341534446207519</c:v>
                </c:pt>
                <c:pt idx="64">
                  <c:v>0.0487717158164228</c:v>
                </c:pt>
                <c:pt idx="65">
                  <c:v>0.0581711574474967</c:v>
                </c:pt>
                <c:pt idx="66">
                  <c:v>0.0628026794838043</c:v>
                </c:pt>
                <c:pt idx="67">
                  <c:v>0.063286599733889</c:v>
                </c:pt>
                <c:pt idx="68">
                  <c:v>0.0603492609817189</c:v>
                </c:pt>
                <c:pt idx="69">
                  <c:v>0.0547655527599241</c:v>
                </c:pt>
                <c:pt idx="70">
                  <c:v>0.0473092950212119</c:v>
                </c:pt>
                <c:pt idx="71">
                  <c:v>0.0387126720630276</c:v>
                </c:pt>
                <c:pt idx="72">
                  <c:v>0.0296352129380092</c:v>
                </c:pt>
                <c:pt idx="73">
                  <c:v>0.0206422217823875</c:v>
                </c:pt>
                <c:pt idx="74">
                  <c:v>0.0121920812371583</c:v>
                </c:pt>
                <c:pt idx="75">
                  <c:v>0.00463148931891917</c:v>
                </c:pt>
                <c:pt idx="76">
                  <c:v>-0.00180255745845482</c:v>
                </c:pt>
                <c:pt idx="77">
                  <c:v>-0.0069753620574552</c:v>
                </c:pt>
                <c:pt idx="78">
                  <c:v>-0.0108430781587632</c:v>
                </c:pt>
                <c:pt idx="79">
                  <c:v>-0.0134385512676949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Im</c:f>
              <c:strCache>
                <c:ptCount val="1"/>
                <c:pt idx="0">
                  <c:v>Im</c:v>
                </c:pt>
              </c:strCache>
            </c:strRef>
          </c:tx>
          <c:spPr>
            <a:ln xmlns:a="http://schemas.openxmlformats.org/drawingml/2006/main" w="19050">
              <a:solidFill>
                <a:srgbClr val="44546A"/>
              </a:solidFill>
              <a:prstDash val="solid"/>
            </a:ln>
          </c:spPr>
          <c:marker>
            <c:symbol val="none"/>
          </c:marker>
          <c:dLbls>
            <c:spPr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{-40,-39,-38,-37,-36,-35,-34,-33,-32,-31,-30,-29,-28,-27,-26,-25,-24,-23,-22,-21,-20,-19,-18,-17,-16,-15,-14,-13,-12,-11,-10,-9,-8,-7,-6,-5,-4,-3,-2,-1,0,1,2,3,4,5,6,7,8,9,10,11,12,13,14,15,16,17,18,19,20,21,22,23,24,25,26,27,28,29,30,31,32,33,34,35,36,37,38,39}</c:f>
              <c:numCache>
                <c:formatCode>General</c:formatCode>
                <c:ptCount val="80"/>
                <c:pt idx="0">
                  <c:v>-40</c:v>
                </c:pt>
                <c:pt idx="1">
                  <c:v>-39</c:v>
                </c:pt>
                <c:pt idx="2">
                  <c:v>-38</c:v>
                </c:pt>
                <c:pt idx="3">
                  <c:v>-37</c:v>
                </c:pt>
                <c:pt idx="4">
                  <c:v>-36</c:v>
                </c:pt>
                <c:pt idx="5">
                  <c:v>-35</c:v>
                </c:pt>
                <c:pt idx="6">
                  <c:v>-34</c:v>
                </c:pt>
                <c:pt idx="7">
                  <c:v>-33</c:v>
                </c:pt>
                <c:pt idx="8">
                  <c:v>-32</c:v>
                </c:pt>
                <c:pt idx="9">
                  <c:v>-31</c:v>
                </c:pt>
                <c:pt idx="10">
                  <c:v>-30</c:v>
                </c:pt>
                <c:pt idx="11">
                  <c:v>-29</c:v>
                </c:pt>
                <c:pt idx="12">
                  <c:v>-28</c:v>
                </c:pt>
                <c:pt idx="13">
                  <c:v>-27</c:v>
                </c:pt>
                <c:pt idx="14">
                  <c:v>-26</c:v>
                </c:pt>
                <c:pt idx="15">
                  <c:v>-25</c:v>
                </c:pt>
                <c:pt idx="16">
                  <c:v>-24</c:v>
                </c:pt>
                <c:pt idx="17">
                  <c:v>-23</c:v>
                </c:pt>
                <c:pt idx="18">
                  <c:v>-22</c:v>
                </c:pt>
                <c:pt idx="19">
                  <c:v>-21</c:v>
                </c:pt>
                <c:pt idx="20">
                  <c:v>-20</c:v>
                </c:pt>
                <c:pt idx="21">
                  <c:v>-19</c:v>
                </c:pt>
                <c:pt idx="22">
                  <c:v>-18</c:v>
                </c:pt>
                <c:pt idx="23">
                  <c:v>-17</c:v>
                </c:pt>
                <c:pt idx="24">
                  <c:v>-16</c:v>
                </c:pt>
                <c:pt idx="25">
                  <c:v>-15</c:v>
                </c:pt>
                <c:pt idx="26">
                  <c:v>-14</c:v>
                </c:pt>
                <c:pt idx="27">
                  <c:v>-13</c:v>
                </c:pt>
                <c:pt idx="28">
                  <c:v>-12</c:v>
                </c:pt>
                <c:pt idx="29">
                  <c:v>-11</c:v>
                </c:pt>
                <c:pt idx="30">
                  <c:v>-10</c:v>
                </c:pt>
                <c:pt idx="31">
                  <c:v>-9</c:v>
                </c:pt>
                <c:pt idx="32">
                  <c:v>-8</c:v>
                </c:pt>
                <c:pt idx="33">
                  <c:v>-7</c:v>
                </c:pt>
                <c:pt idx="34">
                  <c:v>-6</c:v>
                </c:pt>
                <c:pt idx="35">
                  <c:v>-5</c:v>
                </c:pt>
                <c:pt idx="36">
                  <c:v>-4</c:v>
                </c:pt>
                <c:pt idx="37">
                  <c:v>-3</c:v>
                </c:pt>
                <c:pt idx="38">
                  <c:v>-2</c:v>
                </c:pt>
                <c:pt idx="39">
                  <c:v>-1</c:v>
                </c:pt>
                <c:pt idx="40">
                  <c:v>0</c:v>
                </c:pt>
                <c:pt idx="41">
                  <c:v>1</c:v>
                </c:pt>
                <c:pt idx="42">
                  <c:v>2</c:v>
                </c:pt>
                <c:pt idx="43">
                  <c:v>3</c:v>
                </c:pt>
                <c:pt idx="44">
                  <c:v>4</c:v>
                </c:pt>
                <c:pt idx="45">
                  <c:v>5</c:v>
                </c:pt>
                <c:pt idx="46">
                  <c:v>6</c:v>
                </c:pt>
                <c:pt idx="47">
                  <c:v>7</c:v>
                </c:pt>
                <c:pt idx="48">
                  <c:v>8</c:v>
                </c:pt>
                <c:pt idx="49">
                  <c:v>9</c:v>
                </c:pt>
                <c:pt idx="50">
                  <c:v>10</c:v>
                </c:pt>
                <c:pt idx="51">
                  <c:v>11</c:v>
                </c:pt>
                <c:pt idx="52">
                  <c:v>12</c:v>
                </c:pt>
                <c:pt idx="53">
                  <c:v>13</c:v>
                </c:pt>
                <c:pt idx="54">
                  <c:v>14</c:v>
                </c:pt>
                <c:pt idx="55">
                  <c:v>15</c:v>
                </c:pt>
                <c:pt idx="56">
                  <c:v>16</c:v>
                </c:pt>
                <c:pt idx="57">
                  <c:v>17</c:v>
                </c:pt>
                <c:pt idx="58">
                  <c:v>18</c:v>
                </c:pt>
                <c:pt idx="59">
                  <c:v>19</c:v>
                </c:pt>
                <c:pt idx="60">
                  <c:v>20</c:v>
                </c:pt>
                <c:pt idx="61">
                  <c:v>21</c:v>
                </c:pt>
                <c:pt idx="62">
                  <c:v>22</c:v>
                </c:pt>
                <c:pt idx="63">
                  <c:v>23</c:v>
                </c:pt>
                <c:pt idx="64">
                  <c:v>24</c:v>
                </c:pt>
                <c:pt idx="65">
                  <c:v>25</c:v>
                </c:pt>
                <c:pt idx="66">
                  <c:v>26</c:v>
                </c:pt>
                <c:pt idx="67">
                  <c:v>27</c:v>
                </c:pt>
                <c:pt idx="68">
                  <c:v>28</c:v>
                </c:pt>
                <c:pt idx="69">
                  <c:v>29</c:v>
                </c:pt>
                <c:pt idx="70">
                  <c:v>30</c:v>
                </c:pt>
                <c:pt idx="71">
                  <c:v>31</c:v>
                </c:pt>
                <c:pt idx="72">
                  <c:v>32</c:v>
                </c:pt>
                <c:pt idx="73">
                  <c:v>33</c:v>
                </c:pt>
                <c:pt idx="74">
                  <c:v>34</c:v>
                </c:pt>
                <c:pt idx="75">
                  <c:v>35</c:v>
                </c:pt>
                <c:pt idx="76">
                  <c:v>36</c:v>
                </c:pt>
                <c:pt idx="77">
                  <c:v>37</c:v>
                </c:pt>
                <c:pt idx="78">
                  <c:v>38</c:v>
                </c:pt>
                <c:pt idx="79">
                  <c:v>39</c:v>
                </c:pt>
              </c:numCache>
            </c:numRef>
          </c:cat>
          <c:val>
            <c:numRef>
              <c:f>{-0.00642787925089055,-0.00908242890255225,-0.0117403778565293,-0.0142314774604366,-0.0163585199267792,-0.0179040570264834,-0.0186399085046703,-0.0183394661393527,-0.0167926208146734,-0.013822933006169,-0.00930643869879486,-0.00319124293329165,0.00448318520246402,0.0135683235966963,0.0237920077620514,0.0347485659921304,0.0458953597079614,0.0565573697006986,0.0659413145945834,0.0731605036674404,0.0772712017190314,0.0773207152235879,0.072406701230166,0.061746368072707,0.0447533058808427,0.0211186931981449,-0.00910737590252168,-0.0454396497730266,-0.0868925931546421,-0.131933028204232,-0.178457523135763,-0.223801462387222,-0.264786229153622,-0.29780990294315,-0.318985271402936,-0.32432675282329,-0.309985032471008,-0.272524881209361,-0.209237843399471,-0.118477397212473,0,0.118477397212473,0.209237843399471,0.272524881209361,0.309985032471008,0.32432675282329,0.318985271402936,0.29780990294315,0.264786229153622,0.223801462387222,0.178457523135763,0.131933028204232,0.0868925931546421,0.0454396497730266,0.00910737590252168,-0.0211186931981449,-0.0447533058808427,-0.061746368072707,-0.072406701230166,-0.0773207152235879,-0.0772712017190314,-0.0731605036674404,-0.0659413145945834,-0.0565573697006986,-0.0458953597079614,-0.0347485659921304,-0.0237920077620514,-0.0135683235966963,-0.00448318520246402,0.00319124293329165,0.00930643869879486,0.013822933006169,0.0167926208146734,0.0183394661393527,0.0186399085046703,0.0179040570264834,0.0163585199267792,0.0142314774604366,0.0117403778565293,0.00908242890255225}</c:f>
              <c:numCache>
                <c:formatCode>General</c:formatCode>
                <c:ptCount val="80"/>
                <c:pt idx="0">
                  <c:v>-0.00642787925089055</c:v>
                </c:pt>
                <c:pt idx="1">
                  <c:v>-0.00908242890255225</c:v>
                </c:pt>
                <c:pt idx="2">
                  <c:v>-0.0117403778565293</c:v>
                </c:pt>
                <c:pt idx="3">
                  <c:v>-0.0142314774604366</c:v>
                </c:pt>
                <c:pt idx="4">
                  <c:v>-0.0163585199267792</c:v>
                </c:pt>
                <c:pt idx="5">
                  <c:v>-0.0179040570264834</c:v>
                </c:pt>
                <c:pt idx="6">
                  <c:v>-0.0186399085046703</c:v>
                </c:pt>
                <c:pt idx="7">
                  <c:v>-0.0183394661393527</c:v>
                </c:pt>
                <c:pt idx="8">
                  <c:v>-0.0167926208146734</c:v>
                </c:pt>
                <c:pt idx="9">
                  <c:v>-0.013822933006169</c:v>
                </c:pt>
                <c:pt idx="10">
                  <c:v>-0.00930643869879486</c:v>
                </c:pt>
                <c:pt idx="11">
                  <c:v>-0.00319124293329165</c:v>
                </c:pt>
                <c:pt idx="12">
                  <c:v>0.00448318520246402</c:v>
                </c:pt>
                <c:pt idx="13">
                  <c:v>0.0135683235966963</c:v>
                </c:pt>
                <c:pt idx="14">
                  <c:v>0.0237920077620514</c:v>
                </c:pt>
                <c:pt idx="15">
                  <c:v>0.0347485659921304</c:v>
                </c:pt>
                <c:pt idx="16">
                  <c:v>0.0458953597079614</c:v>
                </c:pt>
                <c:pt idx="17">
                  <c:v>0.0565573697006986</c:v>
                </c:pt>
                <c:pt idx="18">
                  <c:v>0.0659413145945834</c:v>
                </c:pt>
                <c:pt idx="19">
                  <c:v>0.0731605036674404</c:v>
                </c:pt>
                <c:pt idx="20">
                  <c:v>0.0772712017190314</c:v>
                </c:pt>
                <c:pt idx="21">
                  <c:v>0.0773207152235879</c:v>
                </c:pt>
                <c:pt idx="22">
                  <c:v>0.072406701230166</c:v>
                </c:pt>
                <c:pt idx="23">
                  <c:v>0.061746368072707</c:v>
                </c:pt>
                <c:pt idx="24">
                  <c:v>0.0447533058808427</c:v>
                </c:pt>
                <c:pt idx="25">
                  <c:v>0.0211186931981449</c:v>
                </c:pt>
                <c:pt idx="26">
                  <c:v>-0.00910737590252168</c:v>
                </c:pt>
                <c:pt idx="27">
                  <c:v>-0.0454396497730266</c:v>
                </c:pt>
                <c:pt idx="28">
                  <c:v>-0.0868925931546421</c:v>
                </c:pt>
                <c:pt idx="29">
                  <c:v>-0.131933028204232</c:v>
                </c:pt>
                <c:pt idx="30">
                  <c:v>-0.178457523135763</c:v>
                </c:pt>
                <c:pt idx="31">
                  <c:v>-0.223801462387222</c:v>
                </c:pt>
                <c:pt idx="32">
                  <c:v>-0.264786229153622</c:v>
                </c:pt>
                <c:pt idx="33">
                  <c:v>-0.29780990294315</c:v>
                </c:pt>
                <c:pt idx="34">
                  <c:v>-0.318985271402936</c:v>
                </c:pt>
                <c:pt idx="35">
                  <c:v>-0.32432675282329</c:v>
                </c:pt>
                <c:pt idx="36">
                  <c:v>-0.309985032471008</c:v>
                </c:pt>
                <c:pt idx="37">
                  <c:v>-0.272524881209361</c:v>
                </c:pt>
                <c:pt idx="38">
                  <c:v>-0.209237843399471</c:v>
                </c:pt>
                <c:pt idx="39">
                  <c:v>-0.118477397212473</c:v>
                </c:pt>
                <c:pt idx="40">
                  <c:v>0</c:v>
                </c:pt>
                <c:pt idx="41">
                  <c:v>0.118477397212473</c:v>
                </c:pt>
                <c:pt idx="42">
                  <c:v>0.209237843399471</c:v>
                </c:pt>
                <c:pt idx="43">
                  <c:v>0.272524881209361</c:v>
                </c:pt>
                <c:pt idx="44">
                  <c:v>0.309985032471008</c:v>
                </c:pt>
                <c:pt idx="45">
                  <c:v>0.32432675282329</c:v>
                </c:pt>
                <c:pt idx="46">
                  <c:v>0.318985271402936</c:v>
                </c:pt>
                <c:pt idx="47">
                  <c:v>0.29780990294315</c:v>
                </c:pt>
                <c:pt idx="48">
                  <c:v>0.264786229153622</c:v>
                </c:pt>
                <c:pt idx="49">
                  <c:v>0.223801462387222</c:v>
                </c:pt>
                <c:pt idx="50">
                  <c:v>0.178457523135763</c:v>
                </c:pt>
                <c:pt idx="51">
                  <c:v>0.131933028204232</c:v>
                </c:pt>
                <c:pt idx="52">
                  <c:v>0.0868925931546421</c:v>
                </c:pt>
                <c:pt idx="53">
                  <c:v>0.0454396497730266</c:v>
                </c:pt>
                <c:pt idx="54">
                  <c:v>0.00910737590252168</c:v>
                </c:pt>
                <c:pt idx="55">
                  <c:v>-0.0211186931981449</c:v>
                </c:pt>
                <c:pt idx="56">
                  <c:v>-0.0447533058808427</c:v>
                </c:pt>
                <c:pt idx="57">
                  <c:v>-0.061746368072707</c:v>
                </c:pt>
                <c:pt idx="58">
                  <c:v>-0.072406701230166</c:v>
                </c:pt>
                <c:pt idx="59">
                  <c:v>-0.0773207152235879</c:v>
                </c:pt>
                <c:pt idx="60">
                  <c:v>-0.0772712017190314</c:v>
                </c:pt>
                <c:pt idx="61">
                  <c:v>-0.0731605036674404</c:v>
                </c:pt>
                <c:pt idx="62">
                  <c:v>-0.0659413145945834</c:v>
                </c:pt>
                <c:pt idx="63">
                  <c:v>-0.0565573697006986</c:v>
                </c:pt>
                <c:pt idx="64">
                  <c:v>-0.0458953597079614</c:v>
                </c:pt>
                <c:pt idx="65">
                  <c:v>-0.0347485659921304</c:v>
                </c:pt>
                <c:pt idx="66">
                  <c:v>-0.0237920077620514</c:v>
                </c:pt>
                <c:pt idx="67">
                  <c:v>-0.0135683235966963</c:v>
                </c:pt>
                <c:pt idx="68">
                  <c:v>-0.00448318520246402</c:v>
                </c:pt>
                <c:pt idx="69">
                  <c:v>0.00319124293329165</c:v>
                </c:pt>
                <c:pt idx="70">
                  <c:v>0.00930643869879486</c:v>
                </c:pt>
                <c:pt idx="71">
                  <c:v>0.013822933006169</c:v>
                </c:pt>
                <c:pt idx="72">
                  <c:v>0.0167926208146734</c:v>
                </c:pt>
                <c:pt idx="73">
                  <c:v>0.0183394661393527</c:v>
                </c:pt>
                <c:pt idx="74">
                  <c:v>0.0186399085046703</c:v>
                </c:pt>
                <c:pt idx="75">
                  <c:v>0.0179040570264834</c:v>
                </c:pt>
                <c:pt idx="76">
                  <c:v>0.0163585199267792</c:v>
                </c:pt>
                <c:pt idx="77">
                  <c:v>0.0142314774604366</c:v>
                </c:pt>
                <c:pt idx="78">
                  <c:v>0.0117403778565293</c:v>
                </c:pt>
                <c:pt idx="79">
                  <c:v>0.00908242890255225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mode index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675" b="0" i="0" u="none">
                <a:solidFill>
                  <a:srgbClr val="666666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coefficient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675" b="0" i="0" u="none">
                <a:solidFill>
                  <a:srgbClr val="666666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825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8D8D8"/>
      </a:solidFill>
      <a:prstDash val="solid"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 i="0" u="none">
                <a:solidFill>
                  <a:srgbClr val="C8161E"/>
                </a:solidFill>
                <a:latin typeface="+mn-lt"/>
                <a:ea typeface="+mn-lt"/>
                <a:cs typeface="+mn-lt"/>
              </a:rPr>
              <a:t>低通约束：保留可辨识的大尺度结构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 i="0" u="none">
              <a:solidFill>
                <a:srgbClr val="C8161E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原始 EVDF</c:f>
              <c:strCache>
                <c:ptCount val="1"/>
                <c:pt idx="0">
                  <c:v>原始 EVDF</c:v>
                </c:pt>
              </c:strCache>
            </c:strRef>
          </c:tx>
          <c:spPr>
            <a:ln xmlns:a="http://schemas.openxmlformats.org/drawingml/2006/main" w="15240">
              <a:solidFill>
                <a:srgbClr val="999999"/>
              </a:solidFill>
              <a:prstDash val="solid"/>
            </a:ln>
          </c:spPr>
          <c:marker>
            <c:symbol val="none"/>
          </c:marker>
          <c:dLbls>
            <c:spPr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{-0.8,-0.77,-0.73,-0.7,-0.67,-0.63,-0.6,-0.57,-0.53,-0.5,-0.47,-0.43,-0.4,-0.37,-0.33,-0.3,-0.27,-0.23,-0.2,-0.17,-0.13,-0.1,-0.07,-0.03,0,0.03,0.07,0.1,0.13,0.17,0.2,0.23,0.27,0.3,0.33,0.37,0.4,0.43,0.47,0.5,0.53,0.57,0.6,0.63,0.67,0.7,0.73,0.77,0.8}</c:f>
              <c:numCache>
                <c:formatCode>General</c:formatCode>
                <c:ptCount val="49"/>
                <c:pt idx="0">
                  <c:v>-0.8</c:v>
                </c:pt>
                <c:pt idx="1">
                  <c:v>-0.77</c:v>
                </c:pt>
                <c:pt idx="2">
                  <c:v>-0.73</c:v>
                </c:pt>
                <c:pt idx="3">
                  <c:v>-0.7</c:v>
                </c:pt>
                <c:pt idx="4">
                  <c:v>-0.67</c:v>
                </c:pt>
                <c:pt idx="5">
                  <c:v>-0.63</c:v>
                </c:pt>
                <c:pt idx="6">
                  <c:v>-0.6</c:v>
                </c:pt>
                <c:pt idx="7">
                  <c:v>-0.57</c:v>
                </c:pt>
                <c:pt idx="8">
                  <c:v>-0.53</c:v>
                </c:pt>
                <c:pt idx="9">
                  <c:v>-0.5</c:v>
                </c:pt>
                <c:pt idx="10">
                  <c:v>-0.47</c:v>
                </c:pt>
                <c:pt idx="11">
                  <c:v>-0.43</c:v>
                </c:pt>
                <c:pt idx="12">
                  <c:v>-0.4</c:v>
                </c:pt>
                <c:pt idx="13">
                  <c:v>-0.37</c:v>
                </c:pt>
                <c:pt idx="14">
                  <c:v>-0.33</c:v>
                </c:pt>
                <c:pt idx="15">
                  <c:v>-0.3</c:v>
                </c:pt>
                <c:pt idx="16">
                  <c:v>-0.27</c:v>
                </c:pt>
                <c:pt idx="17">
                  <c:v>-0.23</c:v>
                </c:pt>
                <c:pt idx="18">
                  <c:v>-0.2</c:v>
                </c:pt>
                <c:pt idx="19">
                  <c:v>-0.17</c:v>
                </c:pt>
                <c:pt idx="20">
                  <c:v>-0.13</c:v>
                </c:pt>
                <c:pt idx="21">
                  <c:v>-0.1</c:v>
                </c:pt>
                <c:pt idx="22">
                  <c:v>-0.07</c:v>
                </c:pt>
                <c:pt idx="23">
                  <c:v>-0.03</c:v>
                </c:pt>
                <c:pt idx="24">
                  <c:v>0</c:v>
                </c:pt>
                <c:pt idx="25">
                  <c:v>0.03</c:v>
                </c:pt>
                <c:pt idx="26">
                  <c:v>0.07</c:v>
                </c:pt>
                <c:pt idx="27">
                  <c:v>0.1</c:v>
                </c:pt>
                <c:pt idx="28">
                  <c:v>0.13</c:v>
                </c:pt>
                <c:pt idx="29">
                  <c:v>0.17</c:v>
                </c:pt>
                <c:pt idx="30">
                  <c:v>0.2</c:v>
                </c:pt>
                <c:pt idx="31">
                  <c:v>0.23</c:v>
                </c:pt>
                <c:pt idx="32">
                  <c:v>0.27</c:v>
                </c:pt>
                <c:pt idx="33">
                  <c:v>0.3</c:v>
                </c:pt>
                <c:pt idx="34">
                  <c:v>0.33</c:v>
                </c:pt>
                <c:pt idx="35">
                  <c:v>0.37</c:v>
                </c:pt>
                <c:pt idx="36">
                  <c:v>0.4</c:v>
                </c:pt>
                <c:pt idx="37">
                  <c:v>0.43</c:v>
                </c:pt>
                <c:pt idx="38">
                  <c:v>0.47</c:v>
                </c:pt>
                <c:pt idx="39">
                  <c:v>0.5</c:v>
                </c:pt>
                <c:pt idx="40">
                  <c:v>0.53</c:v>
                </c:pt>
                <c:pt idx="41">
                  <c:v>0.57</c:v>
                </c:pt>
                <c:pt idx="42">
                  <c:v>0.6</c:v>
                </c:pt>
                <c:pt idx="43">
                  <c:v>0.63</c:v>
                </c:pt>
                <c:pt idx="44">
                  <c:v>0.67</c:v>
                </c:pt>
                <c:pt idx="45">
                  <c:v>0.7</c:v>
                </c:pt>
                <c:pt idx="46">
                  <c:v>0.73</c:v>
                </c:pt>
                <c:pt idx="47">
                  <c:v>0.77</c:v>
                </c:pt>
                <c:pt idx="48">
                  <c:v>0.8</c:v>
                </c:pt>
              </c:numCache>
            </c:numRef>
          </c:cat>
          <c:val>
            <c:numRef>
              <c:f>{1.27065588436352e-42,4.84465128990157e-39,1.27931243873895e-35,2.33975428620988e-32,2.96376257502248e-29,2.60013619534792e-26,1.57989532273909e-23,6.64875085134482e-21,1.93789987028588e-18,3.9120296480339e-16,5.46956100363338e-14,5.29641897325036e-12,3.55215349323987e-10,1.64998746312772e-8,5.30822220019337e-7,1.18276121069034e-5,0.000182525941505565,0.00195088671641474,0.0144419654575653,0.0740617108940468,0.263568181734998,0.65773788580315,1.19709189430407,1.71223994004219,1.98693480958345,1.85477594687479,1.3878263301976,0.593506002098651,0.100087578651685,0.0063892022750016,0.000298515850969514,0.000675868004261219,0.00407369923373621,0.0143889416184963,0.0293638721177348,0.034618012001502,0.0235773459370994,0.00927666119098912,0.0021085915549976,0.000276883590687558,2.10041911454335e-5,9.20489191563831e-7,2.33042651445003e-8,3.40844366463312e-10,2.87992259867338e-12,1.40575455420235e-14,3.96407780999469e-17,6.45771434096668e-20,6.07742317091642e-23}</c:f>
              <c:numCache>
                <c:formatCode>General</c:formatCode>
                <c:ptCount val="49"/>
                <c:pt idx="0">
                  <c:v>1.27065588436352E-42</c:v>
                </c:pt>
                <c:pt idx="1">
                  <c:v>4.84465128990157E-39</c:v>
                </c:pt>
                <c:pt idx="2">
                  <c:v>1.27931243873895E-35</c:v>
                </c:pt>
                <c:pt idx="3">
                  <c:v>2.33975428620988E-32</c:v>
                </c:pt>
                <c:pt idx="4">
                  <c:v>2.96376257502248E-29</c:v>
                </c:pt>
                <c:pt idx="5">
                  <c:v>2.60013619534792E-26</c:v>
                </c:pt>
                <c:pt idx="6">
                  <c:v>1.57989532273909E-23</c:v>
                </c:pt>
                <c:pt idx="7">
                  <c:v>6.64875085134482E-21</c:v>
                </c:pt>
                <c:pt idx="8">
                  <c:v>1.93789987028588E-18</c:v>
                </c:pt>
                <c:pt idx="9">
                  <c:v>3.9120296480339E-16</c:v>
                </c:pt>
                <c:pt idx="10">
                  <c:v>5.46956100363338E-14</c:v>
                </c:pt>
                <c:pt idx="11">
                  <c:v>5.29641897325036E-12</c:v>
                </c:pt>
                <c:pt idx="12">
                  <c:v>3.55215349323987E-10</c:v>
                </c:pt>
                <c:pt idx="13">
                  <c:v>1.64998746312772E-08</c:v>
                </c:pt>
                <c:pt idx="14">
                  <c:v>5.30822220019337E-07</c:v>
                </c:pt>
                <c:pt idx="15">
                  <c:v>1.18276121069034E-05</c:v>
                </c:pt>
                <c:pt idx="16">
                  <c:v>0.000182525941505565</c:v>
                </c:pt>
                <c:pt idx="17">
                  <c:v>0.00195088671641474</c:v>
                </c:pt>
                <c:pt idx="18">
                  <c:v>0.0144419654575653</c:v>
                </c:pt>
                <c:pt idx="19">
                  <c:v>0.0740617108940468</c:v>
                </c:pt>
                <c:pt idx="20">
                  <c:v>0.263568181734998</c:v>
                </c:pt>
                <c:pt idx="21">
                  <c:v>0.65773788580315</c:v>
                </c:pt>
                <c:pt idx="22">
                  <c:v>1.19709189430407</c:v>
                </c:pt>
                <c:pt idx="23">
                  <c:v>1.71223994004219</c:v>
                </c:pt>
                <c:pt idx="24">
                  <c:v>1.98693480958345</c:v>
                </c:pt>
                <c:pt idx="25">
                  <c:v>1.85477594687479</c:v>
                </c:pt>
                <c:pt idx="26">
                  <c:v>1.3878263301976</c:v>
                </c:pt>
                <c:pt idx="27">
                  <c:v>0.593506002098651</c:v>
                </c:pt>
                <c:pt idx="28">
                  <c:v>0.100087578651685</c:v>
                </c:pt>
                <c:pt idx="29">
                  <c:v>0.0063892022750016</c:v>
                </c:pt>
                <c:pt idx="30">
                  <c:v>0.000298515850969514</c:v>
                </c:pt>
                <c:pt idx="31">
                  <c:v>0.000675868004261219</c:v>
                </c:pt>
                <c:pt idx="32">
                  <c:v>0.00407369923373621</c:v>
                </c:pt>
                <c:pt idx="33">
                  <c:v>0.0143889416184963</c:v>
                </c:pt>
                <c:pt idx="34">
                  <c:v>0.0293638721177348</c:v>
                </c:pt>
                <c:pt idx="35">
                  <c:v>0.034618012001502</c:v>
                </c:pt>
                <c:pt idx="36">
                  <c:v>0.0235773459370994</c:v>
                </c:pt>
                <c:pt idx="37">
                  <c:v>0.00927666119098912</c:v>
                </c:pt>
                <c:pt idx="38">
                  <c:v>0.0021085915549976</c:v>
                </c:pt>
                <c:pt idx="39">
                  <c:v>0.000276883590687558</c:v>
                </c:pt>
                <c:pt idx="40">
                  <c:v>2.10041911454335E-05</c:v>
                </c:pt>
                <c:pt idx="41">
                  <c:v>9.20489191563831E-07</c:v>
                </c:pt>
                <c:pt idx="42">
                  <c:v>2.33042651445003E-08</c:v>
                </c:pt>
                <c:pt idx="43">
                  <c:v>3.40844366463312E-10</c:v>
                </c:pt>
                <c:pt idx="44">
                  <c:v>2.87992259867338E-12</c:v>
                </c:pt>
                <c:pt idx="45">
                  <c:v>1.40575455420235E-14</c:v>
                </c:pt>
                <c:pt idx="46">
                  <c:v>3.96407780999469E-17</c:v>
                </c:pt>
                <c:pt idx="47">
                  <c:v>6.45771434096668E-20</c:v>
                </c:pt>
                <c:pt idx="48">
                  <c:v>6.07742317091642E-23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80 模式重建</c:f>
              <c:strCache>
                <c:ptCount val="1"/>
                <c:pt idx="0">
                  <c:v>80 模式重建</c:v>
                </c:pt>
              </c:strCache>
            </c:strRef>
          </c:tx>
          <c:spPr>
            <a:ln xmlns:a="http://schemas.openxmlformats.org/drawingml/2006/main" w="22860">
              <a:solidFill>
                <a:srgbClr val="C8161E"/>
              </a:solidFill>
              <a:prstDash val="solid"/>
            </a:ln>
          </c:spPr>
          <c:marker>
            <c:symbol val="none"/>
          </c:marker>
          <c:dLbls>
            <c:spPr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Ref>
              <c:f>{-0.8,-0.77,-0.73,-0.7,-0.67,-0.63,-0.6,-0.57,-0.53,-0.5,-0.47,-0.43,-0.4,-0.37,-0.33,-0.3,-0.27,-0.23,-0.2,-0.17,-0.13,-0.1,-0.07,-0.03,0,0.03,0.07,0.1,0.13,0.17,0.2,0.23,0.27,0.3,0.33,0.37,0.4,0.43,0.47,0.5,0.53,0.57,0.6,0.63,0.67,0.7,0.73,0.77,0.8}</c:f>
              <c:numCache>
                <c:formatCode>General</c:formatCode>
                <c:ptCount val="49"/>
                <c:pt idx="0">
                  <c:v>-0.8</c:v>
                </c:pt>
                <c:pt idx="1">
                  <c:v>-0.77</c:v>
                </c:pt>
                <c:pt idx="2">
                  <c:v>-0.73</c:v>
                </c:pt>
                <c:pt idx="3">
                  <c:v>-0.7</c:v>
                </c:pt>
                <c:pt idx="4">
                  <c:v>-0.67</c:v>
                </c:pt>
                <c:pt idx="5">
                  <c:v>-0.63</c:v>
                </c:pt>
                <c:pt idx="6">
                  <c:v>-0.6</c:v>
                </c:pt>
                <c:pt idx="7">
                  <c:v>-0.57</c:v>
                </c:pt>
                <c:pt idx="8">
                  <c:v>-0.53</c:v>
                </c:pt>
                <c:pt idx="9">
                  <c:v>-0.5</c:v>
                </c:pt>
                <c:pt idx="10">
                  <c:v>-0.47</c:v>
                </c:pt>
                <c:pt idx="11">
                  <c:v>-0.43</c:v>
                </c:pt>
                <c:pt idx="12">
                  <c:v>-0.4</c:v>
                </c:pt>
                <c:pt idx="13">
                  <c:v>-0.37</c:v>
                </c:pt>
                <c:pt idx="14">
                  <c:v>-0.33</c:v>
                </c:pt>
                <c:pt idx="15">
                  <c:v>-0.3</c:v>
                </c:pt>
                <c:pt idx="16">
                  <c:v>-0.27</c:v>
                </c:pt>
                <c:pt idx="17">
                  <c:v>-0.23</c:v>
                </c:pt>
                <c:pt idx="18">
                  <c:v>-0.2</c:v>
                </c:pt>
                <c:pt idx="19">
                  <c:v>-0.17</c:v>
                </c:pt>
                <c:pt idx="20">
                  <c:v>-0.13</c:v>
                </c:pt>
                <c:pt idx="21">
                  <c:v>-0.1</c:v>
                </c:pt>
                <c:pt idx="22">
                  <c:v>-0.07</c:v>
                </c:pt>
                <c:pt idx="23">
                  <c:v>-0.03</c:v>
                </c:pt>
                <c:pt idx="24">
                  <c:v>0</c:v>
                </c:pt>
                <c:pt idx="25">
                  <c:v>0.03</c:v>
                </c:pt>
                <c:pt idx="26">
                  <c:v>0.07</c:v>
                </c:pt>
                <c:pt idx="27">
                  <c:v>0.1</c:v>
                </c:pt>
                <c:pt idx="28">
                  <c:v>0.13</c:v>
                </c:pt>
                <c:pt idx="29">
                  <c:v>0.17</c:v>
                </c:pt>
                <c:pt idx="30">
                  <c:v>0.2</c:v>
                </c:pt>
                <c:pt idx="31">
                  <c:v>0.23</c:v>
                </c:pt>
                <c:pt idx="32">
                  <c:v>0.27</c:v>
                </c:pt>
                <c:pt idx="33">
                  <c:v>0.3</c:v>
                </c:pt>
                <c:pt idx="34">
                  <c:v>0.33</c:v>
                </c:pt>
                <c:pt idx="35">
                  <c:v>0.37</c:v>
                </c:pt>
                <c:pt idx="36">
                  <c:v>0.4</c:v>
                </c:pt>
                <c:pt idx="37">
                  <c:v>0.43</c:v>
                </c:pt>
                <c:pt idx="38">
                  <c:v>0.47</c:v>
                </c:pt>
                <c:pt idx="39">
                  <c:v>0.5</c:v>
                </c:pt>
                <c:pt idx="40">
                  <c:v>0.53</c:v>
                </c:pt>
                <c:pt idx="41">
                  <c:v>0.57</c:v>
                </c:pt>
                <c:pt idx="42">
                  <c:v>0.6</c:v>
                </c:pt>
                <c:pt idx="43">
                  <c:v>0.63</c:v>
                </c:pt>
                <c:pt idx="44">
                  <c:v>0.67</c:v>
                </c:pt>
                <c:pt idx="45">
                  <c:v>0.7</c:v>
                </c:pt>
                <c:pt idx="46">
                  <c:v>0.73</c:v>
                </c:pt>
                <c:pt idx="47">
                  <c:v>0.77</c:v>
                </c:pt>
                <c:pt idx="48">
                  <c:v>0.8</c:v>
                </c:pt>
              </c:numCache>
            </c:numRef>
          </c:cat>
          <c:val>
            <c:numRef>
              <c:f>{1.11987871256502e-5,2.01520391157559e-5,3.53679300973535e-5,6.05400712247934e-5,0.000101069204986282,0.000164564975503972,0.000261335619592403,0.000404764525737037,0.000611433059675495,0.000900820018429995,0.00129440379754306,0.00181402875614081,0.00247948366433053,0.00330539173162815,0.00429808154223407,0.0054609980480078,0.00691515936560367,0.010002764074646,0.0234287091135893,0.0820734768924846,0.265306415761767,0.644832330577652,1.16347665989942,1.65856400944791,1.92245741720011,1.79539857600721,1.3465817183572,0.583169722221332,0.108365036801787,0.0171078686182012,0.00985099749125733,0.00877874611097857,0.0106506857261451,0.0192630274941416,0.0324868891859283,0.0365386674131904,0.0251137354229392,0.0107196234944058,0.00331865169028826,0.00116662826548968,0.000631597083175109,0.000405648195360939,0.000261357991686941,0.000164565302714564,0.000101069207751008,6.05400712382886e-5,3.53679300973915e-5,2.0152039115756e-5,1.11987871256502e-5}</c:f>
              <c:numCache>
                <c:formatCode>General</c:formatCode>
                <c:ptCount val="49"/>
                <c:pt idx="0">
                  <c:v>1.11987871256502E-05</c:v>
                </c:pt>
                <c:pt idx="1">
                  <c:v>2.01520391157559E-05</c:v>
                </c:pt>
                <c:pt idx="2">
                  <c:v>3.53679300973535E-05</c:v>
                </c:pt>
                <c:pt idx="3">
                  <c:v>6.05400712247934E-05</c:v>
                </c:pt>
                <c:pt idx="4">
                  <c:v>0.000101069204986282</c:v>
                </c:pt>
                <c:pt idx="5">
                  <c:v>0.000164564975503972</c:v>
                </c:pt>
                <c:pt idx="6">
                  <c:v>0.000261335619592403</c:v>
                </c:pt>
                <c:pt idx="7">
                  <c:v>0.000404764525737037</c:v>
                </c:pt>
                <c:pt idx="8">
                  <c:v>0.000611433059675495</c:v>
                </c:pt>
                <c:pt idx="9">
                  <c:v>0.000900820018429995</c:v>
                </c:pt>
                <c:pt idx="10">
                  <c:v>0.00129440379754306</c:v>
                </c:pt>
                <c:pt idx="11">
                  <c:v>0.00181402875614081</c:v>
                </c:pt>
                <c:pt idx="12">
                  <c:v>0.00247948366433053</c:v>
                </c:pt>
                <c:pt idx="13">
                  <c:v>0.00330539173162815</c:v>
                </c:pt>
                <c:pt idx="14">
                  <c:v>0.00429808154223407</c:v>
                </c:pt>
                <c:pt idx="15">
                  <c:v>0.0054609980480078</c:v>
                </c:pt>
                <c:pt idx="16">
                  <c:v>0.00691515936560367</c:v>
                </c:pt>
                <c:pt idx="17">
                  <c:v>0.010002764074646</c:v>
                </c:pt>
                <c:pt idx="18">
                  <c:v>0.0234287091135893</c:v>
                </c:pt>
                <c:pt idx="19">
                  <c:v>0.0820734768924846</c:v>
                </c:pt>
                <c:pt idx="20">
                  <c:v>0.265306415761767</c:v>
                </c:pt>
                <c:pt idx="21">
                  <c:v>0.644832330577652</c:v>
                </c:pt>
                <c:pt idx="22">
                  <c:v>1.16347665989942</c:v>
                </c:pt>
                <c:pt idx="23">
                  <c:v>1.65856400944791</c:v>
                </c:pt>
                <c:pt idx="24">
                  <c:v>1.92245741720011</c:v>
                </c:pt>
                <c:pt idx="25">
                  <c:v>1.79539857600721</c:v>
                </c:pt>
                <c:pt idx="26">
                  <c:v>1.3465817183572</c:v>
                </c:pt>
                <c:pt idx="27">
                  <c:v>0.583169722221332</c:v>
                </c:pt>
                <c:pt idx="28">
                  <c:v>0.108365036801787</c:v>
                </c:pt>
                <c:pt idx="29">
                  <c:v>0.0171078686182012</c:v>
                </c:pt>
                <c:pt idx="30">
                  <c:v>0.00985099749125733</c:v>
                </c:pt>
                <c:pt idx="31">
                  <c:v>0.00877874611097857</c:v>
                </c:pt>
                <c:pt idx="32">
                  <c:v>0.0106506857261451</c:v>
                </c:pt>
                <c:pt idx="33">
                  <c:v>0.0192630274941416</c:v>
                </c:pt>
                <c:pt idx="34">
                  <c:v>0.0324868891859283</c:v>
                </c:pt>
                <c:pt idx="35">
                  <c:v>0.0365386674131904</c:v>
                </c:pt>
                <c:pt idx="36">
                  <c:v>0.0251137354229392</c:v>
                </c:pt>
                <c:pt idx="37">
                  <c:v>0.0107196234944058</c:v>
                </c:pt>
                <c:pt idx="38">
                  <c:v>0.00331865169028826</c:v>
                </c:pt>
                <c:pt idx="39">
                  <c:v>0.00116662826548968</c:v>
                </c:pt>
                <c:pt idx="40">
                  <c:v>0.000631597083175109</c:v>
                </c:pt>
                <c:pt idx="41">
                  <c:v>0.000405648195360939</c:v>
                </c:pt>
                <c:pt idx="42">
                  <c:v>0.000261357991686941</c:v>
                </c:pt>
                <c:pt idx="43">
                  <c:v>0.000164565302714564</c:v>
                </c:pt>
                <c:pt idx="44">
                  <c:v>0.000101069207751008</c:v>
                </c:pt>
                <c:pt idx="45">
                  <c:v>6.05400712382886E-05</c:v>
                </c:pt>
                <c:pt idx="46">
                  <c:v>3.53679300973915E-05</c:v>
                </c:pt>
                <c:pt idx="47">
                  <c:v>2.0152039115756E-05</c:v>
                </c:pt>
                <c:pt idx="48">
                  <c:v>1.11987871256502E-05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v / c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675" b="0" i="0" u="none">
                <a:solidFill>
                  <a:srgbClr val="666666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fₑ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675" b="0" i="0" u="none">
                <a:solidFill>
                  <a:srgbClr val="666666"/>
                </a:solidFill>
                <a:latin typeface="+mn-lt"/>
                <a:ea typeface="+mn-lt"/>
                <a:cs typeface="+mn-lt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825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8D8D8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DBBCA9C-8F9E-4108-B330-86205BD70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OTS代码结构与训练全流程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24105E-5108-4E14-BCC7-46FF5855EF2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2999740" y="5244465"/>
            <a:ext cx="6593205" cy="454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基于代码仓库与 Sheffield (2011) 前三章｜2026年6月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E4BA0B7-8942-495B-BED1-4FD774260B30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351405" y="3861435"/>
            <a:ext cx="7414260" cy="59880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从合成光谱到非 Maxwell 电子速度分布反演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重点解析：ots_fourier 的物理与数值实现</a:t>
            </a:r>
          </a:p>
        </p:txBody>
      </p:sp>
    </p:spTree>
    <p:extLst>
      <p:ext uri="{BB962C8B-B14F-4D97-AF65-F5344CB8AC3E}">
        <p14:creationId xmlns:p14="http://schemas.microsoft.com/office/powerpoint/2010/main" val="11461355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直接连接符 2"/>
          <p:cNvCxnSpPr/>
          <p:nvPr/>
        </p:nvCxnSpPr>
        <p:spPr>
          <a:xfrm xmlns:a="http://schemas.openxmlformats.org/drawingml/2006/main">
            <a:off x="955420" y="3666694"/>
            <a:ext cx="10248277" cy="0"/>
          </a:xfrm>
          <a:prstGeom xmlns:a="http://schemas.openxmlformats.org/drawingml/2006/main" prst="line">
            <a:avLst/>
          </a:prstGeom>
          <a:ln xmlns:a="http://schemas.openxmlformats.org/drawingml/2006/main" cap="rnd">
            <a:solidFill>
              <a:schemeClr val="bg1">
                <a:lumMod val="75000"/>
              </a:schemeClr>
            </a:solidFill>
            <a:round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8" name="直接连接符 3"/>
          <p:cNvCxnSpPr/>
          <p:nvPr/>
        </p:nvCxnSpPr>
        <p:spPr>
          <a:xfrm xmlns:a="http://schemas.openxmlformats.org/drawingml/2006/main">
            <a:off x="4334742" y="1296629"/>
            <a:ext cx="0" cy="4740128"/>
          </a:xfrm>
          <a:prstGeom xmlns:a="http://schemas.openxmlformats.org/drawingml/2006/main" prst="line">
            <a:avLst/>
          </a:prstGeom>
          <a:ln xmlns:a="http://schemas.openxmlformats.org/drawingml/2006/main" cap="rnd">
            <a:solidFill>
              <a:schemeClr val="bg1">
                <a:lumMod val="75000"/>
              </a:schemeClr>
            </a:solidFill>
            <a:round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" name="直接连接符 4"/>
          <p:cNvCxnSpPr/>
          <p:nvPr/>
        </p:nvCxnSpPr>
        <p:spPr>
          <a:xfrm xmlns:a="http://schemas.openxmlformats.org/drawingml/2006/main">
            <a:off x="7824374" y="1296629"/>
            <a:ext cx="0" cy="4740128"/>
          </a:xfrm>
          <a:prstGeom xmlns:a="http://schemas.openxmlformats.org/drawingml/2006/main" prst="line">
            <a:avLst/>
          </a:prstGeom>
          <a:ln xmlns:a="http://schemas.openxmlformats.org/drawingml/2006/main" cap="rnd">
            <a:solidFill>
              <a:schemeClr val="bg1">
                <a:lumMod val="75000"/>
              </a:schemeClr>
            </a:solidFill>
            <a:round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iśļíḓé">
            <a:extLst xmlns:a="http://schemas.openxmlformats.org/drawingml/2006/main">
              <a:ext uri="{FF2B5EF4-FFF2-40B4-BE49-F238E27FC236}">
                <a16:creationId xmlns:a16="http://schemas.microsoft.com/office/drawing/2014/main" id="{CAAF68DD-2EA9-4678-944B-668B0ACB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444" y="1569383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ïṩľîḓé">
            <a:extLst xmlns:a="http://schemas.openxmlformats.org/drawingml/2006/main">
              <a:ext uri="{FF2B5EF4-FFF2-40B4-BE49-F238E27FC236}">
                <a16:creationId xmlns:a16="http://schemas.microsoft.com/office/drawing/2014/main" id="{349BA86C-E833-4B30-86E7-2122C9CF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77" y="1569383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îṩľiḑé">
            <a:extLst xmlns:a="http://schemas.openxmlformats.org/drawingml/2006/main">
              <a:ext uri="{FF2B5EF4-FFF2-40B4-BE49-F238E27FC236}">
                <a16:creationId xmlns:a16="http://schemas.microsoft.com/office/drawing/2014/main" id="{791410B9-4EC8-43CC-BBC7-8F29D80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11" y="1569383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9" name="îṩľiďé">
            <a:extLst xmlns:a="http://schemas.openxmlformats.org/drawingml/2006/main">
              <a:ext uri="{FF2B5EF4-FFF2-40B4-BE49-F238E27FC236}">
                <a16:creationId xmlns:a16="http://schemas.microsoft.com/office/drawing/2014/main" id="{584ADAF3-CCE8-4880-9511-7182B70A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444" y="3941899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0" name="îŝḻîḓê">
            <a:extLst xmlns:a="http://schemas.openxmlformats.org/drawingml/2006/main">
              <a:ext uri="{FF2B5EF4-FFF2-40B4-BE49-F238E27FC236}">
                <a16:creationId xmlns:a16="http://schemas.microsoft.com/office/drawing/2014/main" id="{E2355E36-7ED8-4C27-B68F-25DEB78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77" y="3941899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1" name="iṣļïḑe">
            <a:extLst xmlns:a="http://schemas.openxmlformats.org/drawingml/2006/main">
              <a:ext uri="{FF2B5EF4-FFF2-40B4-BE49-F238E27FC236}">
                <a16:creationId xmlns:a16="http://schemas.microsoft.com/office/drawing/2014/main" id="{FBECCC08-10CC-4C13-87BB-296E3B6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11" y="3941899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BAD2B31-AF25-458B-80CD-BB7A71A0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29" y="2527369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合成非 Maxwell EVDF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3+1 Gaussian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8905A97-177A-4D72-B4E6-D3280B85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29" y="4897434"/>
            <a:ext cx="2492990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读取 Parquet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跳过第 0 行元数据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5F5FBD3-D427-4740-9FCB-0489FEE2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857" y="2527369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低通 Fourier 标签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80 个复模式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6480F26-AD17-4FD2-AC07-811B15D5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489" y="2527369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正向生成 OTS 光谱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三波段 1224 维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3DF8A28-846D-40BF-AB70-3EBE2BE6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269" y="4897434"/>
            <a:ext cx="2492990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全批次训练 DNN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1224→5000→5000→160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0C329AF-AB39-46AE-94A7-7D36A198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700" y="4897434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逆变换与评估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F(K)→f(v)</a:t>
            </a:r>
          </a:p>
        </p:txBody>
      </p:sp>
      <p:pic>
        <p:nvPicPr>
          <p:cNvPr id="52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4c3c68f6a54a2f"/>
          <a:srcRect xmlns:a="http://schemas.openxmlformats.org/drawingml/2006/main" l="0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61E3DAD-B471-4605-8909-171AB216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000" y="3626732"/>
            <a:ext cx="900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A36C5D02-6FCE-442D-9293-5A553901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C8161E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训练全流程：从 EVDF 合成到反演验证</a:t>
            </a:r>
          </a:p>
        </p:txBody>
      </p:sp>
    </p:spTree>
    <p:extLst>
      <p:ext uri="{BB962C8B-B14F-4D97-AF65-F5344CB8AC3E}">
        <p14:creationId xmlns:p14="http://schemas.microsoft.com/office/powerpoint/2010/main" val="9337290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任意多边形: 形状 74">
            <a:extLst xmlns:a="http://schemas.openxmlformats.org/drawingml/2006/main">
              <a:ext uri="{FF2B5EF4-FFF2-40B4-BE49-F238E27FC236}">
                <a16:creationId xmlns:a16="http://schemas.microsoft.com/office/drawing/2014/main" id="{6C1B455B-7CA0-4394-953C-38FD2070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266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任意多边形: 形状 72">
            <a:extLst xmlns:a="http://schemas.openxmlformats.org/drawingml/2006/main">
              <a:ext uri="{FF2B5EF4-FFF2-40B4-BE49-F238E27FC236}">
                <a16:creationId xmlns:a16="http://schemas.microsoft.com/office/drawing/2014/main" id="{B8D66192-1558-46BF-979D-5D09F894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442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任意多边形: 形状 73">
            <a:extLst xmlns:a="http://schemas.openxmlformats.org/drawingml/2006/main">
              <a:ext uri="{FF2B5EF4-FFF2-40B4-BE49-F238E27FC236}">
                <a16:creationId xmlns:a16="http://schemas.microsoft.com/office/drawing/2014/main" id="{D73890EB-E750-495C-A1C4-7D986D04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1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037C0DD0-83F4-4696-A807-432B7984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D92B6513-7EBC-4A06-9DFD-4A08FE9E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939FA3F7-1326-4E26-A3D0-DDF6D8A1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rgbClr val="C8161E"/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FC0880FE-01AD-4CA9-9D4C-D858E974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CFAA87EC-B4FC-49E1-835E-BF0BC4FC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749935"/>
            <a:ext cx="2129790" cy="1091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A700730F-0C66-497A-9C78-71555BAC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749935"/>
            <a:ext cx="2405380" cy="1091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88F24D7-AEAA-411C-BBD6-2A91B88E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749935"/>
            <a:ext cx="2204085" cy="1091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 u="sng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291235B8-42D2-42FA-B7C2-A41589E8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749935"/>
            <a:ext cx="2017395" cy="1091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A7256436-FD9F-40B9-8A59-AB4F5B56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2206625"/>
            <a:ext cx="29203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输入是什么</a:t>
            </a: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BDE30A76-40BF-4175-A950-624B1294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6625"/>
            <a:ext cx="287274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标签如何来</a:t>
            </a: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07A82D77-6EC5-4BF4-B321-36EEDA9C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6625"/>
            <a:ext cx="283400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模型学什么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3D768FFD-A29C-4BC2-A565-2022B6EE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2206625"/>
            <a:ext cx="266573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如何验证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0BA5B777-59FA-4345-AC91-594376FF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3005282"/>
            <a:ext cx="2565400" cy="1938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三段独立归一化的 OTS 光谱：离子峰 579 点、红移电子峰 304 点、蓝移电子峰 341 点。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D13DE9FA-DE6A-4655-A375-9CDF17D2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3005282"/>
            <a:ext cx="25654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将一维 EVDF 投影到 Fourier 空间，仅保留 80 个低频复系数，再拆成 160 个实数。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27C562F9-FBA2-4A65-A147-950798FC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005282"/>
            <a:ext cx="25654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两层 5000 维全连接网络，学习“光谱形状 → EVDF 低通 Fourier 表示”的直接映射。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BC749161-C400-48D7-9742-4DFC03B9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05282"/>
            <a:ext cx="25654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把预测的 Re/Im 重新组成 Fₑ(K)，经 ift_k 恢复 fₑ(v)，与真值并排比较。</a:t>
            </a:r>
          </a:p>
        </p:txBody>
      </p:sp>
    </p:spTree>
    <p:extLst>
      <p:ext uri="{BB962C8B-B14F-4D97-AF65-F5344CB8AC3E}">
        <p14:creationId xmlns:p14="http://schemas.microsoft.com/office/powerpoint/2010/main" val="14318643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8233F8D5-2BDA-44C6-9FF7-FA5EE4E90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39862" y="1355320"/>
            <a:ext cx="8796337" cy="10608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项目结构与数据生成</a:t>
            </a:r>
          </a:p>
        </p:txBody>
      </p:sp>
      <p:sp>
        <p:nvSpPr>
          <p:cNvPr id="4" name="ïṥļiḋe">
            <a:extLst xmlns:a="http://schemas.openxmlformats.org/drawingml/2006/main">
              <a:ext uri="{FF2B5EF4-FFF2-40B4-BE49-F238E27FC236}">
                <a16:creationId xmlns:a16="http://schemas.microsoft.com/office/drawing/2014/main" id="{2A944708-C861-49A5-B287-FEED0605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27" y="1885747"/>
            <a:ext cx="2683748" cy="5386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34400" b="1">
                <a:solidFill>
                  <a:schemeClr val="tx2">
                    <a:lumMod val="20000"/>
                    <a:lumOff val="80000"/>
                  </a:scheme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20762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标题 22">
            <a:extLst xmlns:a="http://schemas.openxmlformats.org/drawingml/2006/main">
              <a:ext uri="{FF2B5EF4-FFF2-40B4-BE49-F238E27FC236}">
                <a16:creationId xmlns:a16="http://schemas.microsoft.com/office/drawing/2014/main" id="{75E766BD-8C60-482B-A782-9828BED2A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代码结构：入口、物理层、训练层与评估层</a:t>
            </a:r>
          </a:p>
        </p:txBody>
      </p:sp>
      <p:sp>
        <p:nvSpPr>
          <p:cNvPr id="24" name="tree-root">
            <a:extLst xmlns:a="http://schemas.openxmlformats.org/drawingml/2006/main">
              <a:ext uri="{FF2B5EF4-FFF2-40B4-BE49-F238E27FC236}">
                <a16:creationId xmlns:a16="http://schemas.microsoft.com/office/drawing/2014/main" id="{8173DB6E-4572-4343-B46F-59913322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3905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NN_hotE_large_lmRange/</a:t>
            </a:r>
          </a:p>
        </p:txBody>
      </p:sp>
      <p:sp>
        <p:nvSpPr>
          <p:cNvPr id="26" name="tree-row-1">
            <a:extLst xmlns:a="http://schemas.openxmlformats.org/drawingml/2006/main">
              <a:ext uri="{FF2B5EF4-FFF2-40B4-BE49-F238E27FC236}">
                <a16:creationId xmlns:a16="http://schemas.microsoft.com/office/drawing/2014/main" id="{36CA919D-33B9-4F41-B231-7C726DA9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33350" tIns="66675" rIns="9525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数据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genDataSet.py → dataset_train/test.parquet → readData.py</a:t>
            </a:r>
          </a:p>
        </p:txBody>
      </p:sp>
      <p:sp>
        <p:nvSpPr>
          <p:cNvPr id="27" name="tree-row-2">
            <a:extLst xmlns:a="http://schemas.openxmlformats.org/drawingml/2006/main">
              <a:ext uri="{FF2B5EF4-FFF2-40B4-BE49-F238E27FC236}">
                <a16:creationId xmlns:a16="http://schemas.microsoft.com/office/drawing/2014/main" id="{FF6B1A30-D867-471C-8951-CD29A4B0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5B9BC"/>
            </a:solidFill>
            <a:prstDash val="solid"/>
          </a:ln>
        </p:spPr>
        <p:txBody>
          <a:bodyPr xmlns:a="http://schemas.openxmlformats.org/drawingml/2006/main" lIns="133350" tIns="66675" rIns="9525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网络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model.py + train.py + main.py → OTS_Te_model.pickle</a:t>
            </a:r>
          </a:p>
        </p:txBody>
      </p:sp>
      <p:sp>
        <p:nvSpPr>
          <p:cNvPr id="28" name="tree-row-3">
            <a:extLst xmlns:a="http://schemas.openxmlformats.org/drawingml/2006/main">
              <a:ext uri="{FF2B5EF4-FFF2-40B4-BE49-F238E27FC236}">
                <a16:creationId xmlns:a16="http://schemas.microsoft.com/office/drawing/2014/main" id="{E10D09BA-8D8D-4C16-A8F1-C44D5BB9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33350" tIns="66675" rIns="9525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评估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singleSpectrum.py｜evaluateModel*.py｜quick_test.py</a:t>
            </a:r>
          </a:p>
        </p:txBody>
      </p:sp>
      <p:sp>
        <p:nvSpPr>
          <p:cNvPr id="29" name="tree-to-call">
            <a:extLst xmlns:a="http://schemas.openxmlformats.org/drawingml/2006/main">
              <a:ext uri="{FF2B5EF4-FFF2-40B4-BE49-F238E27FC236}">
                <a16:creationId xmlns:a16="http://schemas.microsoft.com/office/drawing/2014/main" id="{8E0183D4-2708-43D3-B8E9-44DF06A1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523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30" name="call-title">
            <a:extLst xmlns:a="http://schemas.openxmlformats.org/drawingml/2006/main">
              <a:ext uri="{FF2B5EF4-FFF2-40B4-BE49-F238E27FC236}">
                <a16:creationId xmlns:a16="http://schemas.microsoft.com/office/drawing/2014/main" id="{17A701DE-3592-47CB-98D2-21A3E49B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8161E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主调用链</a:t>
            </a:r>
          </a:p>
        </p:txBody>
      </p:sp>
      <p:sp>
        <p:nvSpPr>
          <p:cNvPr id="31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635EAB29-8935-4699-BDE3-B260CEAC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67775" y="2743200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6B9"/>
          </a:solidFill>
          <a:ln xmlns:a="http://schemas.openxmlformats.org/drawingml/2006/main" w="7620">
            <a:solidFill>
              <a:srgbClr val="E4B6B9"/>
            </a:solidFill>
            <a:prstDash val="solid"/>
          </a:ln>
        </p:spPr>
      </p:sp>
      <p:sp>
        <p:nvSpPr>
          <p:cNvPr id="32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DD9B7C8A-8200-4751-97B8-2D0876A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67775" y="3657600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6B9"/>
          </a:solidFill>
          <a:ln xmlns:a="http://schemas.openxmlformats.org/drawingml/2006/main" w="7620">
            <a:solidFill>
              <a:srgbClr val="E4B6B9"/>
            </a:solidFill>
            <a:prstDash val="solid"/>
          </a:ln>
        </p:spPr>
      </p:sp>
      <p:sp>
        <p:nvSpPr>
          <p:cNvPr id="33" name="flow-step-0">
            <a:extLst xmlns:a="http://schemas.openxmlformats.org/drawingml/2006/main">
              <a:ext uri="{FF2B5EF4-FFF2-40B4-BE49-F238E27FC236}">
                <a16:creationId xmlns:a16="http://schemas.microsoft.com/office/drawing/2014/main" id="{E9D3E215-7926-4258-83DD-73A7A73D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572000" cy="6858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6D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7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genDataSet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合成训练对</a:t>
            </a:r>
          </a:p>
        </p:txBody>
      </p:sp>
      <p:sp>
        <p:nvSpPr>
          <p:cNvPr id="3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2259A2CF-68C0-43C9-9183-2118B6A3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4572000" cy="6858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8B4B7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7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main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组织训练</a:t>
            </a:r>
          </a:p>
        </p:txBody>
      </p:sp>
      <p:sp>
        <p:nvSpPr>
          <p:cNvPr id="35" name="flow-step-2">
            <a:extLst xmlns:a="http://schemas.openxmlformats.org/drawingml/2006/main">
              <a:ext uri="{FF2B5EF4-FFF2-40B4-BE49-F238E27FC236}">
                <a16:creationId xmlns:a16="http://schemas.microsoft.com/office/drawing/2014/main" id="{3131C462-4103-4079-B605-DFE83AFB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572000" cy="6858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6D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7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evaluate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频域→速度域</a:t>
            </a:r>
          </a:p>
        </p:txBody>
      </p:sp>
      <p:sp>
        <p:nvSpPr>
          <p:cNvPr id="36" name="outputs-note">
            <a:extLst xmlns:a="http://schemas.openxmlformats.org/drawingml/2006/main">
              <a:ext uri="{FF2B5EF4-FFF2-40B4-BE49-F238E27FC236}">
                <a16:creationId xmlns:a16="http://schemas.microsoft.com/office/drawing/2014/main" id="{5C163159-F32B-4A35-BB41-182BB668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572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关键产物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dataset_train.parquet：5000 个样本 + 1 行元数据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dataset_test.parquet：100 个样本 + 1 行元数据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OTS_Te_model.pickle：state_dict 的 pickle 包装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result*.png：光谱、系数与 EVDF 对比</a:t>
            </a:r>
          </a:p>
        </p:txBody>
      </p:sp>
      <p:sp>
        <p:nvSpPr>
          <p:cNvPr id="25" name="tree-row-0">
            <a:extLst xmlns:a="http://schemas.openxmlformats.org/drawingml/2006/main">
              <a:ext uri="{FF2B5EF4-FFF2-40B4-BE49-F238E27FC236}">
                <a16:creationId xmlns:a16="http://schemas.microsoft.com/office/drawing/2014/main" id="{1DBAB386-735C-4F6E-AEB1-E3A56064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76450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5B9BC"/>
            </a:solidFill>
            <a:prstDash val="solid"/>
          </a:ln>
        </p:spPr>
        <p:txBody>
          <a:bodyPr xmlns:a="http://schemas.openxmlformats.org/drawingml/2006/main" lIns="133350" tIns="66675" rIns="95250" bIns="6667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phyEqns/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ots_fourier.py｜ots_superGaussian.py｜ots_arb_gaussian.py</a:t>
            </a:r>
          </a:p>
        </p:txBody>
      </p:sp>
    </p:spTree>
    <p:extLst>
      <p:ext uri="{BB962C8B-B14F-4D97-AF65-F5344CB8AC3E}">
        <p14:creationId xmlns:p14="http://schemas.microsoft.com/office/powerpoint/2010/main" val="1099279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任意多边形: 形状 74">
            <a:extLst xmlns:a="http://schemas.openxmlformats.org/drawingml/2006/main">
              <a:ext uri="{FF2B5EF4-FFF2-40B4-BE49-F238E27FC236}">
                <a16:creationId xmlns:a16="http://schemas.microsoft.com/office/drawing/2014/main" id="{9228B176-0215-44BA-B933-E1492D5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266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任意多边形: 形状 72">
            <a:extLst xmlns:a="http://schemas.openxmlformats.org/drawingml/2006/main">
              <a:ext uri="{FF2B5EF4-FFF2-40B4-BE49-F238E27FC236}">
                <a16:creationId xmlns:a16="http://schemas.microsoft.com/office/drawing/2014/main" id="{1E8353A8-E924-4BF3-BFAA-1494092A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442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任意多边形: 形状 73">
            <a:extLst xmlns:a="http://schemas.openxmlformats.org/drawingml/2006/main">
              <a:ext uri="{FF2B5EF4-FFF2-40B4-BE49-F238E27FC236}">
                <a16:creationId xmlns:a16="http://schemas.microsoft.com/office/drawing/2014/main" id="{409745F6-11F2-4863-BA25-7B0D51CE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1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A9C9445B-CF2C-4AE9-A14E-43B4ACD5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1A4AE213-D84A-4775-B3B7-30BCE407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0E9C34F3-5234-4653-AA77-39D405E0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rgbClr val="C8161E"/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CB682B94-C224-4C25-A9EC-574ED64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92A064AC-5FD5-47EE-81C2-0901CE3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4C5F83CA-F901-4453-A404-7E7D2D1B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A932567-6816-4141-9F75-AD3CAE3D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 u="sng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F12CF7D7-33E0-4092-9DE7-3FDC9B3C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17DB983E-8CBA-4FFC-8551-450A9B6B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2206625"/>
            <a:ext cx="256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物理正向层</a:t>
            </a: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6FB5BE6D-6AED-4D33-AF3E-6546ECBA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2206625"/>
            <a:ext cx="256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数据接口层</a:t>
            </a: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5D264CF0-661C-402C-80C5-E89CB553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206625"/>
            <a:ext cx="256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反演网络层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D6AD9633-FAB1-455B-92F8-1E448DF4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06625"/>
            <a:ext cx="256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验证与诊断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D750EEA6-E548-46C4-BF60-98863152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3005282"/>
            <a:ext cx="2565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ots_fourier 负责 Fourier 变换、χₑ、ε、S(k,ω) 与归一化光谱；其输出是训练数据的物理来源。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A9CD31E4-DF17-49F7-B8EF-6521C29F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3005282"/>
            <a:ext cx="2565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genDataSet 负责随机 EVDF 与 Parquet；readData 把前 1224 列和后 160 列切成 float32 张量。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99967225-1756-4D40-BD44-AB4D308A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005282"/>
            <a:ext cx="2565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ModelOTS 是两层 5000 宽的 MLP；train 使用 Adam 与多阶段学习率，main 负责串联与保存。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4243F741-7323-4FF0-88A3-0523C66D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05282"/>
            <a:ext cx="2565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evaluateModel / singleSpectrum 把预测系数复原为 EVDF；quick_test 用小样本检查完整链路。</a:t>
            </a:r>
          </a:p>
        </p:txBody>
      </p:sp>
    </p:spTree>
    <p:extLst>
      <p:ext uri="{BB962C8B-B14F-4D97-AF65-F5344CB8AC3E}">
        <p14:creationId xmlns:p14="http://schemas.microsoft.com/office/powerpoint/2010/main" val="3723726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标题 22">
            <a:extLst xmlns:a="http://schemas.openxmlformats.org/drawingml/2006/main">
              <a:ext uri="{FF2B5EF4-FFF2-40B4-BE49-F238E27FC236}">
                <a16:creationId xmlns:a16="http://schemas.microsoft.com/office/drawing/2014/main" id="{33C49ED0-8506-40B5-AFF7-2C6CAA6E1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genDataSet.py：一个样本怎样被生成</a:t>
            </a:r>
          </a:p>
        </p:txBody>
      </p:sp>
      <p:sp>
        <p:nvSpPr>
          <p:cNvPr id="24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0D30438E-7275-4D66-B483-2FFBDB38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600325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6B9"/>
          </a:solidFill>
          <a:ln xmlns:a="http://schemas.openxmlformats.org/drawingml/2006/main" w="7620">
            <a:solidFill>
              <a:srgbClr val="E4B6B9"/>
            </a:solidFill>
            <a:prstDash val="solid"/>
          </a:ln>
        </p:spPr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A1E02B3E-43A1-4ADF-A8B9-784819C8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600325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6B9"/>
          </a:solidFill>
          <a:ln xmlns:a="http://schemas.openxmlformats.org/drawingml/2006/main" w="7620">
            <a:solidFill>
              <a:srgbClr val="E4B6B9"/>
            </a:solidFill>
            <a:prstDash val="solid"/>
          </a:ln>
        </p:spPr>
      </p:sp>
      <p:sp>
        <p:nvSpPr>
          <p:cNvPr id="2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1B379FE8-D689-4D0B-BF92-125B5AE3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00325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6B9"/>
          </a:solidFill>
          <a:ln xmlns:a="http://schemas.openxmlformats.org/drawingml/2006/main" w="7620">
            <a:solidFill>
              <a:srgbClr val="E4B6B9"/>
            </a:solidFill>
            <a:prstDash val="solid"/>
          </a:ln>
        </p:spPr>
      </p:sp>
      <p:sp>
        <p:nvSpPr>
          <p:cNvPr id="27" name="flow-step-0">
            <a:extLst xmlns:a="http://schemas.openxmlformats.org/drawingml/2006/main">
              <a:ext uri="{FF2B5EF4-FFF2-40B4-BE49-F238E27FC236}">
                <a16:creationId xmlns:a16="http://schemas.microsoft.com/office/drawing/2014/main" id="{323D4645-190B-47D6-92EF-C79C2D7B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514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6D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随机 EVDF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1000 点，[-0.8c,0.8c]</a:t>
            </a:r>
          </a:p>
        </p:txBody>
      </p:sp>
      <p:sp>
        <p:nvSpPr>
          <p:cNvPr id="28" name="flow-step-1">
            <a:extLst xmlns:a="http://schemas.openxmlformats.org/drawingml/2006/main">
              <a:ext uri="{FF2B5EF4-FFF2-40B4-BE49-F238E27FC236}">
                <a16:creationId xmlns:a16="http://schemas.microsoft.com/office/drawing/2014/main" id="{8C916092-8871-456D-8F66-D6C9FC04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514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8B4B7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Fourier 编码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ft_x_n(...,80)</a:t>
            </a:r>
          </a:p>
        </p:txBody>
      </p:sp>
      <p:sp>
        <p:nvSpPr>
          <p:cNvPr id="29" name="flow-step-2">
            <a:extLst xmlns:a="http://schemas.openxmlformats.org/drawingml/2006/main">
              <a:ext uri="{FF2B5EF4-FFF2-40B4-BE49-F238E27FC236}">
                <a16:creationId xmlns:a16="http://schemas.microsoft.com/office/drawing/2014/main" id="{8449C426-A97D-44C3-B64B-3FEFF16C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514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6D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正向光谱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OTS_spectrum_fft ×3</a:t>
            </a:r>
          </a:p>
        </p:txBody>
      </p:sp>
      <p:sp>
        <p:nvSpPr>
          <p:cNvPr id="30" name="flow-step-3">
            <a:extLst xmlns:a="http://schemas.openxmlformats.org/drawingml/2006/main">
              <a:ext uri="{FF2B5EF4-FFF2-40B4-BE49-F238E27FC236}">
                <a16:creationId xmlns:a16="http://schemas.microsoft.com/office/drawing/2014/main" id="{39831A94-2FDB-4551-8CF8-8A368D9F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2514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8B4B7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拼接存储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1224 + 160</a:t>
            </a:r>
          </a:p>
        </p:txBody>
      </p:sp>
      <p:sp>
        <p:nvSpPr>
          <p:cNvPr id="31" name="data-flow-details">
            <a:extLst xmlns:a="http://schemas.openxmlformats.org/drawingml/2006/main">
              <a:ext uri="{FF2B5EF4-FFF2-40B4-BE49-F238E27FC236}">
                <a16:creationId xmlns:a16="http://schemas.microsoft.com/office/drawing/2014/main" id="{3B5BE124-48E4-4EC8-AF18-52820E96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9"/>
          </a:solidFill>
          <a:ln xmlns:a="http://schemas.openxmlformats.org/drawingml/2006/main" w="11430">
            <a:solidFill>
              <a:srgbClr val="E7B7BA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固定物理条件：λ₀=351 nm，nₑ=1.81×10²⁶ m⁻³，Tₑ=1370 eV，Tᵢ=171.3 eV，散射角 123°，CH 混合物（H:55%，C:45%）。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变化量：每个样本的电子速度分布。三段光谱分别归一化到 max=1，再按 [离子峰, 红移电子峰, 蓝移电子峰] 拼接。</a:t>
            </a:r>
          </a:p>
        </p:txBody>
      </p:sp>
      <p:sp>
        <p:nvSpPr>
          <p:cNvPr id="32" name="citation-7">
            <a:extLst xmlns:a="http://schemas.openxmlformats.org/drawingml/2006/main">
              <a:ext uri="{FF2B5EF4-FFF2-40B4-BE49-F238E27FC236}">
                <a16:creationId xmlns:a16="http://schemas.microsoft.com/office/drawing/2014/main" id="{3398E25D-E95E-4146-88AD-B07A52CC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777777"/>
                </a:solidFill>
                <a:latin typeface="Segoe UI"/>
                <a:ea typeface="Segoe UI"/>
                <a:cs typeface="Segoe UI"/>
              </a:rPr>
              <a:t>代码：genDataSet.py；论文基准为 10 Gaussian，本分支实际为 3 个背景 Gaussian + 1 个弱热电子 Gaussian。</a:t>
            </a:r>
          </a:p>
        </p:txBody>
      </p:sp>
    </p:spTree>
    <p:extLst>
      <p:ext uri="{BB962C8B-B14F-4D97-AF65-F5344CB8AC3E}">
        <p14:creationId xmlns:p14="http://schemas.microsoft.com/office/powerpoint/2010/main" val="3807605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标题 22">
            <a:extLst xmlns:a="http://schemas.openxmlformats.org/drawingml/2006/main">
              <a:ext uri="{FF2B5EF4-FFF2-40B4-BE49-F238E27FC236}">
                <a16:creationId xmlns:a16="http://schemas.microsoft.com/office/drawing/2014/main" id="{141CBD29-842C-4756-835E-FDB976502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随机 EVDF：为什么是“3+1 Gaussian”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9afadd11da4dd2"/>
          </a:graphicData>
        </a:graphic>
      </p:graphicFrame>
      <p:sp>
        <p:nvSpPr>
          <p:cNvPr id="25" name="evdf-params">
            <a:extLst xmlns:a="http://schemas.openxmlformats.org/drawingml/2006/main">
              <a:ext uri="{FF2B5EF4-FFF2-40B4-BE49-F238E27FC236}">
                <a16:creationId xmlns:a16="http://schemas.microsoft.com/office/drawing/2014/main" id="{88FBED24-C47B-4F2F-A100-74E96188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3524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4B4B7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6" name="evdf-params-text">
            <a:extLst xmlns:a="http://schemas.openxmlformats.org/drawingml/2006/main">
              <a:ext uri="{FF2B5EF4-FFF2-40B4-BE49-F238E27FC236}">
                <a16:creationId xmlns:a16="http://schemas.microsoft.com/office/drawing/2014/main" id="{DFD11D6A-FAF7-424B-89C5-4AD9D23C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31242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背景 Gaussian ×3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中心：±0.06c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宽度：0.01–0.05c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高度：0.2–2.5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弱热电子 Gaussian ×1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中心：±0.4c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宽度：0.01–0.05c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高度：0.001–0.045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最后用 ∫fₑ(v)dv=1 归一化。</a:t>
            </a:r>
          </a:p>
        </p:txBody>
      </p:sp>
      <p:sp>
        <p:nvSpPr>
          <p:cNvPr id="27" name="citation-8">
            <a:extLst xmlns:a="http://schemas.openxmlformats.org/drawingml/2006/main">
              <a:ext uri="{FF2B5EF4-FFF2-40B4-BE49-F238E27FC236}">
                <a16:creationId xmlns:a16="http://schemas.microsoft.com/office/drawing/2014/main" id="{B4DC025E-12EA-4175-8A57-0AC86D7F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777777"/>
                </a:solidFill>
                <a:latin typeface="Segoe UI"/>
                <a:ea typeface="Segoe UI"/>
                <a:cs typeface="Segoe UI"/>
              </a:rPr>
              <a:t>代码：genDataSet.random_gaussians；远端小峰扩展了电子峰所需波长覆盖范围。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17303953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标题 22">
            <a:extLst xmlns:a="http://schemas.openxmlformats.org/drawingml/2006/main">
              <a:ext uri="{FF2B5EF4-FFF2-40B4-BE49-F238E27FC236}">
                <a16:creationId xmlns:a16="http://schemas.microsoft.com/office/drawing/2014/main" id="{0593BA61-9B88-4285-91DD-CF7B9D1A15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Fourier 标签：1000 个速度点如何压缩为 80 个复模式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5715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4fb5b44dfa423f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429375" y="1428750"/>
          <a:ext xmlns:a="http://schemas.openxmlformats.org/drawingml/2006/main" cx="51435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cb7bb115d94615"/>
          </a:graphicData>
        </a:graphic>
      </p:graphicFrame>
      <p:sp>
        <p:nvSpPr>
          <p:cNvPr id="26" name="fourier-note">
            <a:extLst xmlns:a="http://schemas.openxmlformats.org/drawingml/2006/main">
              <a:ext uri="{FF2B5EF4-FFF2-40B4-BE49-F238E27FC236}">
                <a16:creationId xmlns:a16="http://schemas.microsoft.com/office/drawing/2014/main" id="{E1684090-62D1-4340-A06F-28474A97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9"/>
          </a:solidFill>
          <a:ln xmlns:a="http://schemas.openxmlformats.org/drawingml/2006/main" w="9525">
            <a:solidFill>
              <a:srgbClr val="E5B5B8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ft_x_n 不是“FFT 后截取前 80 项”：它先由速度网格得到 ΔK=2π/L，再在以 K=0 为中心的有限区间上重新做 80 次梯形积分。标签排列为 [Re(Fₑ[0:80]), Im(Fₑ[0:80])]。</a:t>
            </a:r>
          </a:p>
        </p:txBody>
      </p:sp>
    </p:spTree>
    <p:extLst>
      <p:ext uri="{BB962C8B-B14F-4D97-AF65-F5344CB8AC3E}">
        <p14:creationId xmlns:p14="http://schemas.microsoft.com/office/powerpoint/2010/main" val="8545524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D447EBC-789C-4A50-BFC1-BC801974FF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1740"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Parquet 数据结构：第 0 行不是样本</a:t>
            </a:r>
          </a:p>
        </p:txBody>
      </p:sp>
      <p:sp>
        <p:nvSpPr>
          <p:cNvPr id="5" name="schema-seg-0">
            <a:extLst xmlns:a="http://schemas.openxmlformats.org/drawingml/2006/main">
              <a:ext uri="{FF2B5EF4-FFF2-40B4-BE49-F238E27FC236}">
                <a16:creationId xmlns:a16="http://schemas.microsoft.com/office/drawing/2014/main" id="{608F9D31-4E65-4187-A626-19C25418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4810125" cy="933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D9DB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离子峰 579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349–353 nm</a:t>
            </a:r>
          </a:p>
        </p:txBody>
      </p:sp>
      <p:sp>
        <p:nvSpPr>
          <p:cNvPr id="6" name="schema-seg-1">
            <a:extLst xmlns:a="http://schemas.openxmlformats.org/drawingml/2006/main">
              <a:ext uri="{FF2B5EF4-FFF2-40B4-BE49-F238E27FC236}">
                <a16:creationId xmlns:a16="http://schemas.microsoft.com/office/drawing/2014/main" id="{04EB211D-BD47-48C6-B276-678B6B36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571625"/>
            <a:ext cx="2524125" cy="933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BFC2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红移电子峰 304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375–600 nm</a:t>
            </a:r>
          </a:p>
        </p:txBody>
      </p:sp>
      <p:sp>
        <p:nvSpPr>
          <p:cNvPr id="7" name="schema-seg-2">
            <a:extLst xmlns:a="http://schemas.openxmlformats.org/drawingml/2006/main">
              <a:ext uri="{FF2B5EF4-FFF2-40B4-BE49-F238E27FC236}">
                <a16:creationId xmlns:a16="http://schemas.microsoft.com/office/drawing/2014/main" id="{CF7053FA-ADD8-4502-A071-AB382B94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828925" cy="933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969C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蓝移电子峰 341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100–340 nm</a:t>
            </a:r>
          </a:p>
        </p:txBody>
      </p:sp>
      <p:sp>
        <p:nvSpPr>
          <p:cNvPr id="8" name="schema-seg-3">
            <a:extLst xmlns:a="http://schemas.openxmlformats.org/drawingml/2006/main">
              <a:ext uri="{FF2B5EF4-FFF2-40B4-BE49-F238E27FC236}">
                <a16:creationId xmlns:a16="http://schemas.microsoft.com/office/drawing/2014/main" id="{9C5DC0C5-3BA5-4635-9AC3-99F2A67C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71625"/>
            <a:ext cx="523875" cy="933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80</a:t>
            </a:r>
          </a:p>
        </p:txBody>
      </p:sp>
      <p:sp>
        <p:nvSpPr>
          <p:cNvPr id="9" name="schema-seg-4">
            <a:extLst xmlns:a="http://schemas.openxmlformats.org/drawingml/2006/main">
              <a:ext uri="{FF2B5EF4-FFF2-40B4-BE49-F238E27FC236}">
                <a16:creationId xmlns:a16="http://schemas.microsoft.com/office/drawing/2014/main" id="{CDEC84EB-24D3-4F71-990A-F86405ED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571625"/>
            <a:ext cx="523875" cy="933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F1118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Im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80</a:t>
            </a:r>
          </a:p>
        </p:txBody>
      </p:sp>
      <p:sp>
        <p:nvSpPr>
          <p:cNvPr id="10" name="schema-input-label">
            <a:extLst xmlns:a="http://schemas.openxmlformats.org/drawingml/2006/main">
              <a:ext uri="{FF2B5EF4-FFF2-40B4-BE49-F238E27FC236}">
                <a16:creationId xmlns:a16="http://schemas.microsoft.com/office/drawing/2014/main" id="{2BD1CBAC-D696-430C-9067-9586F540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1014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8161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输入 x：1224 维归一化光谱</a:t>
            </a:r>
          </a:p>
        </p:txBody>
      </p:sp>
      <p:sp>
        <p:nvSpPr>
          <p:cNvPr id="11" name="schema-label-label">
            <a:extLst xmlns:a="http://schemas.openxmlformats.org/drawingml/2006/main">
              <a:ext uri="{FF2B5EF4-FFF2-40B4-BE49-F238E27FC236}">
                <a16:creationId xmlns:a16="http://schemas.microsoft.com/office/drawing/2014/main" id="{E6AEABFC-75FD-4786-A51E-2F81038E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23825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C8161E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标签 y：160</a:t>
            </a:r>
          </a:p>
        </p:txBody>
      </p:sp>
      <p:sp>
        <p:nvSpPr>
          <p:cNvPr id="12" name="metadata-row">
            <a:extLst xmlns:a="http://schemas.openxmlformats.org/drawingml/2006/main">
              <a:ext uri="{FF2B5EF4-FFF2-40B4-BE49-F238E27FC236}">
                <a16:creationId xmlns:a16="http://schemas.microsoft.com/office/drawing/2014/main" id="{AE6C8E7D-C8AC-4BD2-A845-22813581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112109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71450" tIns="114300" rIns="152400" bIns="1143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第 0 行（元数据）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前 1224 列存 wavelength grid（nm）；后 160 列存 K grid，并为 Re/Im 各重复一次。</a:t>
            </a:r>
          </a:p>
        </p:txBody>
      </p:sp>
      <p:sp>
        <p:nvSpPr>
          <p:cNvPr id="13" name="physical-rows">
            <a:extLst xmlns:a="http://schemas.openxmlformats.org/drawingml/2006/main">
              <a:ext uri="{FF2B5EF4-FFF2-40B4-BE49-F238E27FC236}">
                <a16:creationId xmlns:a16="http://schemas.microsoft.com/office/drawing/2014/main" id="{EB4B97F3-A36D-4734-AF07-17DCFB40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12109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4B4B7"/>
            </a:solidFill>
            <a:prstDash val="solid"/>
          </a:ln>
        </p:spPr>
        <p:txBody>
          <a:bodyPr xmlns:a="http://schemas.openxmlformats.org/drawingml/2006/main" lIns="171450" tIns="114300" rIns="152400" bIns="1143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第 1 行起（物理样本）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readData_dataset 默认 i_s=1 以跳过元数据；返回 xs:[N,1224] 与 ys:[N,160] 的 float32 Tensor。</a:t>
            </a:r>
          </a:p>
        </p:txBody>
      </p:sp>
      <p:sp>
        <p:nvSpPr>
          <p:cNvPr id="14" name="slice-warning">
            <a:extLst xmlns:a="http://schemas.openxmlformats.org/drawingml/2006/main">
              <a:ext uri="{FF2B5EF4-FFF2-40B4-BE49-F238E27FC236}">
                <a16:creationId xmlns:a16="http://schemas.microsoft.com/office/drawing/2014/main" id="{6C271A67-F909-4B07-ACDD-99559E83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21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C8161E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注意：默认 i_e=-1 会按 pandas 切片语义漏掉物理文件的最后一行。</a:t>
            </a:r>
          </a:p>
        </p:txBody>
      </p:sp>
    </p:spTree>
    <p:extLst>
      <p:ext uri="{BB962C8B-B14F-4D97-AF65-F5344CB8AC3E}">
        <p14:creationId xmlns:p14="http://schemas.microsoft.com/office/powerpoint/2010/main" val="11229837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54888276-7909-444F-B088-4AF6672B52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39862" y="1355320"/>
            <a:ext cx="8796337" cy="10608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ots_fourier：从任意 EVDF 到 OTS 光谱</a:t>
            </a:r>
          </a:p>
        </p:txBody>
      </p:sp>
      <p:sp>
        <p:nvSpPr>
          <p:cNvPr id="4" name="ïṥļiḋe">
            <a:extLst xmlns:a="http://schemas.openxmlformats.org/drawingml/2006/main">
              <a:ext uri="{FF2B5EF4-FFF2-40B4-BE49-F238E27FC236}">
                <a16:creationId xmlns:a16="http://schemas.microsoft.com/office/drawing/2014/main" id="{0C8CDE40-D895-4487-9D5E-A64D964D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27" y="1885747"/>
            <a:ext cx="2683748" cy="5386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34400" b="1">
                <a:solidFill>
                  <a:schemeClr val="tx2">
                    <a:lumMod val="20000"/>
                    <a:lumOff val="80000"/>
                  </a:scheme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511622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任意多边形: 形状 74">
            <a:extLst xmlns:a="http://schemas.openxmlformats.org/drawingml/2006/main">
              <a:ext uri="{FF2B5EF4-FFF2-40B4-BE49-F238E27FC236}">
                <a16:creationId xmlns:a16="http://schemas.microsoft.com/office/drawing/2014/main" id="{5029B1B1-E344-4C12-97F3-AB14960F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266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任意多边形: 形状 72">
            <a:extLst xmlns:a="http://schemas.openxmlformats.org/drawingml/2006/main">
              <a:ext uri="{FF2B5EF4-FFF2-40B4-BE49-F238E27FC236}">
                <a16:creationId xmlns:a16="http://schemas.microsoft.com/office/drawing/2014/main" id="{5ECBC238-8F5A-42A7-9070-BA434D0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442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任意多边形: 形状 73">
            <a:extLst xmlns:a="http://schemas.openxmlformats.org/drawingml/2006/main">
              <a:ext uri="{FF2B5EF4-FFF2-40B4-BE49-F238E27FC236}">
                <a16:creationId xmlns:a16="http://schemas.microsoft.com/office/drawing/2014/main" id="{CF559889-C763-46F9-9338-96E90F43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1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0C0F67A6-3DFF-4EC9-BD71-812C5C14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427F8C1C-754B-47AE-9C5A-4B629786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37CA70BC-EC70-4D1F-9790-22E5B49F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rgbClr val="C8161E"/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B168DC4E-D722-4A91-8271-F71C7ABC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8C09E93A-CF3A-4A31-98BF-3C5570AB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8C577F2E-4E82-4594-A4C8-32C717C0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2C47CAAB-CF7D-4A1C-B077-76796EA7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 u="sng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2F254761-769E-4B13-B231-F6DF36DE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6055234B-6ED2-4179-9A54-D6C602AE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2206625"/>
            <a:ext cx="256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集体参数 α</a:t>
            </a: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75C2526E-3270-4289-87B8-CA522DB9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2206625"/>
            <a:ext cx="256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谱密度 S(k,ω)</a:t>
            </a: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D47167F8-4D20-451D-92AE-AFD0F820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206625"/>
            <a:ext cx="256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介电响应 ε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DD2BFB7A-C26E-4E8E-ACB4-0235E600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06625"/>
            <a:ext cx="256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散射功率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4EE21B08-E7F9-41BE-BF9B-EED7D004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3005282"/>
            <a:ext cx="2565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α≡1/(kλDe)。α≪1 时电子近似独立，谱形直接映射 EVDF；α≳1 时屏蔽相关和集体模显著。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EC2791EF-CF98-4F92-94EC-AF70745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3005282"/>
            <a:ext cx="2565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S(k,ω) 是电子密度涨落 |nₑ(k,ω)|² 的归一化统计量，是“微观速度分布→可测光谱”的桥梁。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B07BD88C-7348-4C63-BBC4-F6E26100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005282"/>
            <a:ext cx="2565400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ε=1+χₑ+Σχᵢ。χₑ 来自任意 EVDF 的速度积分；离子在本代码中保持 Maxwellian。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46B0803E-4DDE-4008-8886-971F9E8D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05282"/>
            <a:ext cx="25654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Pₛ∝(1+2Δω/ω₀)·S(k,ω)，并带极化、几何、密度与经典电子半径等绝对因子。</a:t>
            </a:r>
          </a:p>
        </p:txBody>
      </p:sp>
      <p:sp>
        <p:nvSpPr>
          <p:cNvPr id="76" name="citation-12">
            <a:extLst xmlns:a="http://schemas.openxmlformats.org/drawingml/2006/main">
              <a:ext uri="{FF2B5EF4-FFF2-40B4-BE49-F238E27FC236}">
                <a16:creationId xmlns:a16="http://schemas.microsoft.com/office/drawing/2014/main" id="{7600E4C1-A0ED-477D-8A97-77D5205E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777777"/>
                </a:solidFill>
                <a:latin typeface="Segoe UI"/>
                <a:ea typeface="Segoe UI"/>
                <a:cs typeface="Segoe UI"/>
              </a:rPr>
              <a:t>理论来源：Sheffield et al. (2011), Ch. 1 §1.8.3；Ch. 2 §2.1–2.3；Ch. 3 §3.3–3.4。</a:t>
            </a:r>
          </a:p>
        </p:txBody>
      </p:sp>
    </p:spTree>
    <p:extLst>
      <p:ext uri="{BB962C8B-B14F-4D97-AF65-F5344CB8AC3E}">
        <p14:creationId xmlns:p14="http://schemas.microsoft.com/office/powerpoint/2010/main" val="138930086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标题 22">
            <a:extLst xmlns:a="http://schemas.openxmlformats.org/drawingml/2006/main">
              <a:ext uri="{FF2B5EF4-FFF2-40B4-BE49-F238E27FC236}">
                <a16:creationId xmlns:a16="http://schemas.microsoft.com/office/drawing/2014/main" id="{68C16814-F2FD-409D-AF2E-07D7A5823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散射几何：代码里的 k_s 实际是散射波矢差的模</a:t>
            </a:r>
          </a:p>
        </p:txBody>
      </p:sp>
      <p:sp>
        <p:nvSpPr>
          <p:cNvPr id="24" name="ki-arrow">
            <a:extLst xmlns:a="http://schemas.openxmlformats.org/drawingml/2006/main">
              <a:ext uri="{FF2B5EF4-FFF2-40B4-BE49-F238E27FC236}">
                <a16:creationId xmlns:a16="http://schemas.microsoft.com/office/drawing/2014/main" id="{A06BCC33-0240-4BA7-A4F4-5E67F447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2952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7620">
            <a:solidFill>
              <a:srgbClr val="44546A"/>
            </a:solidFill>
            <a:prstDash val="solid"/>
          </a:ln>
        </p:spPr>
      </p:sp>
      <p:sp>
        <p:nvSpPr>
          <p:cNvPr id="25" name="ks-arrow">
            <a:extLst xmlns:a="http://schemas.openxmlformats.org/drawingml/2006/main">
              <a:ext uri="{FF2B5EF4-FFF2-40B4-BE49-F238E27FC236}">
                <a16:creationId xmlns:a16="http://schemas.microsoft.com/office/drawing/2014/main" id="{DA5A7F70-DD3C-4A53-8035-45D9920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143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7620">
            <a:solidFill>
              <a:srgbClr val="C8161E"/>
            </a:solidFill>
            <a:prstDash val="solid"/>
          </a:ln>
        </p:spPr>
      </p:sp>
      <p:sp>
        <p:nvSpPr>
          <p:cNvPr id="26" name="kdiff-arrow">
            <a:extLst xmlns:a="http://schemas.openxmlformats.org/drawingml/2006/main">
              <a:ext uri="{FF2B5EF4-FFF2-40B4-BE49-F238E27FC236}">
                <a16:creationId xmlns:a16="http://schemas.microsoft.com/office/drawing/2014/main" id="{E23AABEA-B337-4152-B7EE-9026076A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2383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A3A7"/>
          </a:solidFill>
          <a:ln xmlns:a="http://schemas.openxmlformats.org/drawingml/2006/main" w="7620">
            <a:solidFill>
              <a:srgbClr val="E5A3A7"/>
            </a:solidFill>
            <a:prstDash val="solid"/>
          </a:ln>
        </p:spPr>
      </p:sp>
      <p:sp>
        <p:nvSpPr>
          <p:cNvPr id="27" name="scatter-volume">
            <a:extLst xmlns:a="http://schemas.openxmlformats.org/drawingml/2006/main">
              <a:ext uri="{FF2B5EF4-FFF2-40B4-BE49-F238E27FC236}">
                <a16:creationId xmlns:a16="http://schemas.microsoft.com/office/drawing/2014/main" id="{1D8A648F-BBCC-4DA4-BED9-68A266B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V</a:t>
            </a:r>
          </a:p>
        </p:txBody>
      </p:sp>
      <p:sp>
        <p:nvSpPr>
          <p:cNvPr id="28" name="detector">
            <a:extLst xmlns:a="http://schemas.openxmlformats.org/drawingml/2006/main">
              <a:ext uri="{FF2B5EF4-FFF2-40B4-BE49-F238E27FC236}">
                <a16:creationId xmlns:a16="http://schemas.microsoft.com/office/drawing/2014/main" id="{E7E143EB-C160-4BFA-AE41-8724691B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探测器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方向 ss</a:t>
            </a:r>
          </a:p>
        </p:txBody>
      </p:sp>
      <p:sp>
        <p:nvSpPr>
          <p:cNvPr id="29" name="ki-label">
            <a:extLst xmlns:a="http://schemas.openxmlformats.org/drawingml/2006/main">
              <a:ext uri="{FF2B5EF4-FFF2-40B4-BE49-F238E27FC236}">
                <a16:creationId xmlns:a16="http://schemas.microsoft.com/office/drawing/2014/main" id="{B596938E-1DA0-434F-B057-2451AED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4546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44546A"/>
                </a:solidFill>
                <a:latin typeface="Segoe UI"/>
                <a:ea typeface="Segoe UI"/>
                <a:cs typeface="Segoe UI"/>
              </a:rPr>
              <a:t>入射：k₀ ∥ k_sh</a:t>
            </a:r>
          </a:p>
        </p:txBody>
      </p:sp>
      <p:sp>
        <p:nvSpPr>
          <p:cNvPr id="30" name="ks-label">
            <a:extLst xmlns:a="http://schemas.openxmlformats.org/drawingml/2006/main">
              <a:ext uri="{FF2B5EF4-FFF2-40B4-BE49-F238E27FC236}">
                <a16:creationId xmlns:a16="http://schemas.microsoft.com/office/drawing/2014/main" id="{94D39CAB-C865-47E7-A695-8E0110C1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C8161E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散射光：ω/c · ss</a:t>
            </a:r>
          </a:p>
        </p:txBody>
      </p:sp>
      <p:sp>
        <p:nvSpPr>
          <p:cNvPr id="31" name="kd-label">
            <a:extLst xmlns:a="http://schemas.openxmlformats.org/drawingml/2006/main">
              <a:ext uri="{FF2B5EF4-FFF2-40B4-BE49-F238E27FC236}">
                <a16:creationId xmlns:a16="http://schemas.microsoft.com/office/drawing/2014/main" id="{CADE647B-B253-4011-91A7-57780BD6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95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9F111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9F1118"/>
                </a:solidFill>
                <a:latin typeface="Segoe UI"/>
                <a:ea typeface="Segoe UI"/>
                <a:cs typeface="Segoe UI"/>
              </a:rPr>
              <a:t>代码 k_s = |k₀ − (ω/c)ss|</a:t>
            </a:r>
          </a:p>
        </p:txBody>
      </p:sp>
      <p:sp>
        <p:nvSpPr>
          <p:cNvPr id="32" name="geometry-map">
            <a:extLst xmlns:a="http://schemas.openxmlformats.org/drawingml/2006/main">
              <a:ext uri="{FF2B5EF4-FFF2-40B4-BE49-F238E27FC236}">
                <a16:creationId xmlns:a16="http://schemas.microsoft.com/office/drawing/2014/main" id="{05894428-C4F0-474A-A739-00E72D2C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381250" cy="3810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71450" tIns="152400" rIns="133350" bIns="1333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变量映射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lm_0 → λ₀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lms → λ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omega_0 → ω₀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omega → ω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omega_s → Δω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k_sh → 入射方向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ss → 观察方向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k_s → |k|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v_s → Δω/|k| − u·k̂</a:t>
            </a:r>
          </a:p>
        </p:txBody>
      </p:sp>
      <p:sp>
        <p:nvSpPr>
          <p:cNvPr id="33" name="citation-13">
            <a:extLst xmlns:a="http://schemas.openxmlformats.org/drawingml/2006/main">
              <a:ext uri="{FF2B5EF4-FFF2-40B4-BE49-F238E27FC236}">
                <a16:creationId xmlns:a16="http://schemas.microsoft.com/office/drawing/2014/main" id="{9D69FE54-131D-402F-B953-60656DA0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777777"/>
                </a:solidFill>
                <a:latin typeface="Segoe UI"/>
                <a:ea typeface="Segoe UI"/>
                <a:cs typeface="Segoe UI"/>
              </a:rPr>
              <a:t>Sheffield Ch. 2 Fig. 2.3 与 Eq. (2.3.13–14)：k = k_s − k_i，ω = ω_s − ω_i；代码采用相反差号但最终使用模与一致的频移约定。</a:t>
            </a:r>
          </a:p>
        </p:txBody>
      </p:sp>
    </p:spTree>
    <p:extLst>
      <p:ext uri="{BB962C8B-B14F-4D97-AF65-F5344CB8AC3E}">
        <p14:creationId xmlns:p14="http://schemas.microsoft.com/office/powerpoint/2010/main" val="8748527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直接连接符 2"/>
          <p:cNvCxnSpPr/>
          <p:nvPr/>
        </p:nvCxnSpPr>
        <p:spPr>
          <a:xfrm xmlns:a="http://schemas.openxmlformats.org/drawingml/2006/main">
            <a:off x="955420" y="3666694"/>
            <a:ext cx="10248277" cy="0"/>
          </a:xfrm>
          <a:prstGeom xmlns:a="http://schemas.openxmlformats.org/drawingml/2006/main" prst="line">
            <a:avLst/>
          </a:prstGeom>
          <a:ln xmlns:a="http://schemas.openxmlformats.org/drawingml/2006/main" cap="rnd">
            <a:solidFill>
              <a:schemeClr val="bg1">
                <a:lumMod val="75000"/>
              </a:schemeClr>
            </a:solidFill>
            <a:round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8" name="直接连接符 3"/>
          <p:cNvCxnSpPr/>
          <p:nvPr/>
        </p:nvCxnSpPr>
        <p:spPr>
          <a:xfrm xmlns:a="http://schemas.openxmlformats.org/drawingml/2006/main">
            <a:off x="4334742" y="1296629"/>
            <a:ext cx="0" cy="4740128"/>
          </a:xfrm>
          <a:prstGeom xmlns:a="http://schemas.openxmlformats.org/drawingml/2006/main" prst="line">
            <a:avLst/>
          </a:prstGeom>
          <a:ln xmlns:a="http://schemas.openxmlformats.org/drawingml/2006/main" cap="rnd">
            <a:solidFill>
              <a:schemeClr val="bg1">
                <a:lumMod val="75000"/>
              </a:schemeClr>
            </a:solidFill>
            <a:round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" name="直接连接符 4"/>
          <p:cNvCxnSpPr/>
          <p:nvPr/>
        </p:nvCxnSpPr>
        <p:spPr>
          <a:xfrm xmlns:a="http://schemas.openxmlformats.org/drawingml/2006/main">
            <a:off x="7824374" y="1296629"/>
            <a:ext cx="0" cy="4740128"/>
          </a:xfrm>
          <a:prstGeom xmlns:a="http://schemas.openxmlformats.org/drawingml/2006/main" prst="line">
            <a:avLst/>
          </a:prstGeom>
          <a:ln xmlns:a="http://schemas.openxmlformats.org/drawingml/2006/main" cap="rnd">
            <a:solidFill>
              <a:schemeClr val="bg1">
                <a:lumMod val="75000"/>
              </a:schemeClr>
            </a:solidFill>
            <a:round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iśļíḓé">
            <a:extLst xmlns:a="http://schemas.openxmlformats.org/drawingml/2006/main">
              <a:ext uri="{FF2B5EF4-FFF2-40B4-BE49-F238E27FC236}">
                <a16:creationId xmlns:a16="http://schemas.microsoft.com/office/drawing/2014/main" id="{EEBCF4AC-49A5-4196-8350-AE08C744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444" y="1569383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ïṩľîḓé">
            <a:extLst xmlns:a="http://schemas.openxmlformats.org/drawingml/2006/main">
              <a:ext uri="{FF2B5EF4-FFF2-40B4-BE49-F238E27FC236}">
                <a16:creationId xmlns:a16="http://schemas.microsoft.com/office/drawing/2014/main" id="{23B8DDDD-A3E5-4E14-89AB-8E3242B0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77" y="1569383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îṩľiḑé">
            <a:extLst xmlns:a="http://schemas.openxmlformats.org/drawingml/2006/main">
              <a:ext uri="{FF2B5EF4-FFF2-40B4-BE49-F238E27FC236}">
                <a16:creationId xmlns:a16="http://schemas.microsoft.com/office/drawing/2014/main" id="{9C585546-A1D2-4B32-A31C-24A99674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11" y="1569383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9" name="îṩľiďé">
            <a:extLst xmlns:a="http://schemas.openxmlformats.org/drawingml/2006/main">
              <a:ext uri="{FF2B5EF4-FFF2-40B4-BE49-F238E27FC236}">
                <a16:creationId xmlns:a16="http://schemas.microsoft.com/office/drawing/2014/main" id="{0AE94D66-ED01-4A23-91CC-C475A201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444" y="3941899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0" name="îŝḻîḓê">
            <a:extLst xmlns:a="http://schemas.openxmlformats.org/drawingml/2006/main">
              <a:ext uri="{FF2B5EF4-FFF2-40B4-BE49-F238E27FC236}">
                <a16:creationId xmlns:a16="http://schemas.microsoft.com/office/drawing/2014/main" id="{AD243656-736D-4574-A900-66464C7A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77" y="3941899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1" name="iṣļïḑe">
            <a:extLst xmlns:a="http://schemas.openxmlformats.org/drawingml/2006/main">
              <a:ext uri="{FF2B5EF4-FFF2-40B4-BE49-F238E27FC236}">
                <a16:creationId xmlns:a16="http://schemas.microsoft.com/office/drawing/2014/main" id="{A1371B96-BA84-4E56-AB94-307009A2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11" y="3941899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DD91CD0-E166-41D0-A582-47757173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29" y="2527369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基本尺度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λD、ωp、vte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778D583-AC6B-44C6-A210-7D833BDD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29" y="4897434"/>
            <a:ext cx="2492990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恢复 fₑ(v_s)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Fourier 逆积分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3354D4-C3FE-4B0A-AE2B-FA6748EC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857" y="2527369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散射几何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λ→ω→k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61C22E2-2982-4611-8DCF-D028107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489" y="2527369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相速度映射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v_s=Δω/k−u∥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779D18B-E020-497A-B76E-86172D1D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269" y="4897434"/>
            <a:ext cx="2492990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响应与介电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χₑ、χᵢ、ε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4FA2D08-0AED-4F3F-A030-FD92CB62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700" y="4897434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谱密度与输出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S→P→I</a:t>
            </a:r>
          </a:p>
        </p:txBody>
      </p:sp>
      <p:pic>
        <p:nvPicPr>
          <p:cNvPr id="52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a4392ef12749d9"/>
          <a:srcRect xmlns:a="http://schemas.openxmlformats.org/drawingml/2006/main" l="0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FC877B2-67AF-48AC-8EA3-1045C0B8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000" y="3626732"/>
            <a:ext cx="900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process-title-14">
            <a:extLst xmlns:a="http://schemas.openxmlformats.org/drawingml/2006/main">
              <a:ext uri="{FF2B5EF4-FFF2-40B4-BE49-F238E27FC236}">
                <a16:creationId xmlns:a16="http://schemas.microsoft.com/office/drawing/2014/main" id="{01D292C6-BB4D-4C51-805D-7ECC50D0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70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C8161E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OTS_spectrum_fft：九段代码可压缩成六个物理步骤</a:t>
            </a:r>
          </a:p>
        </p:txBody>
      </p:sp>
    </p:spTree>
    <p:extLst>
      <p:ext uri="{BB962C8B-B14F-4D97-AF65-F5344CB8AC3E}">
        <p14:creationId xmlns:p14="http://schemas.microsoft.com/office/powerpoint/2010/main" val="58161856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28C86DF2-1652-4864-B894-AD2ACF4EA3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1740"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Fourier 工具函数：谁负责什么</a:t>
            </a:r>
          </a:p>
        </p:txBody>
      </p:sp>
      <p:sp>
        <p:nvSpPr>
          <p:cNvPr id="5" name="ft-head-0">
            <a:extLst xmlns:a="http://schemas.openxmlformats.org/drawingml/2006/main">
              <a:ext uri="{FF2B5EF4-FFF2-40B4-BE49-F238E27FC236}">
                <a16:creationId xmlns:a16="http://schemas.microsoft.com/office/drawing/2014/main" id="{3897BF90-AC2B-4C18-AEBC-44FA7B34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43000"/>
            <a:ext cx="1809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函数</a:t>
            </a:r>
          </a:p>
        </p:txBody>
      </p:sp>
      <p:sp>
        <p:nvSpPr>
          <p:cNvPr id="6" name="ft-head-1">
            <a:extLst xmlns:a="http://schemas.openxmlformats.org/drawingml/2006/main">
              <a:ext uri="{FF2B5EF4-FFF2-40B4-BE49-F238E27FC236}">
                <a16:creationId xmlns:a16="http://schemas.microsoft.com/office/drawing/2014/main" id="{54B5144A-81AC-481B-89D0-67FDDE0E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143000"/>
            <a:ext cx="2571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输入 → 输出</a:t>
            </a:r>
          </a:p>
        </p:txBody>
      </p:sp>
      <p:sp>
        <p:nvSpPr>
          <p:cNvPr id="7" name="ft-head-2">
            <a:extLst xmlns:a="http://schemas.openxmlformats.org/drawingml/2006/main">
              <a:ext uri="{FF2B5EF4-FFF2-40B4-BE49-F238E27FC236}">
                <a16:creationId xmlns:a16="http://schemas.microsoft.com/office/drawing/2014/main" id="{53696599-D262-47E4-B5AC-2F677D5E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43000"/>
            <a:ext cx="3333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核心算法</a:t>
            </a:r>
          </a:p>
        </p:txBody>
      </p:sp>
      <p:sp>
        <p:nvSpPr>
          <p:cNvPr id="8" name="ft-head-3">
            <a:extLst xmlns:a="http://schemas.openxmlformats.org/drawingml/2006/main">
              <a:ext uri="{FF2B5EF4-FFF2-40B4-BE49-F238E27FC236}">
                <a16:creationId xmlns:a16="http://schemas.microsoft.com/office/drawing/2014/main" id="{D039DAD5-698F-4E0B-A85D-8FCC0594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3524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调用位置 / 注意点</a:t>
            </a:r>
          </a:p>
        </p:txBody>
      </p:sp>
      <p:sp>
        <p:nvSpPr>
          <p:cNvPr id="9" name="ft-cell-0-0">
            <a:extLst xmlns:a="http://schemas.openxmlformats.org/drawingml/2006/main">
              <a:ext uri="{FF2B5EF4-FFF2-40B4-BE49-F238E27FC236}">
                <a16:creationId xmlns:a16="http://schemas.microsoft.com/office/drawing/2014/main" id="{6D7ADBEB-E144-4D54-AE81-AB4AACB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809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ft_x</a:t>
            </a:r>
          </a:p>
        </p:txBody>
      </p:sp>
      <p:sp>
        <p:nvSpPr>
          <p:cNvPr id="10" name="ft-cell-0-1">
            <a:extLst xmlns:a="http://schemas.openxmlformats.org/drawingml/2006/main">
              <a:ext uri="{FF2B5EF4-FFF2-40B4-BE49-F238E27FC236}">
                <a16:creationId xmlns:a16="http://schemas.microsoft.com/office/drawing/2014/main" id="{B9D666C3-7FC1-4E7F-BA86-6AA36991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0200"/>
            <a:ext cx="2571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(v,f) → (K,F)</a:t>
            </a:r>
          </a:p>
        </p:txBody>
      </p:sp>
      <p:sp>
        <p:nvSpPr>
          <p:cNvPr id="11" name="ft-cell-0-2">
            <a:extLst xmlns:a="http://schemas.openxmlformats.org/drawingml/2006/main">
              <a:ext uri="{FF2B5EF4-FFF2-40B4-BE49-F238E27FC236}">
                <a16:creationId xmlns:a16="http://schemas.microsoft.com/office/drawing/2014/main" id="{DE9AEF11-3236-4592-B2EA-14F2FBBD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0200"/>
            <a:ext cx="3333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全 K 网格逐点梯形积分</a:t>
            </a:r>
          </a:p>
        </p:txBody>
      </p:sp>
      <p:sp>
        <p:nvSpPr>
          <p:cNvPr id="12" name="ft-cell-0-3">
            <a:extLst xmlns:a="http://schemas.openxmlformats.org/drawingml/2006/main">
              <a:ext uri="{FF2B5EF4-FFF2-40B4-BE49-F238E27FC236}">
                <a16:creationId xmlns:a16="http://schemas.microsoft.com/office/drawing/2014/main" id="{C2648070-789B-462F-800C-B403EC8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35242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调试用完整变换</a:t>
            </a:r>
          </a:p>
        </p:txBody>
      </p:sp>
      <p:sp>
        <p:nvSpPr>
          <p:cNvPr id="13" name="ft-cell-1-0">
            <a:extLst xmlns:a="http://schemas.openxmlformats.org/drawingml/2006/main">
              <a:ext uri="{FF2B5EF4-FFF2-40B4-BE49-F238E27FC236}">
                <a16:creationId xmlns:a16="http://schemas.microsoft.com/office/drawing/2014/main" id="{C161CFE4-8B92-4ED9-9114-82F44B79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1809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ft_x_n</a:t>
            </a:r>
          </a:p>
        </p:txBody>
      </p:sp>
      <p:sp>
        <p:nvSpPr>
          <p:cNvPr id="14" name="ft-cell-1-1">
            <a:extLst xmlns:a="http://schemas.openxmlformats.org/drawingml/2006/main">
              <a:ext uri="{FF2B5EF4-FFF2-40B4-BE49-F238E27FC236}">
                <a16:creationId xmlns:a16="http://schemas.microsoft.com/office/drawing/2014/main" id="{2C4622D2-2C41-43F7-87FE-33EDC1AE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38375"/>
            <a:ext cx="2571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(v,f,n) → n 模式</a:t>
            </a:r>
          </a:p>
        </p:txBody>
      </p:sp>
      <p:sp>
        <p:nvSpPr>
          <p:cNvPr id="15" name="ft-cell-1-2">
            <a:extLst xmlns:a="http://schemas.openxmlformats.org/drawingml/2006/main">
              <a:ext uri="{FF2B5EF4-FFF2-40B4-BE49-F238E27FC236}">
                <a16:creationId xmlns:a16="http://schemas.microsoft.com/office/drawing/2014/main" id="{27CE703A-E9CE-42FD-936B-B7A7FF78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3333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围绕 K=0 重算有限带宽</a:t>
            </a:r>
          </a:p>
        </p:txBody>
      </p:sp>
      <p:sp>
        <p:nvSpPr>
          <p:cNvPr id="16" name="ft-cell-1-3">
            <a:extLst xmlns:a="http://schemas.openxmlformats.org/drawingml/2006/main">
              <a:ext uri="{FF2B5EF4-FFF2-40B4-BE49-F238E27FC236}">
                <a16:creationId xmlns:a16="http://schemas.microsoft.com/office/drawing/2014/main" id="{EF16D28A-6B55-4C49-BEA4-B6942AC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5242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训练标签；n=80</a:t>
            </a:r>
          </a:p>
        </p:txBody>
      </p:sp>
      <p:sp>
        <p:nvSpPr>
          <p:cNvPr id="17" name="ft-cell-2-0">
            <a:extLst xmlns:a="http://schemas.openxmlformats.org/drawingml/2006/main">
              <a:ext uri="{FF2B5EF4-FFF2-40B4-BE49-F238E27FC236}">
                <a16:creationId xmlns:a16="http://schemas.microsoft.com/office/drawing/2014/main" id="{AC19A414-DD51-447E-86C9-FCA7E46C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76550"/>
            <a:ext cx="1809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ift_k</a:t>
            </a:r>
          </a:p>
        </p:txBody>
      </p:sp>
      <p:sp>
        <p:nvSpPr>
          <p:cNvPr id="18" name="ft-cell-2-1">
            <a:extLst xmlns:a="http://schemas.openxmlformats.org/drawingml/2006/main">
              <a:ext uri="{FF2B5EF4-FFF2-40B4-BE49-F238E27FC236}">
                <a16:creationId xmlns:a16="http://schemas.microsoft.com/office/drawing/2014/main" id="{271E85D7-784D-47A3-BE73-34198351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2571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(K,F) → 自动 v 网格</a:t>
            </a:r>
          </a:p>
        </p:txBody>
      </p:sp>
      <p:sp>
        <p:nvSpPr>
          <p:cNvPr id="19" name="ft-cell-2-2">
            <a:extLst xmlns:a="http://schemas.openxmlformats.org/drawingml/2006/main">
              <a:ext uri="{FF2B5EF4-FFF2-40B4-BE49-F238E27FC236}">
                <a16:creationId xmlns:a16="http://schemas.microsoft.com/office/drawing/2014/main" id="{75E364A0-0901-42C3-80F3-96EE17F1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76550"/>
            <a:ext cx="3333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逆 Fourier 梯形积分</a:t>
            </a:r>
          </a:p>
        </p:txBody>
      </p:sp>
      <p:sp>
        <p:nvSpPr>
          <p:cNvPr id="20" name="ft-cell-2-3">
            <a:extLst xmlns:a="http://schemas.openxmlformats.org/drawingml/2006/main">
              <a:ext uri="{FF2B5EF4-FFF2-40B4-BE49-F238E27FC236}">
                <a16:creationId xmlns:a16="http://schemas.microsoft.com/office/drawing/2014/main" id="{17E7CEE5-F4B7-4446-8991-B4EC0868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5242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评估时恢复 EVDF</a:t>
            </a:r>
          </a:p>
        </p:txBody>
      </p:sp>
      <p:sp>
        <p:nvSpPr>
          <p:cNvPr id="21" name="ft-cell-3-0">
            <a:extLst xmlns:a="http://schemas.openxmlformats.org/drawingml/2006/main">
              <a:ext uri="{FF2B5EF4-FFF2-40B4-BE49-F238E27FC236}">
                <a16:creationId xmlns:a16="http://schemas.microsoft.com/office/drawing/2014/main" id="{79B45A6C-6368-44BC-9BF1-C09DE6C1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14725"/>
            <a:ext cx="1809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ift_k_x</a:t>
            </a:r>
          </a:p>
        </p:txBody>
      </p:sp>
      <p:sp>
        <p:nvSpPr>
          <p:cNvPr id="22" name="ft-cell-3-1">
            <a:extLst xmlns:a="http://schemas.openxmlformats.org/drawingml/2006/main">
              <a:ext uri="{FF2B5EF4-FFF2-40B4-BE49-F238E27FC236}">
                <a16:creationId xmlns:a16="http://schemas.microsoft.com/office/drawing/2014/main" id="{F8182102-029A-4A25-A144-33D0275B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14725"/>
            <a:ext cx="2571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(K,F,v) → 指定 v</a:t>
            </a:r>
          </a:p>
        </p:txBody>
      </p:sp>
      <p:sp>
        <p:nvSpPr>
          <p:cNvPr id="23" name="ft-cell-3-2">
            <a:extLst xmlns:a="http://schemas.openxmlformats.org/drawingml/2006/main">
              <a:ext uri="{FF2B5EF4-FFF2-40B4-BE49-F238E27FC236}">
                <a16:creationId xmlns:a16="http://schemas.microsoft.com/office/drawing/2014/main" id="{8588801C-CEF3-49AD-9BF5-1157C21F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14725"/>
            <a:ext cx="3333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在给定速度点上逆积分</a:t>
            </a:r>
          </a:p>
        </p:txBody>
      </p:sp>
      <p:sp>
        <p:nvSpPr>
          <p:cNvPr id="24" name="ft-cell-3-3">
            <a:extLst xmlns:a="http://schemas.openxmlformats.org/drawingml/2006/main">
              <a:ext uri="{FF2B5EF4-FFF2-40B4-BE49-F238E27FC236}">
                <a16:creationId xmlns:a16="http://schemas.microsoft.com/office/drawing/2014/main" id="{DB735516-6882-47CB-AE30-A6019B81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14725"/>
            <a:ext cx="35242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检查低通重建</a:t>
            </a:r>
          </a:p>
        </p:txBody>
      </p:sp>
      <p:sp>
        <p:nvSpPr>
          <p:cNvPr id="25" name="ft-cell-4-0">
            <a:extLst xmlns:a="http://schemas.openxmlformats.org/drawingml/2006/main">
              <a:ext uri="{FF2B5EF4-FFF2-40B4-BE49-F238E27FC236}">
                <a16:creationId xmlns:a16="http://schemas.microsoft.com/office/drawing/2014/main" id="{B1A9029A-135B-4F1A-886E-C6EDBF2E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52900"/>
            <a:ext cx="1809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w_ft</a:t>
            </a:r>
          </a:p>
        </p:txBody>
      </p:sp>
      <p:sp>
        <p:nvSpPr>
          <p:cNvPr id="26" name="ft-cell-4-1">
            <a:extLst xmlns:a="http://schemas.openxmlformats.org/drawingml/2006/main">
              <a:ext uri="{FF2B5EF4-FFF2-40B4-BE49-F238E27FC236}">
                <a16:creationId xmlns:a16="http://schemas.microsoft.com/office/drawing/2014/main" id="{E4256438-F4AF-4B5E-A1DF-A87CE8A4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2571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(v_s,K,F) → 响应核</a:t>
            </a:r>
          </a:p>
        </p:txBody>
      </p:sp>
      <p:sp>
        <p:nvSpPr>
          <p:cNvPr id="27" name="ft-cell-4-2">
            <a:extLst xmlns:a="http://schemas.openxmlformats.org/drawingml/2006/main">
              <a:ext uri="{FF2B5EF4-FFF2-40B4-BE49-F238E27FC236}">
                <a16:creationId xmlns:a16="http://schemas.microsoft.com/office/drawing/2014/main" id="{2F52CCE8-DFDC-4955-9627-91012B0B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3333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仅积 K&gt;0：K·F·e^{iKv}</a:t>
            </a:r>
          </a:p>
        </p:txBody>
      </p:sp>
      <p:sp>
        <p:nvSpPr>
          <p:cNvPr id="28" name="ft-cell-4-3">
            <a:extLst xmlns:a="http://schemas.openxmlformats.org/drawingml/2006/main">
              <a:ext uri="{FF2B5EF4-FFF2-40B4-BE49-F238E27FC236}">
                <a16:creationId xmlns:a16="http://schemas.microsoft.com/office/drawing/2014/main" id="{CA0EECEF-4EE7-4F97-9795-CE9E277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35242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构造 χₑ 的关键函数</a:t>
            </a:r>
          </a:p>
        </p:txBody>
      </p:sp>
      <p:sp>
        <p:nvSpPr>
          <p:cNvPr id="29" name="ft-cell-5-0">
            <a:extLst xmlns:a="http://schemas.openxmlformats.org/drawingml/2006/main">
              <a:ext uri="{FF2B5EF4-FFF2-40B4-BE49-F238E27FC236}">
                <a16:creationId xmlns:a16="http://schemas.microsoft.com/office/drawing/2014/main" id="{34C42A4E-3872-4595-9C3B-8F947864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91075"/>
            <a:ext cx="1809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OTS_spectrum_fft</a:t>
            </a:r>
          </a:p>
        </p:txBody>
      </p:sp>
      <p:sp>
        <p:nvSpPr>
          <p:cNvPr id="30" name="ft-cell-5-1">
            <a:extLst xmlns:a="http://schemas.openxmlformats.org/drawingml/2006/main">
              <a:ext uri="{FF2B5EF4-FFF2-40B4-BE49-F238E27FC236}">
                <a16:creationId xmlns:a16="http://schemas.microsoft.com/office/drawing/2014/main" id="{5BCC655E-3D7C-4878-AF8F-82B6856F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91075"/>
            <a:ext cx="2571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λ 与等离子体参数 → I</a:t>
            </a:r>
          </a:p>
        </p:txBody>
      </p:sp>
      <p:sp>
        <p:nvSpPr>
          <p:cNvPr id="31" name="ft-cell-5-2">
            <a:extLst xmlns:a="http://schemas.openxmlformats.org/drawingml/2006/main">
              <a:ext uri="{FF2B5EF4-FFF2-40B4-BE49-F238E27FC236}">
                <a16:creationId xmlns:a16="http://schemas.microsoft.com/office/drawing/2014/main" id="{2FE4F429-7703-4FB3-AB4D-535419C6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91075"/>
            <a:ext cx="33337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几何→响应→S→归一化</a:t>
            </a:r>
          </a:p>
        </p:txBody>
      </p:sp>
      <p:sp>
        <p:nvSpPr>
          <p:cNvPr id="32" name="ft-cell-5-3">
            <a:extLst xmlns:a="http://schemas.openxmlformats.org/drawingml/2006/main">
              <a:ext uri="{FF2B5EF4-FFF2-40B4-BE49-F238E27FC236}">
                <a16:creationId xmlns:a16="http://schemas.microsoft.com/office/drawing/2014/main" id="{D3EA7FA0-35D8-4355-B6BF-35D885D7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91075"/>
            <a:ext cx="3524250" cy="6381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数据集正向模型</a:t>
            </a:r>
          </a:p>
        </p:txBody>
      </p:sp>
    </p:spTree>
    <p:extLst>
      <p:ext uri="{BB962C8B-B14F-4D97-AF65-F5344CB8AC3E}">
        <p14:creationId xmlns:p14="http://schemas.microsoft.com/office/powerpoint/2010/main" val="15128109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A8025B6A-9871-4379-ABF0-4A506F2BAA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步骤 1–2：基本尺度与波矢</a:t>
            </a:r>
          </a:p>
        </p:txBody>
      </p:sp>
      <p:sp>
        <p:nvSpPr>
          <p:cNvPr id="5" name="scale-left">
            <a:extLst xmlns:a="http://schemas.openxmlformats.org/drawingml/2006/main">
              <a:ext uri="{FF2B5EF4-FFF2-40B4-BE49-F238E27FC236}">
                <a16:creationId xmlns:a16="http://schemas.microsoft.com/office/drawing/2014/main" id="{99F253C4-A41C-4556-81AA-89D33A73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191125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scale-equations">
            <a:extLst xmlns:a="http://schemas.openxmlformats.org/drawingml/2006/main">
              <a:ext uri="{FF2B5EF4-FFF2-40B4-BE49-F238E27FC236}">
                <a16:creationId xmlns:a16="http://schemas.microsoft.com/office/drawing/2014/main" id="{2D569A8A-47B8-4D49-AFA8-147D62A6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7148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Debye 长度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λD = √(ε₀kBTₑ / nₑe²)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电子等离子体频率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ωp = √(nₑe² / mₑε₀)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热速度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vte = √(kBTₑ/mₑ),  vti = √(kBTᵢ/mᵢ)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入射波矢（冷等离子体修正）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k₀ = √(ω₀²−ωp²)/c · k_sh</a:t>
            </a:r>
          </a:p>
        </p:txBody>
      </p:sp>
      <p:sp>
        <p:nvSpPr>
          <p:cNvPr id="7" name="scale-right">
            <a:extLst xmlns:a="http://schemas.openxmlformats.org/drawingml/2006/main">
              <a:ext uri="{FF2B5EF4-FFF2-40B4-BE49-F238E27FC236}">
                <a16:creationId xmlns:a16="http://schemas.microsoft.com/office/drawing/2014/main" id="{B3B2E873-46FB-4527-883A-B8189B59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476875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4B4B7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scale-code">
            <a:extLst xmlns:a="http://schemas.openxmlformats.org/drawingml/2006/main">
              <a:ext uri="{FF2B5EF4-FFF2-40B4-BE49-F238E27FC236}">
                <a16:creationId xmlns:a16="http://schemas.microsoft.com/office/drawing/2014/main" id="{882084AE-3F58-455E-B50E-24FDB811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每个测量波长 λ：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ω = 2πc/λ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k⃗ = k⃗₀ − (ω/c)·ss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k = √(kx²+ky²+kz²)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Δω = ω−ω₀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随后用 k 与 Δω 把“光谱横轴”换成沿散射波矢方向的速度坐标。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实现观察：r_e 与 V 虽被计算/传入，但最终返回的是归一化谱形，绝对功率因子没有进入输出。</a:t>
            </a:r>
          </a:p>
        </p:txBody>
      </p:sp>
      <p:sp>
        <p:nvSpPr>
          <p:cNvPr id="9" name="citation-16">
            <a:extLst xmlns:a="http://schemas.openxmlformats.org/drawingml/2006/main">
              <a:ext uri="{FF2B5EF4-FFF2-40B4-BE49-F238E27FC236}">
                <a16:creationId xmlns:a16="http://schemas.microsoft.com/office/drawing/2014/main" id="{EAE380BC-A29E-45DB-8179-D86689A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777777"/>
                </a:solidFill>
                <a:latin typeface="Segoe UI"/>
                <a:ea typeface="Segoe UI"/>
                <a:cs typeface="Segoe UI"/>
              </a:rPr>
              <a:t>代码：ots_fourier.py OTS_spectrum_fft 第 1–4 步；Sheffield Ch. 1 §1.4–1.5、Ch. 2 §2.3。</a:t>
            </a:r>
          </a:p>
        </p:txBody>
      </p:sp>
    </p:spTree>
    <p:extLst>
      <p:ext uri="{BB962C8B-B14F-4D97-AF65-F5344CB8AC3E}">
        <p14:creationId xmlns:p14="http://schemas.microsoft.com/office/powerpoint/2010/main" val="7188499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A70D7DF3-49D5-4668-B038-E04A7EDB4C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步骤 3–5：波长点如何读取电子分布</a:t>
            </a:r>
          </a:p>
        </p:txBody>
      </p:sp>
      <p:sp>
        <p:nvSpPr>
          <p:cNvPr id="5" name="electron-arrow-0">
            <a:extLst xmlns:a="http://schemas.openxmlformats.org/drawingml/2006/main">
              <a:ext uri="{FF2B5EF4-FFF2-40B4-BE49-F238E27FC236}">
                <a16:creationId xmlns:a16="http://schemas.microsoft.com/office/drawing/2014/main" id="{7C3E06D9-1D05-4460-9817-3CDDFBEE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955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6" name="electron-arrow-1">
            <a:extLst xmlns:a="http://schemas.openxmlformats.org/drawingml/2006/main">
              <a:ext uri="{FF2B5EF4-FFF2-40B4-BE49-F238E27FC236}">
                <a16:creationId xmlns:a16="http://schemas.microsoft.com/office/drawing/2014/main" id="{41C62D2F-C450-4680-AC78-6A9F03FC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955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7" name="electron-arrow-2">
            <a:extLst xmlns:a="http://schemas.openxmlformats.org/drawingml/2006/main">
              <a:ext uri="{FF2B5EF4-FFF2-40B4-BE49-F238E27FC236}">
                <a16:creationId xmlns:a16="http://schemas.microsoft.com/office/drawing/2014/main" id="{254B588F-5513-4C50-B50E-B2ACFF35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8" name="electron-arrow-3">
            <a:extLst xmlns:a="http://schemas.openxmlformats.org/drawingml/2006/main">
              <a:ext uri="{FF2B5EF4-FFF2-40B4-BE49-F238E27FC236}">
                <a16:creationId xmlns:a16="http://schemas.microsoft.com/office/drawing/2014/main" id="{F6BB6DBC-7F16-4A69-8F47-4AE069B0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9" name="electron-node-0">
            <a:extLst xmlns:a="http://schemas.openxmlformats.org/drawingml/2006/main">
              <a:ext uri="{FF2B5EF4-FFF2-40B4-BE49-F238E27FC236}">
                <a16:creationId xmlns:a16="http://schemas.microsoft.com/office/drawing/2014/main" id="{42EB2CCE-2E8B-4B16-A7B3-A1F35D58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λ</a:t>
            </a:r>
          </a:p>
        </p:txBody>
      </p:sp>
      <p:sp>
        <p:nvSpPr>
          <p:cNvPr id="10" name="electron-node-1">
            <a:extLst xmlns:a="http://schemas.openxmlformats.org/drawingml/2006/main">
              <a:ext uri="{FF2B5EF4-FFF2-40B4-BE49-F238E27FC236}">
                <a16:creationId xmlns:a16="http://schemas.microsoft.com/office/drawing/2014/main" id="{90C2FF56-8459-403E-A038-8B21E496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ω=2πc/λ</a:t>
            </a:r>
          </a:p>
        </p:txBody>
      </p:sp>
      <p:sp>
        <p:nvSpPr>
          <p:cNvPr id="11" name="electron-node-2">
            <a:extLst xmlns:a="http://schemas.openxmlformats.org/drawingml/2006/main">
              <a:ext uri="{FF2B5EF4-FFF2-40B4-BE49-F238E27FC236}">
                <a16:creationId xmlns:a16="http://schemas.microsoft.com/office/drawing/2014/main" id="{599ED46F-CD4C-4B14-AB99-14304E54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k=|k₀−ωss/c|</a:t>
            </a:r>
          </a:p>
        </p:txBody>
      </p:sp>
      <p:sp>
        <p:nvSpPr>
          <p:cNvPr id="12" name="electron-node-3">
            <a:extLst xmlns:a="http://schemas.openxmlformats.org/drawingml/2006/main">
              <a:ext uri="{FF2B5EF4-FFF2-40B4-BE49-F238E27FC236}">
                <a16:creationId xmlns:a16="http://schemas.microsoft.com/office/drawing/2014/main" id="{DEE6C53C-4EE9-49E6-8A44-ACC3BA5E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097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v_s=Δω/k−uₑ·k̂</a:t>
            </a:r>
          </a:p>
        </p:txBody>
      </p:sp>
      <p:sp>
        <p:nvSpPr>
          <p:cNvPr id="13" name="electron-node-4">
            <a:extLst xmlns:a="http://schemas.openxmlformats.org/drawingml/2006/main">
              <a:ext uri="{FF2B5EF4-FFF2-40B4-BE49-F238E27FC236}">
                <a16:creationId xmlns:a16="http://schemas.microsoft.com/office/drawing/2014/main" id="{961A1E01-292D-4A45-9672-84AF5CFD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38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fₑ(v_s)</a:t>
            </a:r>
          </a:p>
        </p:txBody>
      </p:sp>
      <p:sp>
        <p:nvSpPr>
          <p:cNvPr id="14" name="inverse-formula">
            <a:extLst xmlns:a="http://schemas.openxmlformats.org/drawingml/2006/main">
              <a:ext uri="{FF2B5EF4-FFF2-40B4-BE49-F238E27FC236}">
                <a16:creationId xmlns:a16="http://schemas.microsoft.com/office/drawing/2014/main" id="{C59CA03E-32A9-43EE-9C15-87FDC354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86125"/>
            <a:ext cx="1057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00" b="1">
                <a:solidFill>
                  <a:srgbClr val="9F1118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9F1118"/>
                </a:solidFill>
                <a:latin typeface="Segoe UI"/>
                <a:ea typeface="Segoe UI"/>
                <a:cs typeface="Segoe UI"/>
              </a:rPr>
              <a:t>fₑ(v_s) ≈ Σⱼ Fₑ(Kⱼ) · exp(iKⱼv_s) · ΔK / (2π)</a:t>
            </a:r>
          </a:p>
        </p:txBody>
      </p:sp>
      <p:sp>
        <p:nvSpPr>
          <p:cNvPr id="15" name="inverse-explain">
            <a:extLst xmlns:a="http://schemas.openxmlformats.org/drawingml/2006/main">
              <a:ext uri="{FF2B5EF4-FFF2-40B4-BE49-F238E27FC236}">
                <a16:creationId xmlns:a16="http://schemas.microsoft.com/office/drawing/2014/main" id="{FF71A5BD-7202-4EA9-86C6-F4A85104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这一步并不先重建整条 EVDF；它只在当前光谱波长所对应的 v_s 上求 fₑ(v_s)。因此一次向量化计算即可得到整段电子特征。</a:t>
            </a:r>
          </a:p>
        </p:txBody>
      </p:sp>
      <p:sp>
        <p:nvSpPr>
          <p:cNvPr id="16" name="citation-17">
            <a:extLst xmlns:a="http://schemas.openxmlformats.org/drawingml/2006/main">
              <a:ext uri="{FF2B5EF4-FFF2-40B4-BE49-F238E27FC236}">
                <a16:creationId xmlns:a16="http://schemas.microsoft.com/office/drawing/2014/main" id="{BCF8C507-132A-473C-BFE5-67C60A23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777777"/>
                </a:solidFill>
                <a:latin typeface="Segoe UI"/>
                <a:ea typeface="Segoe UI"/>
                <a:cs typeface="Segoe UI"/>
              </a:rPr>
              <a:t>代码：v_s、f_es；Sheffield Eq. (3.4.3) 中 fₑ(ω/k) 正是电子散射项的速度分布采样。</a:t>
            </a:r>
          </a:p>
        </p:txBody>
      </p:sp>
    </p:spTree>
    <p:extLst>
      <p:ext uri="{BB962C8B-B14F-4D97-AF65-F5344CB8AC3E}">
        <p14:creationId xmlns:p14="http://schemas.microsoft.com/office/powerpoint/2010/main" val="46339605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9DCC5F51-5ED4-4994-BB8E-1890FEDE7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步骤 5：w_ft 怎样把 Fourier 系数变成 χₑ</a:t>
            </a:r>
          </a:p>
        </p:txBody>
      </p:sp>
      <p:sp>
        <p:nvSpPr>
          <p:cNvPr id="5" name="book-chi">
            <a:extLst xmlns:a="http://schemas.openxmlformats.org/drawingml/2006/main">
              <a:ext uri="{FF2B5EF4-FFF2-40B4-BE49-F238E27FC236}">
                <a16:creationId xmlns:a16="http://schemas.microsoft.com/office/drawing/2014/main" id="{74F50EF0-AE3D-40D3-AA5D-E76BF4F7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4000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一般形式（Sheffield Ch.3）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χₑ(k,ω) ∝ (1/k²) ∫ dv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[k·∂fₑ/∂v] / (ω−k·v−i0⁺)</a:t>
            </a:r>
          </a:p>
        </p:txBody>
      </p:sp>
      <p:sp>
        <p:nvSpPr>
          <p:cNvPr id="6" name="chi-transform-arrow">
            <a:extLst xmlns:a="http://schemas.openxmlformats.org/drawingml/2006/main">
              <a:ext uri="{FF2B5EF4-FFF2-40B4-BE49-F238E27FC236}">
                <a16:creationId xmlns:a16="http://schemas.microsoft.com/office/drawing/2014/main" id="{10181048-706B-4FF3-AAE3-CF46B09D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71437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4B7"/>
          </a:solidFill>
          <a:ln xmlns:a="http://schemas.openxmlformats.org/drawingml/2006/main" w="7620">
            <a:solidFill>
              <a:srgbClr val="E4B4B7"/>
            </a:solidFill>
            <a:prstDash val="solid"/>
          </a:ln>
        </p:spPr>
      </p:sp>
      <p:sp>
        <p:nvSpPr>
          <p:cNvPr id="7" name="paper-chi">
            <a:extLst xmlns:a="http://schemas.openxmlformats.org/drawingml/2006/main">
              <a:ext uri="{FF2B5EF4-FFF2-40B4-BE49-F238E27FC236}">
                <a16:creationId xmlns:a16="http://schemas.microsoft.com/office/drawing/2014/main" id="{FE8BB569-6876-40EE-BBC6-D5779208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81125"/>
            <a:ext cx="619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4B4B7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1">
                <a:solidFill>
                  <a:srgbClr val="9F111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9F1118"/>
                </a:solidFill>
                <a:latin typeface="Segoe UI"/>
                <a:ea typeface="Segoe UI"/>
                <a:cs typeface="Segoe UI"/>
              </a:rPr>
              <a:t>Fourier 等价式（OTS paper Eq. 5）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1">
                <a:solidFill>
                  <a:srgbClr val="9F111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9F1118"/>
                </a:solidFill>
                <a:latin typeface="Segoe UI"/>
                <a:ea typeface="Segoe UI"/>
                <a:cs typeface="Segoe UI"/>
              </a:rPr>
              <a:t>χₑ ∝ (1/k²) ∫₀^∞ dK · K Fₑ(K) exp(−iKω/k)</a:t>
            </a:r>
          </a:p>
        </p:txBody>
      </p:sp>
      <p:sp>
        <p:nvSpPr>
          <p:cNvPr id="8" name="wft-code">
            <a:extLst xmlns:a="http://schemas.openxmlformats.org/drawingml/2006/main">
              <a:ext uri="{FF2B5EF4-FFF2-40B4-BE49-F238E27FC236}">
                <a16:creationId xmlns:a16="http://schemas.microsoft.com/office/drawing/2014/main" id="{FAD607FD-5D37-472B-8FB9-C2BCD02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6572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383">
            <a:solidFill>
              <a:srgbClr val="2B2B2B"/>
            </a:solidFill>
            <a:prstDash val="solid"/>
          </a:ln>
        </p:spPr>
        <p:txBody>
          <a:bodyPr xmlns:a="http://schemas.openxmlformats.org/drawingml/2006/main" lIns="171450" tIns="133350" rIns="133350" bIns="1333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w_ft(v_s,K,F_e)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for K_j: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    response += relu(K_j) * F_e[j] * exp(i*K_j*v_s) * dK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response /= 2*sqrt(2)*pi</a:t>
            </a:r>
          </a:p>
        </p:txBody>
      </p:sp>
      <p:sp>
        <p:nvSpPr>
          <p:cNvPr id="9" name="chi-notes">
            <a:extLst xmlns:a="http://schemas.openxmlformats.org/drawingml/2006/main">
              <a:ext uri="{FF2B5EF4-FFF2-40B4-BE49-F238E27FC236}">
                <a16:creationId xmlns:a16="http://schemas.microsoft.com/office/drawing/2014/main" id="{09544B26-96F6-401D-9D3F-D502C31B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40481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  <p:txBody>
          <a:bodyPr xmlns:a="http://schemas.openxmlformats.org/drawingml/2006/main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理解要点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relu(K) 实现 K&gt;0 半轴积分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代码 Fourier 约定为 exp(−iKv)，因此响应核使用 exp(+iKv_s)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w_es 再乘尺度因子，χₑ=(1/kλD)²·w_es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Re/Im 同时保留非对称 EVDF 信息</a:t>
            </a:r>
          </a:p>
        </p:txBody>
      </p:sp>
      <p:sp>
        <p:nvSpPr>
          <p:cNvPr id="10" name="citation-18">
            <a:extLst xmlns:a="http://schemas.openxmlformats.org/drawingml/2006/main">
              <a:ext uri="{FF2B5EF4-FFF2-40B4-BE49-F238E27FC236}">
                <a16:creationId xmlns:a16="http://schemas.microsoft.com/office/drawing/2014/main" id="{602DFD25-E4D8-43B7-B49F-88D67F8D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777777"/>
                </a:solidFill>
                <a:latin typeface="Segoe UI"/>
                <a:ea typeface="Segoe UI"/>
                <a:cs typeface="Segoe UI"/>
              </a:rPr>
              <a:t>来源：Sheffield Eq. (3.3.9–10)、(3.4.3)；OTS_paper.pdf Eq. (3)、Eq. (5)；代码 w_ft。</a:t>
            </a:r>
          </a:p>
        </p:txBody>
      </p:sp>
    </p:spTree>
    <p:extLst>
      <p:ext uri="{BB962C8B-B14F-4D97-AF65-F5344CB8AC3E}">
        <p14:creationId xmlns:p14="http://schemas.microsoft.com/office/powerpoint/2010/main" val="15363601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6DC0038-D20E-4CD2-8EDD-CFACB47DE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步骤 6–9：离子响应、介电函数与最终光谱</a:t>
            </a:r>
          </a:p>
        </p:txBody>
      </p:sp>
      <p:sp>
        <p:nvSpPr>
          <p:cNvPr id="5" name="spectrum-arrow-0">
            <a:extLst xmlns:a="http://schemas.openxmlformats.org/drawingml/2006/main">
              <a:ext uri="{FF2B5EF4-FFF2-40B4-BE49-F238E27FC236}">
                <a16:creationId xmlns:a16="http://schemas.microsoft.com/office/drawing/2014/main" id="{F23D1FA2-4BC3-47BA-B733-3869A253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6" name="spectrum-arrow-1">
            <a:extLst xmlns:a="http://schemas.openxmlformats.org/drawingml/2006/main">
              <a:ext uri="{FF2B5EF4-FFF2-40B4-BE49-F238E27FC236}">
                <a16:creationId xmlns:a16="http://schemas.microsoft.com/office/drawing/2014/main" id="{47CD1069-B163-4AC0-B565-2672155C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7" name="spectrum-arrow-2">
            <a:extLst xmlns:a="http://schemas.openxmlformats.org/drawingml/2006/main">
              <a:ext uri="{FF2B5EF4-FFF2-40B4-BE49-F238E27FC236}">
                <a16:creationId xmlns:a16="http://schemas.microsoft.com/office/drawing/2014/main" id="{63B07744-71DA-42A6-8938-4C875F0E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8" name="spectrum-block-0">
            <a:extLst xmlns:a="http://schemas.openxmlformats.org/drawingml/2006/main">
              <a:ext uri="{FF2B5EF4-FFF2-40B4-BE49-F238E27FC236}">
                <a16:creationId xmlns:a16="http://schemas.microsoft.com/office/drawing/2014/main" id="{87141C14-6DB0-4188-811B-E1067687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428875" cy="252412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52400" tIns="152400" rIns="133350" bIns="1333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离子分布与响应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fᵢ(v)=Gaussian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wᵢ=w_fast(ξᵢ)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χᵢ∝(1/kλD)²·Zᵢ²pᵢ·(Tₑ/Tᵢ)wᵢ</a:t>
            </a:r>
          </a:p>
        </p:txBody>
      </p:sp>
      <p:sp>
        <p:nvSpPr>
          <p:cNvPr id="9" name="spectrum-block-1">
            <a:extLst xmlns:a="http://schemas.openxmlformats.org/drawingml/2006/main">
              <a:ext uri="{FF2B5EF4-FFF2-40B4-BE49-F238E27FC236}">
                <a16:creationId xmlns:a16="http://schemas.microsoft.com/office/drawing/2014/main" id="{539E2FC0-F7B1-4BF0-AEDF-A947C68F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428875" cy="252412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52400" tIns="152400" rIns="133350" bIns="1333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总介电函数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ε = 1 + χₑ + χᵢ₁ + χᵢ₂</a:t>
            </a:r>
          </a:p>
        </p:txBody>
      </p:sp>
      <p:sp>
        <p:nvSpPr>
          <p:cNvPr id="10" name="spectrum-block-2">
            <a:extLst xmlns:a="http://schemas.openxmlformats.org/drawingml/2006/main">
              <a:ext uri="{FF2B5EF4-FFF2-40B4-BE49-F238E27FC236}">
                <a16:creationId xmlns:a16="http://schemas.microsoft.com/office/drawing/2014/main" id="{820ED243-D439-461C-B5A9-BEE55A81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428875" cy="252412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52400" tIns="152400" rIns="133350" bIns="1333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谱密度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S = (2π/k)|1−χₑ/ε|²fₑ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  + (2π/k)|χₑ/ε|²Σ(Zᵢ²pᵢ/Z̄)fᵢ</a:t>
            </a:r>
          </a:p>
        </p:txBody>
      </p:sp>
      <p:sp>
        <p:nvSpPr>
          <p:cNvPr id="11" name="spectrum-block-3">
            <a:extLst xmlns:a="http://schemas.openxmlformats.org/drawingml/2006/main">
              <a:ext uri="{FF2B5EF4-FFF2-40B4-BE49-F238E27FC236}">
                <a16:creationId xmlns:a16="http://schemas.microsoft.com/office/drawing/2014/main" id="{6EE2DA16-FC4E-4348-9971-A4D74B60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428875" cy="252412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C8161E"/>
            </a:solidFill>
            <a:prstDash val="solid"/>
          </a:ln>
        </p:spPr>
        <p:txBody>
          <a:bodyPr xmlns:a="http://schemas.openxmlformats.org/drawingml/2006/main" lIns="152400" tIns="152400" rIns="133350" bIns="1333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归一化输出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 = Re[(1+2Δω/ω₀)S]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 = P / max|P|</a:t>
            </a:r>
          </a:p>
        </p:txBody>
      </p:sp>
      <p:sp>
        <p:nvSpPr>
          <p:cNvPr id="12" name="spectrum-interpret">
            <a:extLst xmlns:a="http://schemas.openxmlformats.org/drawingml/2006/main">
              <a:ext uri="{FF2B5EF4-FFF2-40B4-BE49-F238E27FC236}">
                <a16:creationId xmlns:a16="http://schemas.microsoft.com/office/drawing/2014/main" id="{41FAE6BB-CFE8-454A-B61E-0545130E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电子项同时包含“自由电子”与电子屏蔽修正；离子项通过 |χₑ/ε|² 被电子云“看见”，形成离子特征。三段波长分别调用同一正向模型，并各自归一化。</a:t>
            </a:r>
          </a:p>
        </p:txBody>
      </p:sp>
      <p:sp>
        <p:nvSpPr>
          <p:cNvPr id="13" name="citation-19">
            <a:extLst xmlns:a="http://schemas.openxmlformats.org/drawingml/2006/main">
              <a:ext uri="{FF2B5EF4-FFF2-40B4-BE49-F238E27FC236}">
                <a16:creationId xmlns:a16="http://schemas.microsoft.com/office/drawing/2014/main" id="{093951D7-FF3A-4C58-A22C-CA24B46B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777777"/>
                </a:solidFill>
                <a:latin typeface="Segoe UI"/>
                <a:ea typeface="Segoe UI"/>
                <a:cs typeface="Segoe UI"/>
              </a:rPr>
              <a:t>Sheffield Eq. (3.4.3)；OTS_paper.pdf Eq. (1–2)；代码 chi_e / chi_i1 / chi_i2 / epsilon / S_e / P_s / I。</a:t>
            </a:r>
          </a:p>
        </p:txBody>
      </p:sp>
    </p:spTree>
    <p:extLst>
      <p:ext uri="{BB962C8B-B14F-4D97-AF65-F5344CB8AC3E}">
        <p14:creationId xmlns:p14="http://schemas.microsoft.com/office/powerpoint/2010/main" val="46104952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标题 22">
            <a:extLst xmlns:a="http://schemas.openxmlformats.org/drawingml/2006/main">
              <a:ext uri="{FF2B5EF4-FFF2-40B4-BE49-F238E27FC236}">
                <a16:creationId xmlns:a16="http://schemas.microsoft.com/office/drawing/2014/main" id="{9F27C6EE-845A-4EF9-A8B2-4CF2A53F2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从理论公式到代码变量：逐项对应</a:t>
            </a:r>
          </a:p>
        </p:txBody>
      </p:sp>
      <p:sp>
        <p:nvSpPr>
          <p:cNvPr id="24" name="map-head-0">
            <a:extLst xmlns:a="http://schemas.openxmlformats.org/drawingml/2006/main">
              <a:ext uri="{FF2B5EF4-FFF2-40B4-BE49-F238E27FC236}">
                <a16:creationId xmlns:a16="http://schemas.microsoft.com/office/drawing/2014/main" id="{27715AB5-2767-41A3-A555-041DC54D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85875"/>
            <a:ext cx="2238375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物理对象</a:t>
            </a:r>
          </a:p>
        </p:txBody>
      </p:sp>
      <p:sp>
        <p:nvSpPr>
          <p:cNvPr id="25" name="map-head-1">
            <a:extLst xmlns:a="http://schemas.openxmlformats.org/drawingml/2006/main">
              <a:ext uri="{FF2B5EF4-FFF2-40B4-BE49-F238E27FC236}">
                <a16:creationId xmlns:a16="http://schemas.microsoft.com/office/drawing/2014/main" id="{13122061-AEE9-4528-8657-53A48EFE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285875"/>
            <a:ext cx="3190875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理论表达</a:t>
            </a:r>
          </a:p>
        </p:txBody>
      </p:sp>
      <p:sp>
        <p:nvSpPr>
          <p:cNvPr id="26" name="map-head-2">
            <a:extLst xmlns:a="http://schemas.openxmlformats.org/drawingml/2006/main">
              <a:ext uri="{FF2B5EF4-FFF2-40B4-BE49-F238E27FC236}">
                <a16:creationId xmlns:a16="http://schemas.microsoft.com/office/drawing/2014/main" id="{73B80D05-2F7A-451A-9339-48DFF5E1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85875"/>
            <a:ext cx="314325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代码实现</a:t>
            </a:r>
          </a:p>
        </p:txBody>
      </p:sp>
      <p:sp>
        <p:nvSpPr>
          <p:cNvPr id="27" name="map-head-3">
            <a:extLst xmlns:a="http://schemas.openxmlformats.org/drawingml/2006/main">
              <a:ext uri="{FF2B5EF4-FFF2-40B4-BE49-F238E27FC236}">
                <a16:creationId xmlns:a16="http://schemas.microsoft.com/office/drawing/2014/main" id="{9A38EAE2-F983-411E-962C-8000D4DE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85875"/>
            <a:ext cx="276225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输出含义</a:t>
            </a:r>
          </a:p>
        </p:txBody>
      </p:sp>
      <p:sp>
        <p:nvSpPr>
          <p:cNvPr id="28" name="map-cell-0-0">
            <a:extLst xmlns:a="http://schemas.openxmlformats.org/drawingml/2006/main">
              <a:ext uri="{FF2B5EF4-FFF2-40B4-BE49-F238E27FC236}">
                <a16:creationId xmlns:a16="http://schemas.microsoft.com/office/drawing/2014/main" id="{B7D0CA9A-F9BD-41B2-B0E3-7F4B22D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24025"/>
            <a:ext cx="22383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散射波矢/频移</a:t>
            </a:r>
          </a:p>
        </p:txBody>
      </p:sp>
      <p:sp>
        <p:nvSpPr>
          <p:cNvPr id="29" name="map-cell-0-1">
            <a:extLst xmlns:a="http://schemas.openxmlformats.org/drawingml/2006/main">
              <a:ext uri="{FF2B5EF4-FFF2-40B4-BE49-F238E27FC236}">
                <a16:creationId xmlns:a16="http://schemas.microsoft.com/office/drawing/2014/main" id="{EE9AE9DA-9095-487A-9A5B-8444FA06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24025"/>
            <a:ext cx="31908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k=k_s−k_i；ω=ω_s−ω_i</a:t>
            </a:r>
          </a:p>
        </p:txBody>
      </p:sp>
      <p:sp>
        <p:nvSpPr>
          <p:cNvPr id="30" name="map-cell-0-2">
            <a:extLst xmlns:a="http://schemas.openxmlformats.org/drawingml/2006/main">
              <a:ext uri="{FF2B5EF4-FFF2-40B4-BE49-F238E27FC236}">
                <a16:creationId xmlns:a16="http://schemas.microsoft.com/office/drawing/2014/main" id="{7C977BBF-9865-4EF9-9B7B-526D5650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24025"/>
            <a:ext cx="3143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kx_s,ky_s,kz_s,k_s,omega_s</a:t>
            </a:r>
          </a:p>
        </p:txBody>
      </p:sp>
      <p:sp>
        <p:nvSpPr>
          <p:cNvPr id="31" name="map-cell-0-3">
            <a:extLst xmlns:a="http://schemas.openxmlformats.org/drawingml/2006/main">
              <a:ext uri="{FF2B5EF4-FFF2-40B4-BE49-F238E27FC236}">
                <a16:creationId xmlns:a16="http://schemas.microsoft.com/office/drawing/2014/main" id="{ED5B01ED-4FE9-4A11-B5AE-AA1EBB9E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24025"/>
            <a:ext cx="2762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λ 点 → 相速度</a:t>
            </a:r>
          </a:p>
        </p:txBody>
      </p:sp>
      <p:sp>
        <p:nvSpPr>
          <p:cNvPr id="32" name="map-cell-1-0">
            <a:extLst xmlns:a="http://schemas.openxmlformats.org/drawingml/2006/main">
              <a:ext uri="{FF2B5EF4-FFF2-40B4-BE49-F238E27FC236}">
                <a16:creationId xmlns:a16="http://schemas.microsoft.com/office/drawing/2014/main" id="{46AB35EB-2D9F-41E7-965F-C3516E2B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71725"/>
            <a:ext cx="22383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电子分布采样</a:t>
            </a:r>
          </a:p>
        </p:txBody>
      </p:sp>
      <p:sp>
        <p:nvSpPr>
          <p:cNvPr id="33" name="map-cell-1-1">
            <a:extLst xmlns:a="http://schemas.openxmlformats.org/drawingml/2006/main">
              <a:ext uri="{FF2B5EF4-FFF2-40B4-BE49-F238E27FC236}">
                <a16:creationId xmlns:a16="http://schemas.microsoft.com/office/drawing/2014/main" id="{733662A0-7208-40EA-97CF-F6487860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71725"/>
            <a:ext cx="31908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fₑ(ω/k)</a:t>
            </a:r>
          </a:p>
        </p:txBody>
      </p:sp>
      <p:sp>
        <p:nvSpPr>
          <p:cNvPr id="34" name="map-cell-1-2">
            <a:extLst xmlns:a="http://schemas.openxmlformats.org/drawingml/2006/main">
              <a:ext uri="{FF2B5EF4-FFF2-40B4-BE49-F238E27FC236}">
                <a16:creationId xmlns:a16="http://schemas.microsoft.com/office/drawing/2014/main" id="{CE6883C1-22CA-43D3-9FF3-DC8A76C0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71725"/>
            <a:ext cx="3143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f_es 的 Fourier 逆积分</a:t>
            </a:r>
          </a:p>
        </p:txBody>
      </p:sp>
      <p:sp>
        <p:nvSpPr>
          <p:cNvPr id="35" name="map-cell-1-3">
            <a:extLst xmlns:a="http://schemas.openxmlformats.org/drawingml/2006/main">
              <a:ext uri="{FF2B5EF4-FFF2-40B4-BE49-F238E27FC236}">
                <a16:creationId xmlns:a16="http://schemas.microsoft.com/office/drawing/2014/main" id="{A5EDB208-01DC-485A-A60C-DB197C9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71725"/>
            <a:ext cx="2762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电子特征包络</a:t>
            </a:r>
          </a:p>
        </p:txBody>
      </p:sp>
      <p:sp>
        <p:nvSpPr>
          <p:cNvPr id="36" name="map-cell-2-0">
            <a:extLst xmlns:a="http://schemas.openxmlformats.org/drawingml/2006/main">
              <a:ext uri="{FF2B5EF4-FFF2-40B4-BE49-F238E27FC236}">
                <a16:creationId xmlns:a16="http://schemas.microsoft.com/office/drawing/2014/main" id="{70621196-48ED-412F-BD2A-5E1BD89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19425"/>
            <a:ext cx="22383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电子极化率</a:t>
            </a:r>
          </a:p>
        </p:txBody>
      </p:sp>
      <p:sp>
        <p:nvSpPr>
          <p:cNvPr id="37" name="map-cell-2-1">
            <a:extLst xmlns:a="http://schemas.openxmlformats.org/drawingml/2006/main">
              <a:ext uri="{FF2B5EF4-FFF2-40B4-BE49-F238E27FC236}">
                <a16:creationId xmlns:a16="http://schemas.microsoft.com/office/drawing/2014/main" id="{DDAD78D6-2EEA-4E92-B534-F87D917F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19425"/>
            <a:ext cx="31908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χₑ∝∫(∂f/∂v)/(ω−kv)</a:t>
            </a:r>
          </a:p>
        </p:txBody>
      </p:sp>
      <p:sp>
        <p:nvSpPr>
          <p:cNvPr id="38" name="map-cell-2-2">
            <a:extLst xmlns:a="http://schemas.openxmlformats.org/drawingml/2006/main">
              <a:ext uri="{FF2B5EF4-FFF2-40B4-BE49-F238E27FC236}">
                <a16:creationId xmlns:a16="http://schemas.microsoft.com/office/drawing/2014/main" id="{6383B0A9-1D14-43BF-8223-2E24FD6C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3143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w_ft → w_es → chi_e</a:t>
            </a:r>
          </a:p>
        </p:txBody>
      </p:sp>
      <p:sp>
        <p:nvSpPr>
          <p:cNvPr id="39" name="map-cell-2-3">
            <a:extLst xmlns:a="http://schemas.openxmlformats.org/drawingml/2006/main">
              <a:ext uri="{FF2B5EF4-FFF2-40B4-BE49-F238E27FC236}">
                <a16:creationId xmlns:a16="http://schemas.microsoft.com/office/drawing/2014/main" id="{271FC5C6-46E9-436D-83F4-588C433A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19425"/>
            <a:ext cx="2762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屏蔽与 Landau 响应</a:t>
            </a:r>
          </a:p>
        </p:txBody>
      </p:sp>
      <p:sp>
        <p:nvSpPr>
          <p:cNvPr id="40" name="map-cell-3-0">
            <a:extLst xmlns:a="http://schemas.openxmlformats.org/drawingml/2006/main">
              <a:ext uri="{FF2B5EF4-FFF2-40B4-BE49-F238E27FC236}">
                <a16:creationId xmlns:a16="http://schemas.microsoft.com/office/drawing/2014/main" id="{5428B741-B340-4E3B-AB03-FB75ABE4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22383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离子极化率</a:t>
            </a:r>
          </a:p>
        </p:txBody>
      </p:sp>
      <p:sp>
        <p:nvSpPr>
          <p:cNvPr id="41" name="map-cell-3-1">
            <a:extLst xmlns:a="http://schemas.openxmlformats.org/drawingml/2006/main">
              <a:ext uri="{FF2B5EF4-FFF2-40B4-BE49-F238E27FC236}">
                <a16:creationId xmlns:a16="http://schemas.microsoft.com/office/drawing/2014/main" id="{01749021-66F3-4449-82BB-5F86F0B3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67125"/>
            <a:ext cx="31908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χᵢ：Maxwellian 物种求和</a:t>
            </a:r>
          </a:p>
        </p:txBody>
      </p:sp>
      <p:sp>
        <p:nvSpPr>
          <p:cNvPr id="42" name="map-cell-3-2">
            <a:extLst xmlns:a="http://schemas.openxmlformats.org/drawingml/2006/main">
              <a:ext uri="{FF2B5EF4-FFF2-40B4-BE49-F238E27FC236}">
                <a16:creationId xmlns:a16="http://schemas.microsoft.com/office/drawing/2014/main" id="{08D9DFC8-84B5-4504-8DB7-541D0426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67125"/>
            <a:ext cx="3143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w_fast, chi_i1, chi_i2</a:t>
            </a:r>
          </a:p>
        </p:txBody>
      </p:sp>
      <p:sp>
        <p:nvSpPr>
          <p:cNvPr id="43" name="map-cell-3-3">
            <a:extLst xmlns:a="http://schemas.openxmlformats.org/drawingml/2006/main">
              <a:ext uri="{FF2B5EF4-FFF2-40B4-BE49-F238E27FC236}">
                <a16:creationId xmlns:a16="http://schemas.microsoft.com/office/drawing/2014/main" id="{F24E8A78-CB3D-4F92-A5CE-2ED9A869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67125"/>
            <a:ext cx="2762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离子声特征</a:t>
            </a:r>
          </a:p>
        </p:txBody>
      </p:sp>
      <p:sp>
        <p:nvSpPr>
          <p:cNvPr id="44" name="map-cell-4-0">
            <a:extLst xmlns:a="http://schemas.openxmlformats.org/drawingml/2006/main">
              <a:ext uri="{FF2B5EF4-FFF2-40B4-BE49-F238E27FC236}">
                <a16:creationId xmlns:a16="http://schemas.microsoft.com/office/drawing/2014/main" id="{F86DAC1E-DE08-4C90-BF0E-D9CAD495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14825"/>
            <a:ext cx="22383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介电函数</a:t>
            </a:r>
          </a:p>
        </p:txBody>
      </p:sp>
      <p:sp>
        <p:nvSpPr>
          <p:cNvPr id="45" name="map-cell-4-1">
            <a:extLst xmlns:a="http://schemas.openxmlformats.org/drawingml/2006/main">
              <a:ext uri="{FF2B5EF4-FFF2-40B4-BE49-F238E27FC236}">
                <a16:creationId xmlns:a16="http://schemas.microsoft.com/office/drawing/2014/main" id="{511C353E-9A1B-44DD-BB0F-5B3D21F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14825"/>
            <a:ext cx="31908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ε=1+χₑ+Σχᵢ</a:t>
            </a:r>
          </a:p>
        </p:txBody>
      </p:sp>
      <p:sp>
        <p:nvSpPr>
          <p:cNvPr id="46" name="map-cell-4-2">
            <a:extLst xmlns:a="http://schemas.openxmlformats.org/drawingml/2006/main">
              <a:ext uri="{FF2B5EF4-FFF2-40B4-BE49-F238E27FC236}">
                <a16:creationId xmlns:a16="http://schemas.microsoft.com/office/drawing/2014/main" id="{083A9F45-3155-4F66-8588-4C160801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3143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epsilon</a:t>
            </a:r>
          </a:p>
        </p:txBody>
      </p:sp>
      <p:sp>
        <p:nvSpPr>
          <p:cNvPr id="47" name="map-cell-4-3">
            <a:extLst xmlns:a="http://schemas.openxmlformats.org/drawingml/2006/main">
              <a:ext uri="{FF2B5EF4-FFF2-40B4-BE49-F238E27FC236}">
                <a16:creationId xmlns:a16="http://schemas.microsoft.com/office/drawing/2014/main" id="{F8A2B28B-4404-4BC1-AE6A-096359CD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14825"/>
            <a:ext cx="2762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集体共振分母</a:t>
            </a:r>
          </a:p>
        </p:txBody>
      </p:sp>
      <p:sp>
        <p:nvSpPr>
          <p:cNvPr id="48" name="map-cell-5-0">
            <a:extLst xmlns:a="http://schemas.openxmlformats.org/drawingml/2006/main">
              <a:ext uri="{FF2B5EF4-FFF2-40B4-BE49-F238E27FC236}">
                <a16:creationId xmlns:a16="http://schemas.microsoft.com/office/drawing/2014/main" id="{D0E77952-93AF-43CC-80BF-511D8D2E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62525"/>
            <a:ext cx="22383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谱密度与功率</a:t>
            </a:r>
          </a:p>
        </p:txBody>
      </p:sp>
      <p:sp>
        <p:nvSpPr>
          <p:cNvPr id="49" name="map-cell-5-1">
            <a:extLst xmlns:a="http://schemas.openxmlformats.org/drawingml/2006/main">
              <a:ext uri="{FF2B5EF4-FFF2-40B4-BE49-F238E27FC236}">
                <a16:creationId xmlns:a16="http://schemas.microsoft.com/office/drawing/2014/main" id="{7E73B805-63FF-4A15-A166-13C323A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62525"/>
            <a:ext cx="3190875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S(k,ω)，Pₛ∝(1+2ω/ω₀)S</a:t>
            </a:r>
          </a:p>
        </p:txBody>
      </p:sp>
      <p:sp>
        <p:nvSpPr>
          <p:cNvPr id="50" name="map-cell-5-2">
            <a:extLst xmlns:a="http://schemas.openxmlformats.org/drawingml/2006/main">
              <a:ext uri="{FF2B5EF4-FFF2-40B4-BE49-F238E27FC236}">
                <a16:creationId xmlns:a16="http://schemas.microsoft.com/office/drawing/2014/main" id="{790FDD42-608D-4BAE-9003-FD74637D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62525"/>
            <a:ext cx="3143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S_e → P_s → I</a:t>
            </a:r>
          </a:p>
        </p:txBody>
      </p:sp>
      <p:sp>
        <p:nvSpPr>
          <p:cNvPr id="51" name="map-cell-5-3">
            <a:extLst xmlns:a="http://schemas.openxmlformats.org/drawingml/2006/main">
              <a:ext uri="{FF2B5EF4-FFF2-40B4-BE49-F238E27FC236}">
                <a16:creationId xmlns:a16="http://schemas.microsoft.com/office/drawing/2014/main" id="{06B3C2C1-1617-411F-BD75-9EC80969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62525"/>
            <a:ext cx="27622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66675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归一化训练输入</a:t>
            </a:r>
          </a:p>
        </p:txBody>
      </p:sp>
    </p:spTree>
    <p:extLst>
      <p:ext uri="{BB962C8B-B14F-4D97-AF65-F5344CB8AC3E}">
        <p14:creationId xmlns:p14="http://schemas.microsoft.com/office/powerpoint/2010/main" val="158897055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9DC3B6B9-CA34-4279-B54F-52AAB34C8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39862" y="1355320"/>
            <a:ext cx="8796337" cy="106085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网络训练、推理与工程注意事项</a:t>
            </a:r>
          </a:p>
        </p:txBody>
      </p:sp>
      <p:sp>
        <p:nvSpPr>
          <p:cNvPr id="4" name="ïṥļiḋe">
            <a:extLst xmlns:a="http://schemas.openxmlformats.org/drawingml/2006/main">
              <a:ext uri="{FF2B5EF4-FFF2-40B4-BE49-F238E27FC236}">
                <a16:creationId xmlns:a16="http://schemas.microsoft.com/office/drawing/2014/main" id="{A13B92F5-0029-4E5D-A8DD-99F858A0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27" y="1885747"/>
            <a:ext cx="2683748" cy="5386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34400" b="1">
                <a:solidFill>
                  <a:schemeClr val="tx2">
                    <a:lumMod val="20000"/>
                    <a:lumOff val="80000"/>
                  </a:schemeClr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783048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标题 22">
            <a:extLst xmlns:a="http://schemas.openxmlformats.org/drawingml/2006/main">
              <a:ext uri="{FF2B5EF4-FFF2-40B4-BE49-F238E27FC236}">
                <a16:creationId xmlns:a16="http://schemas.microsoft.com/office/drawing/2014/main" id="{2BF9619E-6603-47AB-92E6-358764C55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ModelOTS：一个大而直接的频谱反演 MLP</a:t>
            </a:r>
          </a:p>
        </p:txBody>
      </p:sp>
      <p:sp>
        <p:nvSpPr>
          <p:cNvPr id="24" name="net-arrow-0">
            <a:extLst xmlns:a="http://schemas.openxmlformats.org/drawingml/2006/main">
              <a:ext uri="{FF2B5EF4-FFF2-40B4-BE49-F238E27FC236}">
                <a16:creationId xmlns:a16="http://schemas.microsoft.com/office/drawing/2014/main" id="{6C6B262E-506F-4BE5-A65C-83EA2B52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09875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25" name="net-arrow-1">
            <a:extLst xmlns:a="http://schemas.openxmlformats.org/drawingml/2006/main">
              <a:ext uri="{FF2B5EF4-FFF2-40B4-BE49-F238E27FC236}">
                <a16:creationId xmlns:a16="http://schemas.microsoft.com/office/drawing/2014/main" id="{C0D329F6-4856-40FA-B500-A99C5599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9875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26" name="net-arrow-2">
            <a:extLst xmlns:a="http://schemas.openxmlformats.org/drawingml/2006/main">
              <a:ext uri="{FF2B5EF4-FFF2-40B4-BE49-F238E27FC236}">
                <a16:creationId xmlns:a16="http://schemas.microsoft.com/office/drawing/2014/main" id="{356F1DB0-5E23-4A1B-8D5B-84D2D60D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9875"/>
            <a:ext cx="571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B3B6"/>
          </a:solidFill>
          <a:ln xmlns:a="http://schemas.openxmlformats.org/drawingml/2006/main" w="7620">
            <a:solidFill>
              <a:srgbClr val="E3B3B6"/>
            </a:solidFill>
            <a:prstDash val="solid"/>
          </a:ln>
        </p:spPr>
      </p:sp>
      <p:sp>
        <p:nvSpPr>
          <p:cNvPr id="27" name="net-layer-0">
            <a:extLst xmlns:a="http://schemas.openxmlformats.org/drawingml/2006/main">
              <a:ext uri="{FF2B5EF4-FFF2-40B4-BE49-F238E27FC236}">
                <a16:creationId xmlns:a16="http://schemas.microsoft.com/office/drawing/2014/main" id="{3AC4FC80-6C72-4F96-B541-9E79EEF2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143125" cy="2190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输入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1224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三段光谱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参数 ≈0</a:t>
            </a:r>
          </a:p>
        </p:txBody>
      </p:sp>
      <p:sp>
        <p:nvSpPr>
          <p:cNvPr id="28" name="net-layer-1">
            <a:extLst xmlns:a="http://schemas.openxmlformats.org/drawingml/2006/main">
              <a:ext uri="{FF2B5EF4-FFF2-40B4-BE49-F238E27FC236}">
                <a16:creationId xmlns:a16="http://schemas.microsoft.com/office/drawing/2014/main" id="{37BA366E-9CC3-4844-A19E-DDBB2F8D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143125" cy="2190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隐藏层 1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Linear 1224→5000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LeakyReLU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参数 ≈6.1M</a:t>
            </a:r>
          </a:p>
        </p:txBody>
      </p:sp>
      <p:sp>
        <p:nvSpPr>
          <p:cNvPr id="29" name="net-layer-2">
            <a:extLst xmlns:a="http://schemas.openxmlformats.org/drawingml/2006/main">
              <a:ext uri="{FF2B5EF4-FFF2-40B4-BE49-F238E27FC236}">
                <a16:creationId xmlns:a16="http://schemas.microsoft.com/office/drawing/2014/main" id="{C057A00F-53B0-4C5D-A445-84D0058D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2143125" cy="2190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隐藏层 2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Linear 5000→5000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LeakyReLU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参数 ≈25.0M</a:t>
            </a:r>
          </a:p>
        </p:txBody>
      </p:sp>
      <p:sp>
        <p:nvSpPr>
          <p:cNvPr id="30" name="net-layer-3">
            <a:extLst xmlns:a="http://schemas.openxmlformats.org/drawingml/2006/main">
              <a:ext uri="{FF2B5EF4-FFF2-40B4-BE49-F238E27FC236}">
                <a16:creationId xmlns:a16="http://schemas.microsoft.com/office/drawing/2014/main" id="{37516021-D76B-4AF5-AFFF-D7F2AE0B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143125" cy="2190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输出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Linear 5000→160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无激活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参数 ≈0.8M</a:t>
            </a:r>
          </a:p>
        </p:txBody>
      </p:sp>
      <p:sp>
        <p:nvSpPr>
          <p:cNvPr id="31" name="net-rationale">
            <a:extLst xmlns:a="http://schemas.openxmlformats.org/drawingml/2006/main">
              <a:ext uri="{FF2B5EF4-FFF2-40B4-BE49-F238E27FC236}">
                <a16:creationId xmlns:a16="http://schemas.microsoft.com/office/drawing/2014/main" id="{36EF9A5B-CFAA-43E7-AF5E-B1EDCFCA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52400" tIns="114300" rIns="152400" bIns="1143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为什么不是 CNN？光谱不同波长位置具有明确物理含义，不天然满足平移不变性。两层超宽 MLP 用约 3200 万参数直接学习全局非线性映射；线性输出允许 Fourier 系数取任意正负值。</a:t>
            </a:r>
          </a:p>
        </p:txBody>
      </p:sp>
    </p:spTree>
    <p:extLst>
      <p:ext uri="{BB962C8B-B14F-4D97-AF65-F5344CB8AC3E}">
        <p14:creationId xmlns:p14="http://schemas.microsoft.com/office/powerpoint/2010/main" val="43207752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标题 22">
            <a:extLst xmlns:a="http://schemas.openxmlformats.org/drawingml/2006/main">
              <a:ext uri="{FF2B5EF4-FFF2-40B4-BE49-F238E27FC236}">
                <a16:creationId xmlns:a16="http://schemas.microsoft.com/office/drawing/2014/main" id="{C07DD7F8-AF52-4F20-9B3A-879BA42316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训练循环：119,000 次全批次 Adam 更新</a:t>
            </a:r>
          </a:p>
        </p:txBody>
      </p:sp>
      <p:sp>
        <p:nvSpPr>
          <p:cNvPr id="24" name="train-loop">
            <a:extLst xmlns:a="http://schemas.openxmlformats.org/drawingml/2006/main">
              <a:ext uri="{FF2B5EF4-FFF2-40B4-BE49-F238E27FC236}">
                <a16:creationId xmlns:a16="http://schemas.microsoft.com/office/drawing/2014/main" id="{33C7E018-D64E-4351-B7D7-48661070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3815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383">
            <a:solidFill>
              <a:srgbClr val="2B2B2B"/>
            </a:solidFill>
            <a:prstDash val="solid"/>
          </a:ln>
        </p:spPr>
        <p:txBody>
          <a:bodyPr xmlns:a="http://schemas.openxmlformats.org/drawingml/2006/main" lIns="209550" tIns="171450" rIns="171450" bIns="1714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每一步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1. y_pred = model(xs)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2. loss = mean(|y_pred−ys|)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3. optimizer.zero_grad()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4. loss.backward()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5. optimizer.step()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每 200 步打印一次 loss</a:t>
            </a:r>
          </a:p>
        </p:txBody>
      </p:sp>
      <p:sp>
        <p:nvSpPr>
          <p:cNvPr id="25" name="stage-arrow-0">
            <a:extLst xmlns:a="http://schemas.openxmlformats.org/drawingml/2006/main">
              <a:ext uri="{FF2B5EF4-FFF2-40B4-BE49-F238E27FC236}">
                <a16:creationId xmlns:a16="http://schemas.microsoft.com/office/drawing/2014/main" id="{E8470E1E-39D2-4678-8A16-4D523BF9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B1B4"/>
          </a:solidFill>
          <a:ln xmlns:a="http://schemas.openxmlformats.org/drawingml/2006/main" w="7620">
            <a:solidFill>
              <a:srgbClr val="E2B1B4"/>
            </a:solidFill>
            <a:prstDash val="solid"/>
          </a:ln>
        </p:spPr>
      </p:sp>
      <p:sp>
        <p:nvSpPr>
          <p:cNvPr id="26" name="stage-0">
            <a:extLst xmlns:a="http://schemas.openxmlformats.org/drawingml/2006/main">
              <a:ext uri="{FF2B5EF4-FFF2-40B4-BE49-F238E27FC236}">
                <a16:creationId xmlns:a16="http://schemas.microsoft.com/office/drawing/2014/main" id="{6BB2B870-A55A-4F20-90E8-B3FB411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1333500" cy="1476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阶段 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3,000 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lr=1e−4</a:t>
            </a:r>
          </a:p>
        </p:txBody>
      </p:sp>
      <p:sp>
        <p:nvSpPr>
          <p:cNvPr id="27" name="stage-arrow-1">
            <a:extLst xmlns:a="http://schemas.openxmlformats.org/drawingml/2006/main">
              <a:ext uri="{FF2B5EF4-FFF2-40B4-BE49-F238E27FC236}">
                <a16:creationId xmlns:a16="http://schemas.microsoft.com/office/drawing/2014/main" id="{84EECF49-3D7F-41D7-B74D-163F36E0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B1B4"/>
          </a:solidFill>
          <a:ln xmlns:a="http://schemas.openxmlformats.org/drawingml/2006/main" w="7620">
            <a:solidFill>
              <a:srgbClr val="E2B1B4"/>
            </a:solidFill>
            <a:prstDash val="solid"/>
          </a:ln>
        </p:spPr>
      </p:sp>
      <p:sp>
        <p:nvSpPr>
          <p:cNvPr id="28" name="stage-1">
            <a:extLst xmlns:a="http://schemas.openxmlformats.org/drawingml/2006/main">
              <a:ext uri="{FF2B5EF4-FFF2-40B4-BE49-F238E27FC236}">
                <a16:creationId xmlns:a16="http://schemas.microsoft.com/office/drawing/2014/main" id="{FD841838-535F-47A4-911D-E42E7BC5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1333500" cy="1476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阶段 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6,000 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lr=1e−5</a:t>
            </a:r>
          </a:p>
        </p:txBody>
      </p:sp>
      <p:sp>
        <p:nvSpPr>
          <p:cNvPr id="29" name="stage-arrow-2">
            <a:extLst xmlns:a="http://schemas.openxmlformats.org/drawingml/2006/main">
              <a:ext uri="{FF2B5EF4-FFF2-40B4-BE49-F238E27FC236}">
                <a16:creationId xmlns:a16="http://schemas.microsoft.com/office/drawing/2014/main" id="{D1BB3B29-D766-47F3-B9CF-507642B9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241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B1B4"/>
          </a:solidFill>
          <a:ln xmlns:a="http://schemas.openxmlformats.org/drawingml/2006/main" w="7620">
            <a:solidFill>
              <a:srgbClr val="E2B1B4"/>
            </a:solidFill>
            <a:prstDash val="solid"/>
          </a:ln>
        </p:spPr>
      </p:sp>
      <p:sp>
        <p:nvSpPr>
          <p:cNvPr id="30" name="stage-2">
            <a:extLst xmlns:a="http://schemas.openxmlformats.org/drawingml/2006/main">
              <a:ext uri="{FF2B5EF4-FFF2-40B4-BE49-F238E27FC236}">
                <a16:creationId xmlns:a16="http://schemas.microsoft.com/office/drawing/2014/main" id="{980E1D58-77DD-47C6-8EB6-A2356F94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1333500" cy="1476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阶段 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10,000 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lr=1e−6</a:t>
            </a:r>
          </a:p>
        </p:txBody>
      </p:sp>
      <p:sp>
        <p:nvSpPr>
          <p:cNvPr id="31" name="stage-3">
            <a:extLst xmlns:a="http://schemas.openxmlformats.org/drawingml/2006/main">
              <a:ext uri="{FF2B5EF4-FFF2-40B4-BE49-F238E27FC236}">
                <a16:creationId xmlns:a16="http://schemas.microsoft.com/office/drawing/2014/main" id="{AE0424C5-0020-4D06-9E10-0C75B70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0"/>
            <a:ext cx="1333500" cy="1476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阶段 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100,000 步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lr=1e−7</a:t>
            </a:r>
          </a:p>
        </p:txBody>
      </p:sp>
      <p:sp>
        <p:nvSpPr>
          <p:cNvPr id="32" name="train-warning">
            <a:extLst xmlns:a="http://schemas.openxmlformats.org/drawingml/2006/main">
              <a:ext uri="{FF2B5EF4-FFF2-40B4-BE49-F238E27FC236}">
                <a16:creationId xmlns:a16="http://schemas.microsoft.com/office/drawing/2014/main" id="{F60976CF-0AFF-4E1C-8AC7-63DF84B3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10000"/>
            <a:ext cx="6143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4B4B7"/>
            </a:solidFill>
            <a:prstDash val="solid"/>
          </a:ln>
        </p:spPr>
        <p:txBody>
          <a:bodyPr xmlns:a="http://schemas.openxmlformats.org/drawingml/2006/main" lIns="152400" tIns="114300" rIns="133350" bIns="1143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实现与论文的关键差异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当前 train.py：Fourier 系数域 L1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论文文字：逆变换后的 EVDF 域 MSE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• 当前：全批次，无 DataLoader、验证集、早停或动态 scheduler</a:t>
            </a:r>
          </a:p>
        </p:txBody>
      </p:sp>
    </p:spTree>
    <p:extLst>
      <p:ext uri="{BB962C8B-B14F-4D97-AF65-F5344CB8AC3E}">
        <p14:creationId xmlns:p14="http://schemas.microsoft.com/office/powerpoint/2010/main" val="83896730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761FA7B2-489F-4ED1-9CFD-8023D4293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评估与推理：从 160 个实数返回 fₑ(v)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C2F7A98A-54C6-4794-986A-99FF932C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715" y="2505075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6B9"/>
          </a:solidFill>
          <a:ln xmlns:a="http://schemas.openxmlformats.org/drawingml/2006/main" w="7620">
            <a:solidFill>
              <a:srgbClr val="E4B6B9"/>
            </a:solidFill>
            <a:prstDash val="solid"/>
          </a:ln>
        </p:spPr>
      </p:sp>
      <p:sp>
        <p:nvSpPr>
          <p:cNvPr id="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28ECDEBB-1CC7-489E-AB81-A9033F4E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755" y="2505075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6B9"/>
          </a:solidFill>
          <a:ln xmlns:a="http://schemas.openxmlformats.org/drawingml/2006/main" w="7620">
            <a:solidFill>
              <a:srgbClr val="E4B6B9"/>
            </a:solidFill>
            <a:prstDash val="solid"/>
          </a:ln>
        </p:spPr>
      </p:sp>
      <p:sp>
        <p:nvSpPr>
          <p:cNvPr id="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CAC2CAB-E327-49BF-AE03-40AA77EF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795" y="2505075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6B9"/>
          </a:solidFill>
          <a:ln xmlns:a="http://schemas.openxmlformats.org/drawingml/2006/main" w="7620">
            <a:solidFill>
              <a:srgbClr val="E4B6B9"/>
            </a:solidFill>
            <a:prstDash val="solid"/>
          </a:ln>
        </p:spPr>
      </p:sp>
      <p:sp>
        <p:nvSpPr>
          <p:cNvPr id="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068FA273-236B-4501-B323-29C90D4D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835" y="2505075"/>
            <a:ext cx="171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B6B9"/>
          </a:solidFill>
          <a:ln xmlns:a="http://schemas.openxmlformats.org/drawingml/2006/main" w="7620">
            <a:solidFill>
              <a:srgbClr val="E4B6B9"/>
            </a:solidFill>
            <a:prstDash val="solid"/>
          </a:ln>
        </p:spPr>
      </p:sp>
      <p:sp>
        <p:nvSpPr>
          <p:cNvPr id="9" name="flow-step-0">
            <a:extLst xmlns:a="http://schemas.openxmlformats.org/drawingml/2006/main">
              <a:ext uri="{FF2B5EF4-FFF2-40B4-BE49-F238E27FC236}">
                <a16:creationId xmlns:a16="http://schemas.microsoft.com/office/drawing/2014/main" id="{88DB2C1C-D896-4342-AC9B-CF6993B6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83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6D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加载模型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pickle → state_dict</a:t>
            </a:r>
          </a:p>
        </p:txBody>
      </p:sp>
      <p:sp>
        <p:nvSpPr>
          <p:cNvPr id="10" name="flow-step-1">
            <a:extLst xmlns:a="http://schemas.openxmlformats.org/drawingml/2006/main">
              <a:ext uri="{FF2B5EF4-FFF2-40B4-BE49-F238E27FC236}">
                <a16:creationId xmlns:a16="http://schemas.microsoft.com/office/drawing/2014/main" id="{A4644348-DECB-4FA2-8856-5EED159A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90" y="2000250"/>
            <a:ext cx="19583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8B4B7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读取样本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xs:[1,1224]</a:t>
            </a:r>
          </a:p>
        </p:txBody>
      </p:sp>
      <p:sp>
        <p:nvSpPr>
          <p:cNvPr id="11" name="flow-step-2">
            <a:extLst xmlns:a="http://schemas.openxmlformats.org/drawingml/2006/main">
              <a:ext uri="{FF2B5EF4-FFF2-40B4-BE49-F238E27FC236}">
                <a16:creationId xmlns:a16="http://schemas.microsoft.com/office/drawing/2014/main" id="{64A8690E-E436-4249-AD3D-9A03D628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2000250"/>
            <a:ext cx="19583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6D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前向推理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ys_pred:[1,160]</a:t>
            </a:r>
          </a:p>
        </p:txBody>
      </p:sp>
      <p:sp>
        <p:nvSpPr>
          <p:cNvPr id="12" name="flow-step-3">
            <a:extLst xmlns:a="http://schemas.openxmlformats.org/drawingml/2006/main">
              <a:ext uri="{FF2B5EF4-FFF2-40B4-BE49-F238E27FC236}">
                <a16:creationId xmlns:a16="http://schemas.microsoft.com/office/drawing/2014/main" id="{C0600B80-062A-4B75-B460-ACD03B05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000250"/>
            <a:ext cx="19583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8B4B7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组成复数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Re + i·Im</a:t>
            </a:r>
          </a:p>
        </p:txBody>
      </p:sp>
      <p:sp>
        <p:nvSpPr>
          <p:cNvPr id="13" name="flow-step-4">
            <a:extLst xmlns:a="http://schemas.openxmlformats.org/drawingml/2006/main">
              <a:ext uri="{FF2B5EF4-FFF2-40B4-BE49-F238E27FC236}">
                <a16:creationId xmlns:a16="http://schemas.microsoft.com/office/drawing/2014/main" id="{F974FD0E-5309-49E5-A027-077FF21D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2000250"/>
            <a:ext cx="195834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D6D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05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逆 Fourier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ift_k(K,F)</a:t>
            </a:r>
          </a:p>
        </p:txBody>
      </p:sp>
      <p:sp>
        <p:nvSpPr>
          <p:cNvPr id="14" name="eval-output">
            <a:extLst xmlns:a="http://schemas.openxmlformats.org/drawingml/2006/main">
              <a:ext uri="{FF2B5EF4-FFF2-40B4-BE49-F238E27FC236}">
                <a16:creationId xmlns:a16="http://schemas.microsoft.com/office/drawing/2014/main" id="{EFD8E07A-7971-48E0-AF3E-E697EB7B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1047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71450" tIns="133350" rIns="152400" bIns="1333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evaluateModel.py：批量绘制真值/预测 EVDF（result1.png）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singleSpectrum.py：检查单个样本的三段输入光谱与 Fourier 实部/虚部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quick_test.py：用 20+5 个样本验证“EVDF→光谱→DNN→EVDF”链路</a:t>
            </a:r>
          </a:p>
        </p:txBody>
      </p:sp>
      <p:sp>
        <p:nvSpPr>
          <p:cNvPr id="15" name="citation-24">
            <a:extLst xmlns:a="http://schemas.openxmlformats.org/drawingml/2006/main">
              <a:ext uri="{FF2B5EF4-FFF2-40B4-BE49-F238E27FC236}">
                <a16:creationId xmlns:a16="http://schemas.microsoft.com/office/drawing/2014/main" id="{107EF1FE-5AF4-4A40-91C6-24F21E3E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77777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777777"/>
                </a:solidFill>
                <a:latin typeface="Segoe UI"/>
                <a:ea typeface="Segoe UI"/>
                <a:cs typeface="Segoe UI"/>
              </a:rPr>
              <a:t>评估的物理终点不是系数误差，而是重建 fₑ(v) 的形状、归一化、非负性与尾部结构。</a:t>
            </a:r>
          </a:p>
        </p:txBody>
      </p:sp>
    </p:spTree>
    <p:extLst>
      <p:ext uri="{BB962C8B-B14F-4D97-AF65-F5344CB8AC3E}">
        <p14:creationId xmlns:p14="http://schemas.microsoft.com/office/powerpoint/2010/main" val="149148106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任意多边形: 形状 74">
            <a:extLst xmlns:a="http://schemas.openxmlformats.org/drawingml/2006/main">
              <a:ext uri="{FF2B5EF4-FFF2-40B4-BE49-F238E27FC236}">
                <a16:creationId xmlns:a16="http://schemas.microsoft.com/office/drawing/2014/main" id="{F161740B-0B5E-493F-8D3C-845C084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266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任意多边形: 形状 72">
            <a:extLst xmlns:a="http://schemas.openxmlformats.org/drawingml/2006/main">
              <a:ext uri="{FF2B5EF4-FFF2-40B4-BE49-F238E27FC236}">
                <a16:creationId xmlns:a16="http://schemas.microsoft.com/office/drawing/2014/main" id="{B0633992-B17C-4F75-BDE7-9BCD0C71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442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任意多边形: 形状 73">
            <a:extLst xmlns:a="http://schemas.openxmlformats.org/drawingml/2006/main">
              <a:ext uri="{FF2B5EF4-FFF2-40B4-BE49-F238E27FC236}">
                <a16:creationId xmlns:a16="http://schemas.microsoft.com/office/drawing/2014/main" id="{8C8D15B6-3C51-4366-AB0D-A407A793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1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46A32443-CBED-4336-B38A-A26E06B5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42E4B1C4-7713-4DD3-A077-24282CAC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A69EA5E5-28B9-475F-B486-5C4C4790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rgbClr val="C8161E"/>
          </a:solidFill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5DA9E63D-ECEA-44CC-B2E4-EEA7297A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custGeom xmlns:a="http://schemas.openxmlformats.org/drawingml/2006/main">
            <a:rect l="l" t="t" r="r" b="b"/>
            <a:pathLst>
              <a:path w="3048000" h="6858000">
                <a:moveTo>
                  <a:pt x="0" y="0"/>
                </a:moveTo>
                <a:lnTo>
                  <a:pt x="3048000" y="0"/>
                </a:lnTo>
                <a:lnTo>
                  <a:pt x="30480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14A4029D-7B10-4AF5-A250-98209E9D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9D573320-FDF1-4BA4-8A40-D23C71D5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F95005BF-394D-4607-96D4-5583CA0F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 u="sng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689B855C-E0C7-4D5E-807A-EA48A86E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550" y="750093"/>
            <a:ext cx="1228725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sz="650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64F9FA6F-E2F2-43D5-9C62-1E5D3FCF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2206625"/>
            <a:ext cx="256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数据与论文不同</a:t>
            </a:r>
          </a:p>
        </p:txBody>
      </p:sp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46CB8BE1-502A-4AB6-9E11-9CF2E092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2206625"/>
            <a:ext cx="256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损失定义不同</a:t>
            </a: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59EE262-4BF4-470B-871C-D39225FD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206625"/>
            <a:ext cx="256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工程细节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942F15CF-D0A6-4F4D-8167-DEADE03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06625"/>
            <a:ext cx="256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物理适用范围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34660C71-9765-4B65-AF49-665DBCAE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" y="3005282"/>
            <a:ext cx="2565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论文基准：10 Gaussian、电子峰 375–500/200–340 nm；当前分支：3+1 Gaussian，并扩展到约 100–600 nm。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02AE0A76-01A2-49DF-BF47-CC626A8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0" y="3005282"/>
            <a:ext cx="25654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代码优化 160 维系数 L1；论文写的是 EVDF 域 MSE。二者对高频/低频模式的权重并不等价。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DBC5D909-C9A1-4977-9429-025D7521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005282"/>
            <a:ext cx="256540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i_e=-1 漏最后一行；genDataSet 导入即执行；pickle 兼容性较弱；训练无 mini-batch、验证与早停。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6E6BDF95-4EDA-4944-A666-355ADD53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05282"/>
            <a:ext cx="256540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sz="2000">
                <a:solidFill>
                  <a:srgbClr val="DBDBDB">
                    <a:lumMod val="50000"/>
                  </a:srgbClr>
                </a:solidFill>
                <a:latin typeface="Segoe UI"/>
                <a:ea typeface="Segoe UI"/>
                <a:cs typeface="Segoe UI"/>
              </a:rPr>
              <a:t>离子默认 Maxwellian；三段独立归一化抹去相对强度；输出是谱形，不是绝对散射功率；未显式约束 EVDF 非负。</a:t>
            </a:r>
          </a:p>
        </p:txBody>
      </p:sp>
    </p:spTree>
    <p:extLst>
      <p:ext uri="{BB962C8B-B14F-4D97-AF65-F5344CB8AC3E}">
        <p14:creationId xmlns:p14="http://schemas.microsoft.com/office/powerpoint/2010/main" val="69810829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直接连接符 2"/>
          <p:cNvCxnSpPr/>
          <p:nvPr/>
        </p:nvCxnSpPr>
        <p:spPr>
          <a:xfrm xmlns:a="http://schemas.openxmlformats.org/drawingml/2006/main">
            <a:off x="955420" y="3666694"/>
            <a:ext cx="10248277" cy="0"/>
          </a:xfrm>
          <a:prstGeom xmlns:a="http://schemas.openxmlformats.org/drawingml/2006/main" prst="line">
            <a:avLst/>
          </a:prstGeom>
          <a:ln xmlns:a="http://schemas.openxmlformats.org/drawingml/2006/main" cap="rnd">
            <a:solidFill>
              <a:schemeClr val="bg1">
                <a:lumMod val="75000"/>
              </a:schemeClr>
            </a:solidFill>
            <a:round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8" name="直接连接符 3"/>
          <p:cNvCxnSpPr/>
          <p:nvPr/>
        </p:nvCxnSpPr>
        <p:spPr>
          <a:xfrm xmlns:a="http://schemas.openxmlformats.org/drawingml/2006/main">
            <a:off x="4334742" y="1296629"/>
            <a:ext cx="0" cy="4740128"/>
          </a:xfrm>
          <a:prstGeom xmlns:a="http://schemas.openxmlformats.org/drawingml/2006/main" prst="line">
            <a:avLst/>
          </a:prstGeom>
          <a:ln xmlns:a="http://schemas.openxmlformats.org/drawingml/2006/main" cap="rnd">
            <a:solidFill>
              <a:schemeClr val="bg1">
                <a:lumMod val="75000"/>
              </a:schemeClr>
            </a:solidFill>
            <a:round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9" name="直接连接符 4"/>
          <p:cNvCxnSpPr/>
          <p:nvPr/>
        </p:nvCxnSpPr>
        <p:spPr>
          <a:xfrm xmlns:a="http://schemas.openxmlformats.org/drawingml/2006/main">
            <a:off x="7824374" y="1296629"/>
            <a:ext cx="0" cy="4740128"/>
          </a:xfrm>
          <a:prstGeom xmlns:a="http://schemas.openxmlformats.org/drawingml/2006/main" prst="line">
            <a:avLst/>
          </a:prstGeom>
          <a:ln xmlns:a="http://schemas.openxmlformats.org/drawingml/2006/main" cap="rnd">
            <a:solidFill>
              <a:schemeClr val="bg1">
                <a:lumMod val="75000"/>
              </a:schemeClr>
            </a:solidFill>
            <a:round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" name="iśļíḓé">
            <a:extLst xmlns:a="http://schemas.openxmlformats.org/drawingml/2006/main">
              <a:ext uri="{FF2B5EF4-FFF2-40B4-BE49-F238E27FC236}">
                <a16:creationId xmlns:a16="http://schemas.microsoft.com/office/drawing/2014/main" id="{87E07D9C-E8A8-4EB3-9A56-C3789243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444" y="1569383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ïṩľîḓé">
            <a:extLst xmlns:a="http://schemas.openxmlformats.org/drawingml/2006/main">
              <a:ext uri="{FF2B5EF4-FFF2-40B4-BE49-F238E27FC236}">
                <a16:creationId xmlns:a16="http://schemas.microsoft.com/office/drawing/2014/main" id="{B11C5666-CF06-47E4-B449-1689BD4F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77" y="1569383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îṩľiḑé">
            <a:extLst xmlns:a="http://schemas.openxmlformats.org/drawingml/2006/main">
              <a:ext uri="{FF2B5EF4-FFF2-40B4-BE49-F238E27FC236}">
                <a16:creationId xmlns:a16="http://schemas.microsoft.com/office/drawing/2014/main" id="{5D3ADB88-360E-4C81-9D93-9786CEF9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11" y="1569383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9" name="îṩľiďé">
            <a:extLst xmlns:a="http://schemas.openxmlformats.org/drawingml/2006/main">
              <a:ext uri="{FF2B5EF4-FFF2-40B4-BE49-F238E27FC236}">
                <a16:creationId xmlns:a16="http://schemas.microsoft.com/office/drawing/2014/main" id="{4A45A7B2-7045-4414-9E8E-1BE3135D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444" y="3941899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0" name="îŝḻîḓê">
            <a:extLst xmlns:a="http://schemas.openxmlformats.org/drawingml/2006/main">
              <a:ext uri="{FF2B5EF4-FFF2-40B4-BE49-F238E27FC236}">
                <a16:creationId xmlns:a16="http://schemas.microsoft.com/office/drawing/2014/main" id="{45F7282E-E428-4E0E-B3A8-403390E3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77" y="3941899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>
            <a:lvl1pPr algn="ctr">
              <a:buNone/>
              <a:defRPr sz="5400">
                <a:solidFill>
                  <a:schemeClr val="bg1">
                    <a:lumMod val="65000"/>
                  </a:schemeClr>
                </a:solidFill>
                <a:latin typeface="Segoe UI"/>
                <a:ea typeface="Segoe UI"/>
                <a:cs typeface="Segoe UI"/>
              </a:defRPr>
            </a:lvl1pPr>
          </a:lstStyle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1" name="iṣļïḑe">
            <a:extLst xmlns:a="http://schemas.openxmlformats.org/drawingml/2006/main">
              <a:ext uri="{FF2B5EF4-FFF2-40B4-BE49-F238E27FC236}">
                <a16:creationId xmlns:a16="http://schemas.microsoft.com/office/drawing/2014/main" id="{D4D78D1A-B7D8-47CE-928F-E59635F3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711" y="3941899"/>
            <a:ext cx="1452962" cy="864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389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28E69F1-8AA7-48A9-A102-84BAC8D7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29" y="2527369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检查依赖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Torch / NumPy / PyArrow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0926D72-B60D-4D46-B641-FDB6EE49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29" y="4897434"/>
            <a:ext cx="2492990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核对张量形状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[N,1224]→[N,160]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C6A748D-60AB-456B-8A93-1470E398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857" y="2527369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先跑 quick_test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验证完整链路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CF3B44C-29AA-4F19-A6D9-5DF9CECD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3489" y="2527369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生成数据集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python genDataSet.py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6516477-5B1B-4DEB-831E-3BC14AB8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269" y="4897434"/>
            <a:ext cx="2492990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训练与保存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python main.py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3681B7C-18F9-47E2-9F54-1E2FE926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2700" y="4897434"/>
            <a:ext cx="2492991" cy="8462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评估异常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>
                <a:latin typeface="Segoe UI"/>
                <a:ea typeface="Segoe UI"/>
                <a:cs typeface="Segoe UI"/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egoe UI"/>
                <a:ea typeface="Segoe UI"/>
                <a:cs typeface="Segoe UI"/>
              </a:rPr>
              <a:t>系数、EVDF、谱回代</a:t>
            </a:r>
          </a:p>
        </p:txBody>
      </p:sp>
      <p:pic>
        <p:nvPicPr>
          <p:cNvPr id="52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2eb00969ea4e82"/>
          <a:srcRect xmlns:a="http://schemas.openxmlformats.org/drawingml/2006/main" l="0" t="0" r="1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C7E278E-7B60-42D2-9BA7-4A114BD7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000" y="3626732"/>
            <a:ext cx="900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process-title-26">
            <a:extLst xmlns:a="http://schemas.openxmlformats.org/drawingml/2006/main">
              <a:ext uri="{FF2B5EF4-FFF2-40B4-BE49-F238E27FC236}">
                <a16:creationId xmlns:a16="http://schemas.microsoft.com/office/drawing/2014/main" id="{60D5C6E4-EC76-483B-8339-87221296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19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C8161E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C8161E"/>
                </a:solidFill>
                <a:latin typeface="Segoe UI"/>
                <a:ea typeface="Segoe UI"/>
                <a:cs typeface="Segoe UI"/>
              </a:rPr>
              <a:t>复现与调试：推荐执行顺序</a:t>
            </a:r>
          </a:p>
        </p:txBody>
      </p:sp>
    </p:spTree>
    <p:extLst>
      <p:ext uri="{BB962C8B-B14F-4D97-AF65-F5344CB8AC3E}">
        <p14:creationId xmlns:p14="http://schemas.microsoft.com/office/powerpoint/2010/main" val="32272787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标题 22">
            <a:extLst xmlns:a="http://schemas.openxmlformats.org/drawingml/2006/main">
              <a:ext uri="{FF2B5EF4-FFF2-40B4-BE49-F238E27FC236}">
                <a16:creationId xmlns:a16="http://schemas.microsoft.com/office/drawing/2014/main" id="{21A34E06-4624-480E-A453-EF2AF69A7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总结：理解这套代码要抓住三条主线</a:t>
            </a:r>
          </a:p>
        </p:txBody>
      </p:sp>
      <p:sp>
        <p:nvSpPr>
          <p:cNvPr id="24" name="takeaway-0">
            <a:extLst xmlns:a="http://schemas.openxmlformats.org/drawingml/2006/main">
              <a:ext uri="{FF2B5EF4-FFF2-40B4-BE49-F238E27FC236}">
                <a16:creationId xmlns:a16="http://schemas.microsoft.com/office/drawing/2014/main" id="{F6F47F0C-0713-4FE4-86F3-4D242355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33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52400" tIns="114300" rIns="133350" bIns="1143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1. 物理主线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S(k,ω) 把密度涨落连接到散射光谱；ε 与 χ 决定集体响应。</a:t>
            </a:r>
          </a:p>
        </p:txBody>
      </p:sp>
      <p:sp>
        <p:nvSpPr>
          <p:cNvPr id="25" name="takeaway-1">
            <a:extLst xmlns:a="http://schemas.openxmlformats.org/drawingml/2006/main">
              <a:ext uri="{FF2B5EF4-FFF2-40B4-BE49-F238E27FC236}">
                <a16:creationId xmlns:a16="http://schemas.microsoft.com/office/drawing/2014/main" id="{5BB0A186-A434-4F55-BCF4-0F5F8975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533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E8E9"/>
          </a:solidFill>
          <a:ln xmlns:a="http://schemas.openxmlformats.org/drawingml/2006/main" w="12383">
            <a:solidFill>
              <a:srgbClr val="E4B4B7"/>
            </a:solidFill>
            <a:prstDash val="solid"/>
          </a:ln>
        </p:spPr>
        <p:txBody>
          <a:bodyPr xmlns:a="http://schemas.openxmlformats.org/drawingml/2006/main" lIns="152400" tIns="114300" rIns="133350" bIns="1143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2. 数值主线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80 个复 Fourier 模式既是低通正则，也是神经网络的可学习标签。</a:t>
            </a:r>
          </a:p>
        </p:txBody>
      </p:sp>
      <p:sp>
        <p:nvSpPr>
          <p:cNvPr id="26" name="takeaway-2">
            <a:extLst xmlns:a="http://schemas.openxmlformats.org/drawingml/2006/main">
              <a:ext uri="{FF2B5EF4-FFF2-40B4-BE49-F238E27FC236}">
                <a16:creationId xmlns:a16="http://schemas.microsoft.com/office/drawing/2014/main" id="{910A73AF-B202-4548-8899-C42B6DB0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533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52400" tIns="114300" rIns="133350" bIns="1143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3. 工程主线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genDataSet 构造监督对，MLP 直接反演，ift_k 把预测送回可解释的 EVDF。</a:t>
            </a:r>
          </a:p>
        </p:txBody>
      </p:sp>
      <p:sp>
        <p:nvSpPr>
          <p:cNvPr id="27" name="references">
            <a:extLst xmlns:a="http://schemas.openxmlformats.org/drawingml/2006/main">
              <a:ext uri="{FF2B5EF4-FFF2-40B4-BE49-F238E27FC236}">
                <a16:creationId xmlns:a16="http://schemas.microsoft.com/office/drawing/2014/main" id="{D35A199B-49A4-4F48-818F-9087502C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334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12383">
            <a:solidFill>
              <a:srgbClr val="D8D8D8"/>
            </a:solidFill>
            <a:prstDash val="solid"/>
          </a:ln>
        </p:spPr>
        <p:txBody>
          <a:bodyPr xmlns:a="http://schemas.openxmlformats.org/drawingml/2006/main" lIns="171450" tIns="152400" rIns="152400" bIns="1524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主要参考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1. Sheffield et al., Plasma Scattering of Electromagnetic Radiation, 2011, Chapters 1–3.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2. Cheng et al., Non-Maxwellian EVDF reconstruction from OTS using large neural networks, 2026, Eqs. (1)–(5).</a:t>
            </a:r>
          </a:p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3. 仓库：OTS_code_share/NN_hotE_large_lmRange/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   phyEqns/ots_fourier.py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   genDataSet.py / model.py / train.py / main.py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33333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333333"/>
                </a:solidFill>
                <a:latin typeface="Segoe UI"/>
                <a:ea typeface="Segoe UI"/>
                <a:cs typeface="Segoe UI"/>
              </a:rPr>
              <a:t>   evaluateModel.py</a:t>
            </a:r>
          </a:p>
        </p:txBody>
      </p:sp>
      <p:sp>
        <p:nvSpPr>
          <p:cNvPr id="28" name="final-message">
            <a:extLst xmlns:a="http://schemas.openxmlformats.org/drawingml/2006/main">
              <a:ext uri="{FF2B5EF4-FFF2-40B4-BE49-F238E27FC236}">
                <a16:creationId xmlns:a16="http://schemas.microsoft.com/office/drawing/2014/main" id="{7602B680-B415-42FB-B80B-D80D231D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1125"/>
            <a:ext cx="5334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12383">
            <a:solidFill>
              <a:srgbClr val="C8161E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核心一句话：网络预测的不是 EVDF 采样点，而是能够同时驱动正向光谱和逆向重建的低通 Fourier 表示。</a:t>
            </a:r>
          </a:p>
        </p:txBody>
      </p:sp>
    </p:spTree>
    <p:extLst>
      <p:ext uri="{BB962C8B-B14F-4D97-AF65-F5344CB8AC3E}">
        <p14:creationId xmlns:p14="http://schemas.microsoft.com/office/powerpoint/2010/main" val="38132565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054BF4D-0D54-4ABB-BCA0-87164FDEC08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071316" y="3129277"/>
            <a:ext cx="6286859" cy="5984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Segoe UI"/>
                <a:ea typeface="Segoe UI"/>
                <a:cs typeface="Segoe UI"/>
              </a:defRPr>
            </a:pPr>
            <a:r>
              <a:rPr>
                <a:latin typeface="Segoe UI"/>
                <a:ea typeface="Segoe UI"/>
                <a:cs typeface="Segoe UI"/>
              </a:rPr>
              <a:t>谢谢｜欢迎讨论 </a:t>
            </a:r>
          </a:p>
        </p:txBody>
      </p:sp>
    </p:spTree>
    <p:extLst>
      <p:ext uri="{BB962C8B-B14F-4D97-AF65-F5344CB8AC3E}">
        <p14:creationId xmlns:p14="http://schemas.microsoft.com/office/powerpoint/2010/main" val="1593195958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Segoe UI">
      <a:majorFont>
        <a:latin typeface="Segoe UI"/>
        <a:ea typeface="Segoe UI"/>
        <a:cs typeface="Segoe UI"/>
      </a:majorFont>
      <a:minorFont>
        <a:latin typeface="Segoe UI"/>
        <a:ea typeface="Segoe UI"/>
        <a:cs typeface="Segoe UI"/>
      </a:minorFont>
    </a:fontScheme>
    <a:fmtScheme name="SJTU-202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2026-06-22T05:09:14.1800000Z</dcterms:created>
  <dcterms:modified xsi:type="dcterms:W3CDTF">2026-06-22T05:09:14.1800000Z</dcterms:modified>
</coreProperties>
</file>