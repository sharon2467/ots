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solidFill>
                  <a:srgbClr val="C8161E"/>
                </a:solidFill>
              </a:rPr>
              <a:t>示意 EVDF：主体 + 弱热电子尾</a:t>
            </a:r>
            <a:endParaRPr sz="1275" b="1">
              <a:solidFill>
                <a:srgbClr val="C8161E"/>
              </a:solidFill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fₑ(v)</c:f>
              <c:strCache>
                <c:ptCount val="1"/>
                <c:pt idx="0">
                  <c:v>fₑ(v)</c:v>
                </c:pt>
              </c:strCache>
            </c:strRef>
          </c:tx>
          <c:spPr>
            <a:ln w="22860" cap="rnd">
              <a:solidFill>
                <a:srgbClr val="C8161E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{-0.8,-0.77,-0.73,-0.7,-0.67,-0.63,-0.6,-0.57,-0.53,-0.5,-0.47,-0.43,-0.4,-0.37,-0.33,-0.3,-0.27,-0.23,-0.2,-0.17,-0.13,-0.1,-0.07,-0.03,0,0.03,0.07,0.1,0.13,0.17,0.2,0.23,0.27,0.3,0.33,0.37,0.4,0.43,0.47,0.5,0.53,0.57,0.6,0.63,0.67,0.7,0.73,0.77,0.8}</c:f>
              <c:numCache>
                <c:formatCode>General</c:formatCode>
                <c:ptCount val="49"/>
                <c:pt idx="0">
                  <c:v>-0.8</c:v>
                </c:pt>
                <c:pt idx="1">
                  <c:v>-0.77</c:v>
                </c:pt>
                <c:pt idx="2">
                  <c:v>-0.73</c:v>
                </c:pt>
                <c:pt idx="3">
                  <c:v>-0.7</c:v>
                </c:pt>
                <c:pt idx="4">
                  <c:v>-0.67</c:v>
                </c:pt>
                <c:pt idx="5">
                  <c:v>-0.63</c:v>
                </c:pt>
                <c:pt idx="6">
                  <c:v>-0.6</c:v>
                </c:pt>
                <c:pt idx="7">
                  <c:v>-0.57</c:v>
                </c:pt>
                <c:pt idx="8">
                  <c:v>-0.53</c:v>
                </c:pt>
                <c:pt idx="9">
                  <c:v>-0.5</c:v>
                </c:pt>
                <c:pt idx="10">
                  <c:v>-0.47</c:v>
                </c:pt>
                <c:pt idx="11">
                  <c:v>-0.43</c:v>
                </c:pt>
                <c:pt idx="12">
                  <c:v>-0.4</c:v>
                </c:pt>
                <c:pt idx="13">
                  <c:v>-0.37</c:v>
                </c:pt>
                <c:pt idx="14">
                  <c:v>-0.33</c:v>
                </c:pt>
                <c:pt idx="15">
                  <c:v>-0.3</c:v>
                </c:pt>
                <c:pt idx="16">
                  <c:v>-0.27</c:v>
                </c:pt>
                <c:pt idx="17">
                  <c:v>-0.23</c:v>
                </c:pt>
                <c:pt idx="18">
                  <c:v>-0.2</c:v>
                </c:pt>
                <c:pt idx="19">
                  <c:v>-0.17</c:v>
                </c:pt>
                <c:pt idx="20">
                  <c:v>-0.13</c:v>
                </c:pt>
                <c:pt idx="21">
                  <c:v>-0.1</c:v>
                </c:pt>
                <c:pt idx="22">
                  <c:v>-0.07</c:v>
                </c:pt>
                <c:pt idx="23">
                  <c:v>-0.03</c:v>
                </c:pt>
                <c:pt idx="24">
                  <c:v>0</c:v>
                </c:pt>
                <c:pt idx="25">
                  <c:v>0.03</c:v>
                </c:pt>
                <c:pt idx="26">
                  <c:v>0.07</c:v>
                </c:pt>
                <c:pt idx="27">
                  <c:v>0.1</c:v>
                </c:pt>
                <c:pt idx="28">
                  <c:v>0.13</c:v>
                </c:pt>
                <c:pt idx="29">
                  <c:v>0.17</c:v>
                </c:pt>
                <c:pt idx="30">
                  <c:v>0.2</c:v>
                </c:pt>
                <c:pt idx="31">
                  <c:v>0.23</c:v>
                </c:pt>
                <c:pt idx="32">
                  <c:v>0.27</c:v>
                </c:pt>
                <c:pt idx="33">
                  <c:v>0.3</c:v>
                </c:pt>
                <c:pt idx="34">
                  <c:v>0.33</c:v>
                </c:pt>
                <c:pt idx="35">
                  <c:v>0.37</c:v>
                </c:pt>
                <c:pt idx="36">
                  <c:v>0.4</c:v>
                </c:pt>
                <c:pt idx="37">
                  <c:v>0.43</c:v>
                </c:pt>
                <c:pt idx="38">
                  <c:v>0.47</c:v>
                </c:pt>
                <c:pt idx="39">
                  <c:v>0.5</c:v>
                </c:pt>
                <c:pt idx="40">
                  <c:v>0.53</c:v>
                </c:pt>
                <c:pt idx="41">
                  <c:v>0.57</c:v>
                </c:pt>
                <c:pt idx="42">
                  <c:v>0.6</c:v>
                </c:pt>
                <c:pt idx="43">
                  <c:v>0.63</c:v>
                </c:pt>
                <c:pt idx="44">
                  <c:v>0.67</c:v>
                </c:pt>
                <c:pt idx="45">
                  <c:v>0.7</c:v>
                </c:pt>
                <c:pt idx="46">
                  <c:v>0.73</c:v>
                </c:pt>
                <c:pt idx="47">
                  <c:v>0.77</c:v>
                </c:pt>
                <c:pt idx="48">
                  <c:v>0.8</c:v>
                </c:pt>
              </c:numCache>
            </c:numRef>
          </c:cat>
          <c:val>
            <c:numRef>
              <c:f>{1.27065588436352e-42,4.84465128990157e-39,1.27931243873895e-35,2.33975428620988e-32,2.96376257502248e-29,2.60013619534792e-26,1.57989532273909e-23,6.64875085134482e-21,1.93789987028588e-18,3.9120296480339e-16,5.46956100363338e-14,5.29641897325036e-12,3.55215349323987e-10,1.64998746312772e-8,5.30822220019337e-7,1.18276121069034e-5,0.000182525941505565,0.00195088671641474,0.0144419654575653,0.0740617108940468,0.263568181734998,0.65773788580315,1.19709189430407,1.71223994004219,1.98693480958345,1.85477594687479,1.3878263301976,0.593506002098651,0.100087578651685,0.0063892022750016,0.000298515850969514,0.000675868004261219,0.00407369923373621,0.0143889416184963,0.0293638721177348,0.034618012001502,0.0235773459370994,0.00927666119098912,0.0021085915549976,0.000276883590687558,2.10041911454335e-5,9.20489191563831e-7,2.33042651445003e-8,3.40844366463312e-10,2.87992259867338e-12,1.40575455420235e-14,3.96407780999469e-17,6.45771434096668e-20,6.07742317091642e-23}</c:f>
              <c:numCache>
                <c:formatCode>General</c:formatCode>
                <c:ptCount val="49"/>
                <c:pt idx="0">
                  <c:v>1.27065588436352e-42</c:v>
                </c:pt>
                <c:pt idx="1">
                  <c:v>4.84465128990157e-39</c:v>
                </c:pt>
                <c:pt idx="2">
                  <c:v>1.27931243873895e-35</c:v>
                </c:pt>
                <c:pt idx="3">
                  <c:v>2.33975428620988e-32</c:v>
                </c:pt>
                <c:pt idx="4">
                  <c:v>2.96376257502248e-29</c:v>
                </c:pt>
                <c:pt idx="5">
                  <c:v>2.60013619534792e-26</c:v>
                </c:pt>
                <c:pt idx="6">
                  <c:v>1.57989532273909e-23</c:v>
                </c:pt>
                <c:pt idx="7">
                  <c:v>6.64875085134482e-21</c:v>
                </c:pt>
                <c:pt idx="8">
                  <c:v>1.93789987028588e-18</c:v>
                </c:pt>
                <c:pt idx="9">
                  <c:v>3.9120296480339e-16</c:v>
                </c:pt>
                <c:pt idx="10">
                  <c:v>5.46956100363338e-14</c:v>
                </c:pt>
                <c:pt idx="11">
                  <c:v>5.29641897325036e-12</c:v>
                </c:pt>
                <c:pt idx="12">
                  <c:v>3.55215349323987e-10</c:v>
                </c:pt>
                <c:pt idx="13">
                  <c:v>1.64998746312772e-8</c:v>
                </c:pt>
                <c:pt idx="14">
                  <c:v>5.30822220019337e-7</c:v>
                </c:pt>
                <c:pt idx="15">
                  <c:v>1.18276121069034e-5</c:v>
                </c:pt>
                <c:pt idx="16">
                  <c:v>0.000182525941505565</c:v>
                </c:pt>
                <c:pt idx="17">
                  <c:v>0.00195088671641474</c:v>
                </c:pt>
                <c:pt idx="18">
                  <c:v>0.0144419654575653</c:v>
                </c:pt>
                <c:pt idx="19">
                  <c:v>0.0740617108940468</c:v>
                </c:pt>
                <c:pt idx="20">
                  <c:v>0.263568181734998</c:v>
                </c:pt>
                <c:pt idx="21">
                  <c:v>0.65773788580315</c:v>
                </c:pt>
                <c:pt idx="22">
                  <c:v>1.19709189430407</c:v>
                </c:pt>
                <c:pt idx="23">
                  <c:v>1.71223994004219</c:v>
                </c:pt>
                <c:pt idx="24">
                  <c:v>1.98693480958345</c:v>
                </c:pt>
                <c:pt idx="25">
                  <c:v>1.85477594687479</c:v>
                </c:pt>
                <c:pt idx="26">
                  <c:v>1.3878263301976</c:v>
                </c:pt>
                <c:pt idx="27">
                  <c:v>0.593506002098651</c:v>
                </c:pt>
                <c:pt idx="28">
                  <c:v>0.100087578651685</c:v>
                </c:pt>
                <c:pt idx="29">
                  <c:v>0.0063892022750016</c:v>
                </c:pt>
                <c:pt idx="30">
                  <c:v>0.000298515850969514</c:v>
                </c:pt>
                <c:pt idx="31">
                  <c:v>0.000675868004261219</c:v>
                </c:pt>
                <c:pt idx="32">
                  <c:v>0.00407369923373621</c:v>
                </c:pt>
                <c:pt idx="33">
                  <c:v>0.0143889416184963</c:v>
                </c:pt>
                <c:pt idx="34">
                  <c:v>0.0293638721177348</c:v>
                </c:pt>
                <c:pt idx="35">
                  <c:v>0.034618012001502</c:v>
                </c:pt>
                <c:pt idx="36">
                  <c:v>0.0235773459370994</c:v>
                </c:pt>
                <c:pt idx="37">
                  <c:v>0.00927666119098912</c:v>
                </c:pt>
                <c:pt idx="38">
                  <c:v>0.0021085915549976</c:v>
                </c:pt>
                <c:pt idx="39">
                  <c:v>0.000276883590687558</c:v>
                </c:pt>
                <c:pt idx="40">
                  <c:v>2.10041911454335e-5</c:v>
                </c:pt>
                <c:pt idx="41">
                  <c:v>9.20489191563831e-7</c:v>
                </c:pt>
                <c:pt idx="42">
                  <c:v>2.33042651445003e-8</c:v>
                </c:pt>
                <c:pt idx="43">
                  <c:v>3.40844366463312e-10</c:v>
                </c:pt>
                <c:pt idx="44">
                  <c:v>2.87992259867338e-12</c:v>
                </c:pt>
                <c:pt idx="45">
                  <c:v>1.40575455420235e-14</c:v>
                </c:pt>
                <c:pt idx="46">
                  <c:v>3.96407780999469e-17</c:v>
                </c:pt>
                <c:pt idx="47">
                  <c:v>6.45771434096668e-20</c:v>
                </c:pt>
                <c:pt idx="48">
                  <c:v>6.07742317091642e-23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v / c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normalized fₑ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4c7e376e-083c-4264-80f8-833252fd9600}"/>
      </c:ext>
    </c:extLst>
  </c:chart>
  <c:spPr>
    <a:solidFill>
      <a:srgbClr val="FFFFFF"/>
    </a:solidFill>
    <a:ln w="9525">
      <a:solidFill>
        <a:srgbClr val="D8D8D8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solidFill>
                  <a:srgbClr val="C8161E"/>
                </a:solidFill>
              </a:rPr>
              <a:t>80 个模式：Re(Fₑ) 与 Im(Fₑ)</a:t>
            </a:r>
            <a:endParaRPr sz="1275" b="1">
              <a:solidFill>
                <a:srgbClr val="C8161E"/>
              </a:solidFill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Re</c:f>
              <c:strCache>
                <c:ptCount val="1"/>
                <c:pt idx="0">
                  <c:v>Re</c:v>
                </c:pt>
              </c:strCache>
            </c:strRef>
          </c:tx>
          <c:spPr>
            <a:ln w="19050" cap="rnd">
              <a:solidFill>
                <a:srgbClr val="C8161E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dLbl>
              <c:idx val="49"/>
              <c:delete val="1"/>
            </c:dLbl>
            <c:dLbl>
              <c:idx val="50"/>
              <c:delete val="1"/>
            </c:dLbl>
            <c:dLbl>
              <c:idx val="51"/>
              <c:delete val="1"/>
            </c:dLbl>
            <c:dLbl>
              <c:idx val="52"/>
              <c:delete val="1"/>
            </c:dLbl>
            <c:dLbl>
              <c:idx val="53"/>
              <c:delete val="1"/>
            </c:dLbl>
            <c:dLbl>
              <c:idx val="54"/>
              <c:delete val="1"/>
            </c:dLbl>
            <c:dLbl>
              <c:idx val="55"/>
              <c:delete val="1"/>
            </c:dLbl>
            <c:dLbl>
              <c:idx val="56"/>
              <c:delete val="1"/>
            </c:dLbl>
            <c:dLbl>
              <c:idx val="57"/>
              <c:delete val="1"/>
            </c:dLbl>
            <c:dLbl>
              <c:idx val="58"/>
              <c:delete val="1"/>
            </c:dLbl>
            <c:dLbl>
              <c:idx val="59"/>
              <c:delete val="1"/>
            </c:dLbl>
            <c:dLbl>
              <c:idx val="60"/>
              <c:delete val="1"/>
            </c:dLbl>
            <c:dLbl>
              <c:idx val="61"/>
              <c:delete val="1"/>
            </c:dLbl>
            <c:dLbl>
              <c:idx val="62"/>
              <c:delete val="1"/>
            </c:dLbl>
            <c:dLbl>
              <c:idx val="63"/>
              <c:delete val="1"/>
            </c:dLbl>
            <c:dLbl>
              <c:idx val="64"/>
              <c:delete val="1"/>
            </c:dLbl>
            <c:dLbl>
              <c:idx val="65"/>
              <c:delete val="1"/>
            </c:dLbl>
            <c:dLbl>
              <c:idx val="66"/>
              <c:delete val="1"/>
            </c:dLbl>
            <c:dLbl>
              <c:idx val="67"/>
              <c:delete val="1"/>
            </c:dLbl>
            <c:dLbl>
              <c:idx val="68"/>
              <c:delete val="1"/>
            </c:dLbl>
            <c:dLbl>
              <c:idx val="69"/>
              <c:delete val="1"/>
            </c:dLbl>
            <c:dLbl>
              <c:idx val="70"/>
              <c:delete val="1"/>
            </c:dLbl>
            <c:dLbl>
              <c:idx val="71"/>
              <c:delete val="1"/>
            </c:dLbl>
            <c:dLbl>
              <c:idx val="72"/>
              <c:delete val="1"/>
            </c:dLbl>
            <c:dLbl>
              <c:idx val="73"/>
              <c:delete val="1"/>
            </c:dLbl>
            <c:dLbl>
              <c:idx val="74"/>
              <c:delete val="1"/>
            </c:dLbl>
            <c:dLbl>
              <c:idx val="75"/>
              <c:delete val="1"/>
            </c:dLbl>
            <c:dLbl>
              <c:idx val="76"/>
              <c:delete val="1"/>
            </c:dLbl>
            <c:dLbl>
              <c:idx val="77"/>
              <c:delete val="1"/>
            </c:dLbl>
            <c:dLbl>
              <c:idx val="78"/>
              <c:delete val="1"/>
            </c:dLbl>
            <c:dLbl>
              <c:idx val="7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{-40,-39,-38,-37,-36,-35,-34,-33,-32,-31,-30,-29,-28,-27,-26,-25,-24,-23,-22,-21,-20,-19,-18,-17,-16,-15,-14,-13,-12,-11,-10,-9,-8,-7,-6,-5,-4,-3,-2,-1,0,1,2,3,4,5,6,7,8,9,10,11,12,13,14,15,16,17,18,19,20,21,22,23,24,25,26,27,28,29,30,31,32,33,34,35,36,37,38,39}</c:f>
              <c:numCache>
                <c:formatCode>General</c:formatCode>
                <c:ptCount val="80"/>
                <c:pt idx="0">
                  <c:v>-40</c:v>
                </c:pt>
                <c:pt idx="1">
                  <c:v>-39</c:v>
                </c:pt>
                <c:pt idx="2">
                  <c:v>-38</c:v>
                </c:pt>
                <c:pt idx="3">
                  <c:v>-37</c:v>
                </c:pt>
                <c:pt idx="4">
                  <c:v>-36</c:v>
                </c:pt>
                <c:pt idx="5">
                  <c:v>-35</c:v>
                </c:pt>
                <c:pt idx="6">
                  <c:v>-34</c:v>
                </c:pt>
                <c:pt idx="7">
                  <c:v>-33</c:v>
                </c:pt>
                <c:pt idx="8">
                  <c:v>-32</c:v>
                </c:pt>
                <c:pt idx="9">
                  <c:v>-31</c:v>
                </c:pt>
                <c:pt idx="10">
                  <c:v>-30</c:v>
                </c:pt>
                <c:pt idx="11">
                  <c:v>-29</c:v>
                </c:pt>
                <c:pt idx="12">
                  <c:v>-28</c:v>
                </c:pt>
                <c:pt idx="13">
                  <c:v>-27</c:v>
                </c:pt>
                <c:pt idx="14">
                  <c:v>-26</c:v>
                </c:pt>
                <c:pt idx="15">
                  <c:v>-25</c:v>
                </c:pt>
                <c:pt idx="16">
                  <c:v>-24</c:v>
                </c:pt>
                <c:pt idx="17">
                  <c:v>-23</c:v>
                </c:pt>
                <c:pt idx="18">
                  <c:v>-22</c:v>
                </c:pt>
                <c:pt idx="19">
                  <c:v>-21</c:v>
                </c:pt>
                <c:pt idx="20">
                  <c:v>-20</c:v>
                </c:pt>
                <c:pt idx="21">
                  <c:v>-19</c:v>
                </c:pt>
                <c:pt idx="22">
                  <c:v>-18</c:v>
                </c:pt>
                <c:pt idx="23">
                  <c:v>-17</c:v>
                </c:pt>
                <c:pt idx="24">
                  <c:v>-16</c:v>
                </c:pt>
                <c:pt idx="25">
                  <c:v>-15</c:v>
                </c:pt>
                <c:pt idx="26">
                  <c:v>-14</c:v>
                </c:pt>
                <c:pt idx="27">
                  <c:v>-13</c:v>
                </c:pt>
                <c:pt idx="28">
                  <c:v>-12</c:v>
                </c:pt>
                <c:pt idx="29">
                  <c:v>-11</c:v>
                </c:pt>
                <c:pt idx="30">
                  <c:v>-10</c:v>
                </c:pt>
                <c:pt idx="31">
                  <c:v>-9</c:v>
                </c:pt>
                <c:pt idx="32">
                  <c:v>-8</c:v>
                </c:pt>
                <c:pt idx="33">
                  <c:v>-7</c:v>
                </c:pt>
                <c:pt idx="34">
                  <c:v>-6</c:v>
                </c:pt>
                <c:pt idx="35">
                  <c:v>-5</c:v>
                </c:pt>
                <c:pt idx="36">
                  <c:v>-4</c:v>
                </c:pt>
                <c:pt idx="37">
                  <c:v>-3</c:v>
                </c:pt>
                <c:pt idx="38">
                  <c:v>-2</c:v>
                </c:pt>
                <c:pt idx="39">
                  <c:v>-1</c:v>
                </c:pt>
                <c:pt idx="40">
                  <c:v>0</c:v>
                </c:pt>
                <c:pt idx="41">
                  <c:v>1</c:v>
                </c:pt>
                <c:pt idx="42">
                  <c:v>2</c:v>
                </c:pt>
                <c:pt idx="43">
                  <c:v>3</c:v>
                </c:pt>
                <c:pt idx="44">
                  <c:v>4</c:v>
                </c:pt>
                <c:pt idx="45">
                  <c:v>5</c:v>
                </c:pt>
                <c:pt idx="46">
                  <c:v>6</c:v>
                </c:pt>
                <c:pt idx="47">
                  <c:v>7</c:v>
                </c:pt>
                <c:pt idx="48">
                  <c:v>8</c:v>
                </c:pt>
                <c:pt idx="49">
                  <c:v>9</c:v>
                </c:pt>
                <c:pt idx="50">
                  <c:v>10</c:v>
                </c:pt>
                <c:pt idx="51">
                  <c:v>11</c:v>
                </c:pt>
                <c:pt idx="52">
                  <c:v>12</c:v>
                </c:pt>
                <c:pt idx="53">
                  <c:v>13</c:v>
                </c:pt>
                <c:pt idx="54">
                  <c:v>14</c:v>
                </c:pt>
                <c:pt idx="55">
                  <c:v>15</c:v>
                </c:pt>
                <c:pt idx="56">
                  <c:v>16</c:v>
                </c:pt>
                <c:pt idx="57">
                  <c:v>17</c:v>
                </c:pt>
                <c:pt idx="58">
                  <c:v>18</c:v>
                </c:pt>
                <c:pt idx="59">
                  <c:v>19</c:v>
                </c:pt>
                <c:pt idx="60">
                  <c:v>20</c:v>
                </c:pt>
                <c:pt idx="61">
                  <c:v>21</c:v>
                </c:pt>
                <c:pt idx="62">
                  <c:v>22</c:v>
                </c:pt>
                <c:pt idx="63">
                  <c:v>23</c:v>
                </c:pt>
                <c:pt idx="64">
                  <c:v>24</c:v>
                </c:pt>
                <c:pt idx="65">
                  <c:v>25</c:v>
                </c:pt>
                <c:pt idx="66">
                  <c:v>26</c:v>
                </c:pt>
                <c:pt idx="67">
                  <c:v>27</c:v>
                </c:pt>
                <c:pt idx="68">
                  <c:v>28</c:v>
                </c:pt>
                <c:pt idx="69">
                  <c:v>29</c:v>
                </c:pt>
                <c:pt idx="70">
                  <c:v>30</c:v>
                </c:pt>
                <c:pt idx="71">
                  <c:v>31</c:v>
                </c:pt>
                <c:pt idx="72">
                  <c:v>32</c:v>
                </c:pt>
                <c:pt idx="73">
                  <c:v>33</c:v>
                </c:pt>
                <c:pt idx="74">
                  <c:v>34</c:v>
                </c:pt>
                <c:pt idx="75">
                  <c:v>35</c:v>
                </c:pt>
                <c:pt idx="76">
                  <c:v>36</c:v>
                </c:pt>
                <c:pt idx="77">
                  <c:v>37</c:v>
                </c:pt>
                <c:pt idx="78">
                  <c:v>38</c:v>
                </c:pt>
                <c:pt idx="79">
                  <c:v>39</c:v>
                </c:pt>
              </c:numCache>
            </c:numRef>
          </c:cat>
          <c:val>
            <c:numRef>
              <c:f>{-0.0148556867507283,-0.0134385512676949,-0.0108430781587632,-0.0069753620574552,-0.00180255745845482,0.00463148931891917,0.0121920812371583,0.0206422217823875,0.0296352129380092,0.0387126720630276,0.0473092950212119,0.0547655527599241,0.0603492609817189,0.063286599733889,0.0628026794838043,0.0581711574474967,0.0487717158164228,0.0341534446207519,0.0141013587448967,-0.0112975364200454,-0.0415929810064504,-0.0759200029550923,-0.112962748259853,-0.150939310978758,-0.187613188390869,-0.2203365192031,-0.246129359897328,-0.261797877854403,-0.264092473487825,-0.249904498866297,-0.216497462144666,-0.161765478334739,-0.0845083711941794,0.0152905860626472,0.136201575659713,0.275119954771347,0.427095184310853,0.585240639290258,0.740748010576637,0.883028528320184,1,0.883028528320184,0.740748010576637,0.585240639290258,0.427095184310853,0.275119954771347,0.136201575659713,0.0152905860626472,-0.0845083711941794,-0.161765478334739,-0.216497462144666,-0.249904498866297,-0.264092473487825,-0.261797877854403,-0.246129359897328,-0.2203365192031,-0.187613188390869,-0.150939310978758,-0.112962748259853,-0.0759200029550923,-0.0415929810064504,-0.0112975364200454,0.0141013587448967,0.0341534446207519,0.0487717158164228,0.0581711574474967,0.0628026794838043,0.063286599733889,0.0603492609817189,0.0547655527599241,0.0473092950212119,0.0387126720630276,0.0296352129380092,0.0206422217823875,0.0121920812371583,0.00463148931891917,-0.00180255745845482,-0.0069753620574552,-0.0108430781587632,-0.0134385512676949}</c:f>
              <c:numCache>
                <c:formatCode>General</c:formatCode>
                <c:ptCount val="80"/>
                <c:pt idx="0">
                  <c:v>-0.0148556867507283</c:v>
                </c:pt>
                <c:pt idx="1">
                  <c:v>-0.0134385512676949</c:v>
                </c:pt>
                <c:pt idx="2">
                  <c:v>-0.0108430781587632</c:v>
                </c:pt>
                <c:pt idx="3">
                  <c:v>-0.0069753620574552</c:v>
                </c:pt>
                <c:pt idx="4">
                  <c:v>-0.00180255745845482</c:v>
                </c:pt>
                <c:pt idx="5">
                  <c:v>0.00463148931891917</c:v>
                </c:pt>
                <c:pt idx="6">
                  <c:v>0.0121920812371583</c:v>
                </c:pt>
                <c:pt idx="7">
                  <c:v>0.0206422217823875</c:v>
                </c:pt>
                <c:pt idx="8">
                  <c:v>0.0296352129380092</c:v>
                </c:pt>
                <c:pt idx="9">
                  <c:v>0.0387126720630276</c:v>
                </c:pt>
                <c:pt idx="10">
                  <c:v>0.0473092950212119</c:v>
                </c:pt>
                <c:pt idx="11">
                  <c:v>0.0547655527599241</c:v>
                </c:pt>
                <c:pt idx="12">
                  <c:v>0.0603492609817189</c:v>
                </c:pt>
                <c:pt idx="13">
                  <c:v>0.063286599733889</c:v>
                </c:pt>
                <c:pt idx="14">
                  <c:v>0.0628026794838043</c:v>
                </c:pt>
                <c:pt idx="15">
                  <c:v>0.0581711574474967</c:v>
                </c:pt>
                <c:pt idx="16">
                  <c:v>0.0487717158164228</c:v>
                </c:pt>
                <c:pt idx="17">
                  <c:v>0.0341534446207519</c:v>
                </c:pt>
                <c:pt idx="18">
                  <c:v>0.0141013587448967</c:v>
                </c:pt>
                <c:pt idx="19">
                  <c:v>-0.0112975364200454</c:v>
                </c:pt>
                <c:pt idx="20">
                  <c:v>-0.0415929810064504</c:v>
                </c:pt>
                <c:pt idx="21">
                  <c:v>-0.0759200029550923</c:v>
                </c:pt>
                <c:pt idx="22">
                  <c:v>-0.112962748259853</c:v>
                </c:pt>
                <c:pt idx="23">
                  <c:v>-0.150939310978758</c:v>
                </c:pt>
                <c:pt idx="24">
                  <c:v>-0.187613188390869</c:v>
                </c:pt>
                <c:pt idx="25">
                  <c:v>-0.2203365192031</c:v>
                </c:pt>
                <c:pt idx="26">
                  <c:v>-0.246129359897328</c:v>
                </c:pt>
                <c:pt idx="27">
                  <c:v>-0.261797877854403</c:v>
                </c:pt>
                <c:pt idx="28">
                  <c:v>-0.264092473487825</c:v>
                </c:pt>
                <c:pt idx="29">
                  <c:v>-0.249904498866297</c:v>
                </c:pt>
                <c:pt idx="30">
                  <c:v>-0.216497462144666</c:v>
                </c:pt>
                <c:pt idx="31">
                  <c:v>-0.161765478334739</c:v>
                </c:pt>
                <c:pt idx="32">
                  <c:v>-0.0845083711941794</c:v>
                </c:pt>
                <c:pt idx="33">
                  <c:v>0.0152905860626472</c:v>
                </c:pt>
                <c:pt idx="34">
                  <c:v>0.136201575659713</c:v>
                </c:pt>
                <c:pt idx="35">
                  <c:v>0.275119954771347</c:v>
                </c:pt>
                <c:pt idx="36">
                  <c:v>0.427095184310853</c:v>
                </c:pt>
                <c:pt idx="37">
                  <c:v>0.585240639290258</c:v>
                </c:pt>
                <c:pt idx="38">
                  <c:v>0.740748010576637</c:v>
                </c:pt>
                <c:pt idx="39">
                  <c:v>0.883028528320184</c:v>
                </c:pt>
                <c:pt idx="40">
                  <c:v>1</c:v>
                </c:pt>
                <c:pt idx="41">
                  <c:v>0.883028528320184</c:v>
                </c:pt>
                <c:pt idx="42">
                  <c:v>0.740748010576637</c:v>
                </c:pt>
                <c:pt idx="43">
                  <c:v>0.585240639290258</c:v>
                </c:pt>
                <c:pt idx="44">
                  <c:v>0.427095184310853</c:v>
                </c:pt>
                <c:pt idx="45">
                  <c:v>0.275119954771347</c:v>
                </c:pt>
                <c:pt idx="46">
                  <c:v>0.136201575659713</c:v>
                </c:pt>
                <c:pt idx="47">
                  <c:v>0.0152905860626472</c:v>
                </c:pt>
                <c:pt idx="48">
                  <c:v>-0.0845083711941794</c:v>
                </c:pt>
                <c:pt idx="49">
                  <c:v>-0.161765478334739</c:v>
                </c:pt>
                <c:pt idx="50">
                  <c:v>-0.216497462144666</c:v>
                </c:pt>
                <c:pt idx="51">
                  <c:v>-0.249904498866297</c:v>
                </c:pt>
                <c:pt idx="52">
                  <c:v>-0.264092473487825</c:v>
                </c:pt>
                <c:pt idx="53">
                  <c:v>-0.261797877854403</c:v>
                </c:pt>
                <c:pt idx="54">
                  <c:v>-0.246129359897328</c:v>
                </c:pt>
                <c:pt idx="55">
                  <c:v>-0.2203365192031</c:v>
                </c:pt>
                <c:pt idx="56">
                  <c:v>-0.187613188390869</c:v>
                </c:pt>
                <c:pt idx="57">
                  <c:v>-0.150939310978758</c:v>
                </c:pt>
                <c:pt idx="58">
                  <c:v>-0.112962748259853</c:v>
                </c:pt>
                <c:pt idx="59">
                  <c:v>-0.0759200029550923</c:v>
                </c:pt>
                <c:pt idx="60">
                  <c:v>-0.0415929810064504</c:v>
                </c:pt>
                <c:pt idx="61">
                  <c:v>-0.0112975364200454</c:v>
                </c:pt>
                <c:pt idx="62">
                  <c:v>0.0141013587448967</c:v>
                </c:pt>
                <c:pt idx="63">
                  <c:v>0.0341534446207519</c:v>
                </c:pt>
                <c:pt idx="64">
                  <c:v>0.0487717158164228</c:v>
                </c:pt>
                <c:pt idx="65">
                  <c:v>0.0581711574474967</c:v>
                </c:pt>
                <c:pt idx="66">
                  <c:v>0.0628026794838043</c:v>
                </c:pt>
                <c:pt idx="67">
                  <c:v>0.063286599733889</c:v>
                </c:pt>
                <c:pt idx="68">
                  <c:v>0.0603492609817189</c:v>
                </c:pt>
                <c:pt idx="69">
                  <c:v>0.0547655527599241</c:v>
                </c:pt>
                <c:pt idx="70">
                  <c:v>0.0473092950212119</c:v>
                </c:pt>
                <c:pt idx="71">
                  <c:v>0.0387126720630276</c:v>
                </c:pt>
                <c:pt idx="72">
                  <c:v>0.0296352129380092</c:v>
                </c:pt>
                <c:pt idx="73">
                  <c:v>0.0206422217823875</c:v>
                </c:pt>
                <c:pt idx="74">
                  <c:v>0.0121920812371583</c:v>
                </c:pt>
                <c:pt idx="75">
                  <c:v>0.00463148931891917</c:v>
                </c:pt>
                <c:pt idx="76">
                  <c:v>-0.00180255745845482</c:v>
                </c:pt>
                <c:pt idx="77">
                  <c:v>-0.0069753620574552</c:v>
                </c:pt>
                <c:pt idx="78">
                  <c:v>-0.0108430781587632</c:v>
                </c:pt>
                <c:pt idx="79">
                  <c:v>-0.0134385512676949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Im</c:f>
              <c:strCache>
                <c:ptCount val="1"/>
                <c:pt idx="0">
                  <c:v>Im</c:v>
                </c:pt>
              </c:strCache>
            </c:strRef>
          </c:tx>
          <c:spPr>
            <a:ln w="19050" cap="rnd">
              <a:solidFill>
                <a:srgbClr val="44546A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dLbl>
              <c:idx val="49"/>
              <c:delete val="1"/>
            </c:dLbl>
            <c:dLbl>
              <c:idx val="50"/>
              <c:delete val="1"/>
            </c:dLbl>
            <c:dLbl>
              <c:idx val="51"/>
              <c:delete val="1"/>
            </c:dLbl>
            <c:dLbl>
              <c:idx val="52"/>
              <c:delete val="1"/>
            </c:dLbl>
            <c:dLbl>
              <c:idx val="53"/>
              <c:delete val="1"/>
            </c:dLbl>
            <c:dLbl>
              <c:idx val="54"/>
              <c:delete val="1"/>
            </c:dLbl>
            <c:dLbl>
              <c:idx val="55"/>
              <c:delete val="1"/>
            </c:dLbl>
            <c:dLbl>
              <c:idx val="56"/>
              <c:delete val="1"/>
            </c:dLbl>
            <c:dLbl>
              <c:idx val="57"/>
              <c:delete val="1"/>
            </c:dLbl>
            <c:dLbl>
              <c:idx val="58"/>
              <c:delete val="1"/>
            </c:dLbl>
            <c:dLbl>
              <c:idx val="59"/>
              <c:delete val="1"/>
            </c:dLbl>
            <c:dLbl>
              <c:idx val="60"/>
              <c:delete val="1"/>
            </c:dLbl>
            <c:dLbl>
              <c:idx val="61"/>
              <c:delete val="1"/>
            </c:dLbl>
            <c:dLbl>
              <c:idx val="62"/>
              <c:delete val="1"/>
            </c:dLbl>
            <c:dLbl>
              <c:idx val="63"/>
              <c:delete val="1"/>
            </c:dLbl>
            <c:dLbl>
              <c:idx val="64"/>
              <c:delete val="1"/>
            </c:dLbl>
            <c:dLbl>
              <c:idx val="65"/>
              <c:delete val="1"/>
            </c:dLbl>
            <c:dLbl>
              <c:idx val="66"/>
              <c:delete val="1"/>
            </c:dLbl>
            <c:dLbl>
              <c:idx val="67"/>
              <c:delete val="1"/>
            </c:dLbl>
            <c:dLbl>
              <c:idx val="68"/>
              <c:delete val="1"/>
            </c:dLbl>
            <c:dLbl>
              <c:idx val="69"/>
              <c:delete val="1"/>
            </c:dLbl>
            <c:dLbl>
              <c:idx val="70"/>
              <c:delete val="1"/>
            </c:dLbl>
            <c:dLbl>
              <c:idx val="71"/>
              <c:delete val="1"/>
            </c:dLbl>
            <c:dLbl>
              <c:idx val="72"/>
              <c:delete val="1"/>
            </c:dLbl>
            <c:dLbl>
              <c:idx val="73"/>
              <c:delete val="1"/>
            </c:dLbl>
            <c:dLbl>
              <c:idx val="74"/>
              <c:delete val="1"/>
            </c:dLbl>
            <c:dLbl>
              <c:idx val="75"/>
              <c:delete val="1"/>
            </c:dLbl>
            <c:dLbl>
              <c:idx val="76"/>
              <c:delete val="1"/>
            </c:dLbl>
            <c:dLbl>
              <c:idx val="77"/>
              <c:delete val="1"/>
            </c:dLbl>
            <c:dLbl>
              <c:idx val="78"/>
              <c:delete val="1"/>
            </c:dLbl>
            <c:dLbl>
              <c:idx val="7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{-40,-39,-38,-37,-36,-35,-34,-33,-32,-31,-30,-29,-28,-27,-26,-25,-24,-23,-22,-21,-20,-19,-18,-17,-16,-15,-14,-13,-12,-11,-10,-9,-8,-7,-6,-5,-4,-3,-2,-1,0,1,2,3,4,5,6,7,8,9,10,11,12,13,14,15,16,17,18,19,20,21,22,23,24,25,26,27,28,29,30,31,32,33,34,35,36,37,38,39}</c:f>
              <c:numCache>
                <c:formatCode>General</c:formatCode>
                <c:ptCount val="80"/>
                <c:pt idx="0">
                  <c:v>-40</c:v>
                </c:pt>
                <c:pt idx="1">
                  <c:v>-39</c:v>
                </c:pt>
                <c:pt idx="2">
                  <c:v>-38</c:v>
                </c:pt>
                <c:pt idx="3">
                  <c:v>-37</c:v>
                </c:pt>
                <c:pt idx="4">
                  <c:v>-36</c:v>
                </c:pt>
                <c:pt idx="5">
                  <c:v>-35</c:v>
                </c:pt>
                <c:pt idx="6">
                  <c:v>-34</c:v>
                </c:pt>
                <c:pt idx="7">
                  <c:v>-33</c:v>
                </c:pt>
                <c:pt idx="8">
                  <c:v>-32</c:v>
                </c:pt>
                <c:pt idx="9">
                  <c:v>-31</c:v>
                </c:pt>
                <c:pt idx="10">
                  <c:v>-30</c:v>
                </c:pt>
                <c:pt idx="11">
                  <c:v>-29</c:v>
                </c:pt>
                <c:pt idx="12">
                  <c:v>-28</c:v>
                </c:pt>
                <c:pt idx="13">
                  <c:v>-27</c:v>
                </c:pt>
                <c:pt idx="14">
                  <c:v>-26</c:v>
                </c:pt>
                <c:pt idx="15">
                  <c:v>-25</c:v>
                </c:pt>
                <c:pt idx="16">
                  <c:v>-24</c:v>
                </c:pt>
                <c:pt idx="17">
                  <c:v>-23</c:v>
                </c:pt>
                <c:pt idx="18">
                  <c:v>-22</c:v>
                </c:pt>
                <c:pt idx="19">
                  <c:v>-21</c:v>
                </c:pt>
                <c:pt idx="20">
                  <c:v>-20</c:v>
                </c:pt>
                <c:pt idx="21">
                  <c:v>-19</c:v>
                </c:pt>
                <c:pt idx="22">
                  <c:v>-18</c:v>
                </c:pt>
                <c:pt idx="23">
                  <c:v>-17</c:v>
                </c:pt>
                <c:pt idx="24">
                  <c:v>-16</c:v>
                </c:pt>
                <c:pt idx="25">
                  <c:v>-15</c:v>
                </c:pt>
                <c:pt idx="26">
                  <c:v>-14</c:v>
                </c:pt>
                <c:pt idx="27">
                  <c:v>-13</c:v>
                </c:pt>
                <c:pt idx="28">
                  <c:v>-12</c:v>
                </c:pt>
                <c:pt idx="29">
                  <c:v>-11</c:v>
                </c:pt>
                <c:pt idx="30">
                  <c:v>-10</c:v>
                </c:pt>
                <c:pt idx="31">
                  <c:v>-9</c:v>
                </c:pt>
                <c:pt idx="32">
                  <c:v>-8</c:v>
                </c:pt>
                <c:pt idx="33">
                  <c:v>-7</c:v>
                </c:pt>
                <c:pt idx="34">
                  <c:v>-6</c:v>
                </c:pt>
                <c:pt idx="35">
                  <c:v>-5</c:v>
                </c:pt>
                <c:pt idx="36">
                  <c:v>-4</c:v>
                </c:pt>
                <c:pt idx="37">
                  <c:v>-3</c:v>
                </c:pt>
                <c:pt idx="38">
                  <c:v>-2</c:v>
                </c:pt>
                <c:pt idx="39">
                  <c:v>-1</c:v>
                </c:pt>
                <c:pt idx="40">
                  <c:v>0</c:v>
                </c:pt>
                <c:pt idx="41">
                  <c:v>1</c:v>
                </c:pt>
                <c:pt idx="42">
                  <c:v>2</c:v>
                </c:pt>
                <c:pt idx="43">
                  <c:v>3</c:v>
                </c:pt>
                <c:pt idx="44">
                  <c:v>4</c:v>
                </c:pt>
                <c:pt idx="45">
                  <c:v>5</c:v>
                </c:pt>
                <c:pt idx="46">
                  <c:v>6</c:v>
                </c:pt>
                <c:pt idx="47">
                  <c:v>7</c:v>
                </c:pt>
                <c:pt idx="48">
                  <c:v>8</c:v>
                </c:pt>
                <c:pt idx="49">
                  <c:v>9</c:v>
                </c:pt>
                <c:pt idx="50">
                  <c:v>10</c:v>
                </c:pt>
                <c:pt idx="51">
                  <c:v>11</c:v>
                </c:pt>
                <c:pt idx="52">
                  <c:v>12</c:v>
                </c:pt>
                <c:pt idx="53">
                  <c:v>13</c:v>
                </c:pt>
                <c:pt idx="54">
                  <c:v>14</c:v>
                </c:pt>
                <c:pt idx="55">
                  <c:v>15</c:v>
                </c:pt>
                <c:pt idx="56">
                  <c:v>16</c:v>
                </c:pt>
                <c:pt idx="57">
                  <c:v>17</c:v>
                </c:pt>
                <c:pt idx="58">
                  <c:v>18</c:v>
                </c:pt>
                <c:pt idx="59">
                  <c:v>19</c:v>
                </c:pt>
                <c:pt idx="60">
                  <c:v>20</c:v>
                </c:pt>
                <c:pt idx="61">
                  <c:v>21</c:v>
                </c:pt>
                <c:pt idx="62">
                  <c:v>22</c:v>
                </c:pt>
                <c:pt idx="63">
                  <c:v>23</c:v>
                </c:pt>
                <c:pt idx="64">
                  <c:v>24</c:v>
                </c:pt>
                <c:pt idx="65">
                  <c:v>25</c:v>
                </c:pt>
                <c:pt idx="66">
                  <c:v>26</c:v>
                </c:pt>
                <c:pt idx="67">
                  <c:v>27</c:v>
                </c:pt>
                <c:pt idx="68">
                  <c:v>28</c:v>
                </c:pt>
                <c:pt idx="69">
                  <c:v>29</c:v>
                </c:pt>
                <c:pt idx="70">
                  <c:v>30</c:v>
                </c:pt>
                <c:pt idx="71">
                  <c:v>31</c:v>
                </c:pt>
                <c:pt idx="72">
                  <c:v>32</c:v>
                </c:pt>
                <c:pt idx="73">
                  <c:v>33</c:v>
                </c:pt>
                <c:pt idx="74">
                  <c:v>34</c:v>
                </c:pt>
                <c:pt idx="75">
                  <c:v>35</c:v>
                </c:pt>
                <c:pt idx="76">
                  <c:v>36</c:v>
                </c:pt>
                <c:pt idx="77">
                  <c:v>37</c:v>
                </c:pt>
                <c:pt idx="78">
                  <c:v>38</c:v>
                </c:pt>
                <c:pt idx="79">
                  <c:v>39</c:v>
                </c:pt>
              </c:numCache>
            </c:numRef>
          </c:cat>
          <c:val>
            <c:numRef>
              <c:f>{-0.00642787925089055,-0.00908242890255225,-0.0117403778565293,-0.0142314774604366,-0.0163585199267792,-0.0179040570264834,-0.0186399085046703,-0.0183394661393527,-0.0167926208146734,-0.013822933006169,-0.00930643869879486,-0.00319124293329165,0.00448318520246402,0.0135683235966963,0.0237920077620514,0.0347485659921304,0.0458953597079614,0.0565573697006986,0.0659413145945834,0.0731605036674404,0.0772712017190314,0.0773207152235879,0.072406701230166,0.061746368072707,0.0447533058808427,0.0211186931981449,-0.00910737590252168,-0.0454396497730266,-0.0868925931546421,-0.131933028204232,-0.178457523135763,-0.223801462387222,-0.264786229153622,-0.29780990294315,-0.318985271402936,-0.32432675282329,-0.309985032471008,-0.272524881209361,-0.209237843399471,-0.118477397212473,0,0.118477397212473,0.209237843399471,0.272524881209361,0.309985032471008,0.32432675282329,0.318985271402936,0.29780990294315,0.264786229153622,0.223801462387222,0.178457523135763,0.131933028204232,0.0868925931546421,0.0454396497730266,0.00910737590252168,-0.0211186931981449,-0.0447533058808427,-0.061746368072707,-0.072406701230166,-0.0773207152235879,-0.0772712017190314,-0.0731605036674404,-0.0659413145945834,-0.0565573697006986,-0.0458953597079614,-0.0347485659921304,-0.0237920077620514,-0.0135683235966963,-0.00448318520246402,0.00319124293329165,0.00930643869879486,0.013822933006169,0.0167926208146734,0.0183394661393527,0.0186399085046703,0.0179040570264834,0.0163585199267792,0.0142314774604366,0.0117403778565293,0.00908242890255225}</c:f>
              <c:numCache>
                <c:formatCode>General</c:formatCode>
                <c:ptCount val="80"/>
                <c:pt idx="0">
                  <c:v>-0.00642787925089055</c:v>
                </c:pt>
                <c:pt idx="1">
                  <c:v>-0.00908242890255225</c:v>
                </c:pt>
                <c:pt idx="2">
                  <c:v>-0.0117403778565293</c:v>
                </c:pt>
                <c:pt idx="3">
                  <c:v>-0.0142314774604366</c:v>
                </c:pt>
                <c:pt idx="4">
                  <c:v>-0.0163585199267792</c:v>
                </c:pt>
                <c:pt idx="5">
                  <c:v>-0.0179040570264834</c:v>
                </c:pt>
                <c:pt idx="6">
                  <c:v>-0.0186399085046703</c:v>
                </c:pt>
                <c:pt idx="7">
                  <c:v>-0.0183394661393527</c:v>
                </c:pt>
                <c:pt idx="8">
                  <c:v>-0.0167926208146734</c:v>
                </c:pt>
                <c:pt idx="9">
                  <c:v>-0.013822933006169</c:v>
                </c:pt>
                <c:pt idx="10">
                  <c:v>-0.00930643869879486</c:v>
                </c:pt>
                <c:pt idx="11">
                  <c:v>-0.00319124293329165</c:v>
                </c:pt>
                <c:pt idx="12">
                  <c:v>0.00448318520246402</c:v>
                </c:pt>
                <c:pt idx="13">
                  <c:v>0.0135683235966963</c:v>
                </c:pt>
                <c:pt idx="14">
                  <c:v>0.0237920077620514</c:v>
                </c:pt>
                <c:pt idx="15">
                  <c:v>0.0347485659921304</c:v>
                </c:pt>
                <c:pt idx="16">
                  <c:v>0.0458953597079614</c:v>
                </c:pt>
                <c:pt idx="17">
                  <c:v>0.0565573697006986</c:v>
                </c:pt>
                <c:pt idx="18">
                  <c:v>0.0659413145945834</c:v>
                </c:pt>
                <c:pt idx="19">
                  <c:v>0.0731605036674404</c:v>
                </c:pt>
                <c:pt idx="20">
                  <c:v>0.0772712017190314</c:v>
                </c:pt>
                <c:pt idx="21">
                  <c:v>0.0773207152235879</c:v>
                </c:pt>
                <c:pt idx="22">
                  <c:v>0.072406701230166</c:v>
                </c:pt>
                <c:pt idx="23">
                  <c:v>0.061746368072707</c:v>
                </c:pt>
                <c:pt idx="24">
                  <c:v>0.0447533058808427</c:v>
                </c:pt>
                <c:pt idx="25">
                  <c:v>0.0211186931981449</c:v>
                </c:pt>
                <c:pt idx="26">
                  <c:v>-0.00910737590252168</c:v>
                </c:pt>
                <c:pt idx="27">
                  <c:v>-0.0454396497730266</c:v>
                </c:pt>
                <c:pt idx="28">
                  <c:v>-0.0868925931546421</c:v>
                </c:pt>
                <c:pt idx="29">
                  <c:v>-0.131933028204232</c:v>
                </c:pt>
                <c:pt idx="30">
                  <c:v>-0.178457523135763</c:v>
                </c:pt>
                <c:pt idx="31">
                  <c:v>-0.223801462387222</c:v>
                </c:pt>
                <c:pt idx="32">
                  <c:v>-0.264786229153622</c:v>
                </c:pt>
                <c:pt idx="33">
                  <c:v>-0.29780990294315</c:v>
                </c:pt>
                <c:pt idx="34">
                  <c:v>-0.318985271402936</c:v>
                </c:pt>
                <c:pt idx="35">
                  <c:v>-0.32432675282329</c:v>
                </c:pt>
                <c:pt idx="36">
                  <c:v>-0.309985032471008</c:v>
                </c:pt>
                <c:pt idx="37">
                  <c:v>-0.272524881209361</c:v>
                </c:pt>
                <c:pt idx="38">
                  <c:v>-0.209237843399471</c:v>
                </c:pt>
                <c:pt idx="39">
                  <c:v>-0.118477397212473</c:v>
                </c:pt>
                <c:pt idx="40">
                  <c:v>0</c:v>
                </c:pt>
                <c:pt idx="41">
                  <c:v>0.118477397212473</c:v>
                </c:pt>
                <c:pt idx="42">
                  <c:v>0.209237843399471</c:v>
                </c:pt>
                <c:pt idx="43">
                  <c:v>0.272524881209361</c:v>
                </c:pt>
                <c:pt idx="44">
                  <c:v>0.309985032471008</c:v>
                </c:pt>
                <c:pt idx="45">
                  <c:v>0.32432675282329</c:v>
                </c:pt>
                <c:pt idx="46">
                  <c:v>0.318985271402936</c:v>
                </c:pt>
                <c:pt idx="47">
                  <c:v>0.29780990294315</c:v>
                </c:pt>
                <c:pt idx="48">
                  <c:v>0.264786229153622</c:v>
                </c:pt>
                <c:pt idx="49">
                  <c:v>0.223801462387222</c:v>
                </c:pt>
                <c:pt idx="50">
                  <c:v>0.178457523135763</c:v>
                </c:pt>
                <c:pt idx="51">
                  <c:v>0.131933028204232</c:v>
                </c:pt>
                <c:pt idx="52">
                  <c:v>0.0868925931546421</c:v>
                </c:pt>
                <c:pt idx="53">
                  <c:v>0.0454396497730266</c:v>
                </c:pt>
                <c:pt idx="54">
                  <c:v>0.00910737590252168</c:v>
                </c:pt>
                <c:pt idx="55">
                  <c:v>-0.0211186931981449</c:v>
                </c:pt>
                <c:pt idx="56">
                  <c:v>-0.0447533058808427</c:v>
                </c:pt>
                <c:pt idx="57">
                  <c:v>-0.061746368072707</c:v>
                </c:pt>
                <c:pt idx="58">
                  <c:v>-0.072406701230166</c:v>
                </c:pt>
                <c:pt idx="59">
                  <c:v>-0.0773207152235879</c:v>
                </c:pt>
                <c:pt idx="60">
                  <c:v>-0.0772712017190314</c:v>
                </c:pt>
                <c:pt idx="61">
                  <c:v>-0.0731605036674404</c:v>
                </c:pt>
                <c:pt idx="62">
                  <c:v>-0.0659413145945834</c:v>
                </c:pt>
                <c:pt idx="63">
                  <c:v>-0.0565573697006986</c:v>
                </c:pt>
                <c:pt idx="64">
                  <c:v>-0.0458953597079614</c:v>
                </c:pt>
                <c:pt idx="65">
                  <c:v>-0.0347485659921304</c:v>
                </c:pt>
                <c:pt idx="66">
                  <c:v>-0.0237920077620514</c:v>
                </c:pt>
                <c:pt idx="67">
                  <c:v>-0.0135683235966963</c:v>
                </c:pt>
                <c:pt idx="68">
                  <c:v>-0.00448318520246402</c:v>
                </c:pt>
                <c:pt idx="69">
                  <c:v>0.00319124293329165</c:v>
                </c:pt>
                <c:pt idx="70">
                  <c:v>0.00930643869879486</c:v>
                </c:pt>
                <c:pt idx="71">
                  <c:v>0.013822933006169</c:v>
                </c:pt>
                <c:pt idx="72">
                  <c:v>0.0167926208146734</c:v>
                </c:pt>
                <c:pt idx="73">
                  <c:v>0.0183394661393527</c:v>
                </c:pt>
                <c:pt idx="74">
                  <c:v>0.0186399085046703</c:v>
                </c:pt>
                <c:pt idx="75">
                  <c:v>0.0179040570264834</c:v>
                </c:pt>
                <c:pt idx="76">
                  <c:v>0.0163585199267792</c:v>
                </c:pt>
                <c:pt idx="77">
                  <c:v>0.0142314774604366</c:v>
                </c:pt>
                <c:pt idx="78">
                  <c:v>0.0117403778565293</c:v>
                </c:pt>
                <c:pt idx="79">
                  <c:v>0.00908242890255225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mode index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coefficient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4a91b18-75d3-4ec0-a631-d16d21953d09}"/>
      </c:ext>
    </c:extLst>
  </c:chart>
  <c:spPr>
    <a:solidFill>
      <a:srgbClr val="FFFFFF"/>
    </a:solidFill>
    <a:ln w="9525">
      <a:solidFill>
        <a:srgbClr val="D8D8D8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275" b="1">
                <a:solidFill>
                  <a:srgbClr val="C8161E"/>
                </a:solidFill>
              </a:rPr>
              <a:t>低通约束：保留可辨识的大尺度结构</a:t>
            </a:r>
            <a:endParaRPr sz="1275" b="1">
              <a:solidFill>
                <a:srgbClr val="C8161E"/>
              </a:solidFill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原始 EVDF</c:f>
              <c:strCache>
                <c:ptCount val="1"/>
                <c:pt idx="0">
                  <c:v>原始 EVDF</c:v>
                </c:pt>
              </c:strCache>
            </c:strRef>
          </c:tx>
          <c:spPr>
            <a:ln w="15240" cap="rnd">
              <a:solidFill>
                <a:srgbClr val="999999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{-0.8,-0.77,-0.73,-0.7,-0.67,-0.63,-0.6,-0.57,-0.53,-0.5,-0.47,-0.43,-0.4,-0.37,-0.33,-0.3,-0.27,-0.23,-0.2,-0.17,-0.13,-0.1,-0.07,-0.03,0,0.03,0.07,0.1,0.13,0.17,0.2,0.23,0.27,0.3,0.33,0.37,0.4,0.43,0.47,0.5,0.53,0.57,0.6,0.63,0.67,0.7,0.73,0.77,0.8}</c:f>
              <c:numCache>
                <c:formatCode>General</c:formatCode>
                <c:ptCount val="49"/>
                <c:pt idx="0">
                  <c:v>-0.8</c:v>
                </c:pt>
                <c:pt idx="1">
                  <c:v>-0.77</c:v>
                </c:pt>
                <c:pt idx="2">
                  <c:v>-0.73</c:v>
                </c:pt>
                <c:pt idx="3">
                  <c:v>-0.7</c:v>
                </c:pt>
                <c:pt idx="4">
                  <c:v>-0.67</c:v>
                </c:pt>
                <c:pt idx="5">
                  <c:v>-0.63</c:v>
                </c:pt>
                <c:pt idx="6">
                  <c:v>-0.6</c:v>
                </c:pt>
                <c:pt idx="7">
                  <c:v>-0.57</c:v>
                </c:pt>
                <c:pt idx="8">
                  <c:v>-0.53</c:v>
                </c:pt>
                <c:pt idx="9">
                  <c:v>-0.5</c:v>
                </c:pt>
                <c:pt idx="10">
                  <c:v>-0.47</c:v>
                </c:pt>
                <c:pt idx="11">
                  <c:v>-0.43</c:v>
                </c:pt>
                <c:pt idx="12">
                  <c:v>-0.4</c:v>
                </c:pt>
                <c:pt idx="13">
                  <c:v>-0.37</c:v>
                </c:pt>
                <c:pt idx="14">
                  <c:v>-0.33</c:v>
                </c:pt>
                <c:pt idx="15">
                  <c:v>-0.3</c:v>
                </c:pt>
                <c:pt idx="16">
                  <c:v>-0.27</c:v>
                </c:pt>
                <c:pt idx="17">
                  <c:v>-0.23</c:v>
                </c:pt>
                <c:pt idx="18">
                  <c:v>-0.2</c:v>
                </c:pt>
                <c:pt idx="19">
                  <c:v>-0.17</c:v>
                </c:pt>
                <c:pt idx="20">
                  <c:v>-0.13</c:v>
                </c:pt>
                <c:pt idx="21">
                  <c:v>-0.1</c:v>
                </c:pt>
                <c:pt idx="22">
                  <c:v>-0.07</c:v>
                </c:pt>
                <c:pt idx="23">
                  <c:v>-0.03</c:v>
                </c:pt>
                <c:pt idx="24">
                  <c:v>0</c:v>
                </c:pt>
                <c:pt idx="25">
                  <c:v>0.03</c:v>
                </c:pt>
                <c:pt idx="26">
                  <c:v>0.07</c:v>
                </c:pt>
                <c:pt idx="27">
                  <c:v>0.1</c:v>
                </c:pt>
                <c:pt idx="28">
                  <c:v>0.13</c:v>
                </c:pt>
                <c:pt idx="29">
                  <c:v>0.17</c:v>
                </c:pt>
                <c:pt idx="30">
                  <c:v>0.2</c:v>
                </c:pt>
                <c:pt idx="31">
                  <c:v>0.23</c:v>
                </c:pt>
                <c:pt idx="32">
                  <c:v>0.27</c:v>
                </c:pt>
                <c:pt idx="33">
                  <c:v>0.3</c:v>
                </c:pt>
                <c:pt idx="34">
                  <c:v>0.33</c:v>
                </c:pt>
                <c:pt idx="35">
                  <c:v>0.37</c:v>
                </c:pt>
                <c:pt idx="36">
                  <c:v>0.4</c:v>
                </c:pt>
                <c:pt idx="37">
                  <c:v>0.43</c:v>
                </c:pt>
                <c:pt idx="38">
                  <c:v>0.47</c:v>
                </c:pt>
                <c:pt idx="39">
                  <c:v>0.5</c:v>
                </c:pt>
                <c:pt idx="40">
                  <c:v>0.53</c:v>
                </c:pt>
                <c:pt idx="41">
                  <c:v>0.57</c:v>
                </c:pt>
                <c:pt idx="42">
                  <c:v>0.6</c:v>
                </c:pt>
                <c:pt idx="43">
                  <c:v>0.63</c:v>
                </c:pt>
                <c:pt idx="44">
                  <c:v>0.67</c:v>
                </c:pt>
                <c:pt idx="45">
                  <c:v>0.7</c:v>
                </c:pt>
                <c:pt idx="46">
                  <c:v>0.73</c:v>
                </c:pt>
                <c:pt idx="47">
                  <c:v>0.77</c:v>
                </c:pt>
                <c:pt idx="48">
                  <c:v>0.8</c:v>
                </c:pt>
              </c:numCache>
            </c:numRef>
          </c:cat>
          <c:val>
            <c:numRef>
              <c:f>{1.27065588436352e-42,4.84465128990157e-39,1.27931243873895e-35,2.33975428620988e-32,2.96376257502248e-29,2.60013619534792e-26,1.57989532273909e-23,6.64875085134482e-21,1.93789987028588e-18,3.9120296480339e-16,5.46956100363338e-14,5.29641897325036e-12,3.55215349323987e-10,1.64998746312772e-8,5.30822220019337e-7,1.18276121069034e-5,0.000182525941505565,0.00195088671641474,0.0144419654575653,0.0740617108940468,0.263568181734998,0.65773788580315,1.19709189430407,1.71223994004219,1.98693480958345,1.85477594687479,1.3878263301976,0.593506002098651,0.100087578651685,0.0063892022750016,0.000298515850969514,0.000675868004261219,0.00407369923373621,0.0143889416184963,0.0293638721177348,0.034618012001502,0.0235773459370994,0.00927666119098912,0.0021085915549976,0.000276883590687558,2.10041911454335e-5,9.20489191563831e-7,2.33042651445003e-8,3.40844366463312e-10,2.87992259867338e-12,1.40575455420235e-14,3.96407780999469e-17,6.45771434096668e-20,6.07742317091642e-23}</c:f>
              <c:numCache>
                <c:formatCode>General</c:formatCode>
                <c:ptCount val="49"/>
                <c:pt idx="0">
                  <c:v>1.27065588436352e-42</c:v>
                </c:pt>
                <c:pt idx="1">
                  <c:v>4.84465128990157e-39</c:v>
                </c:pt>
                <c:pt idx="2">
                  <c:v>1.27931243873895e-35</c:v>
                </c:pt>
                <c:pt idx="3">
                  <c:v>2.33975428620988e-32</c:v>
                </c:pt>
                <c:pt idx="4">
                  <c:v>2.96376257502248e-29</c:v>
                </c:pt>
                <c:pt idx="5">
                  <c:v>2.60013619534792e-26</c:v>
                </c:pt>
                <c:pt idx="6">
                  <c:v>1.57989532273909e-23</c:v>
                </c:pt>
                <c:pt idx="7">
                  <c:v>6.64875085134482e-21</c:v>
                </c:pt>
                <c:pt idx="8">
                  <c:v>1.93789987028588e-18</c:v>
                </c:pt>
                <c:pt idx="9">
                  <c:v>3.9120296480339e-16</c:v>
                </c:pt>
                <c:pt idx="10">
                  <c:v>5.46956100363338e-14</c:v>
                </c:pt>
                <c:pt idx="11">
                  <c:v>5.29641897325036e-12</c:v>
                </c:pt>
                <c:pt idx="12">
                  <c:v>3.55215349323987e-10</c:v>
                </c:pt>
                <c:pt idx="13">
                  <c:v>1.64998746312772e-8</c:v>
                </c:pt>
                <c:pt idx="14">
                  <c:v>5.30822220019337e-7</c:v>
                </c:pt>
                <c:pt idx="15">
                  <c:v>1.18276121069034e-5</c:v>
                </c:pt>
                <c:pt idx="16">
                  <c:v>0.000182525941505565</c:v>
                </c:pt>
                <c:pt idx="17">
                  <c:v>0.00195088671641474</c:v>
                </c:pt>
                <c:pt idx="18">
                  <c:v>0.0144419654575653</c:v>
                </c:pt>
                <c:pt idx="19">
                  <c:v>0.0740617108940468</c:v>
                </c:pt>
                <c:pt idx="20">
                  <c:v>0.263568181734998</c:v>
                </c:pt>
                <c:pt idx="21">
                  <c:v>0.65773788580315</c:v>
                </c:pt>
                <c:pt idx="22">
                  <c:v>1.19709189430407</c:v>
                </c:pt>
                <c:pt idx="23">
                  <c:v>1.71223994004219</c:v>
                </c:pt>
                <c:pt idx="24">
                  <c:v>1.98693480958345</c:v>
                </c:pt>
                <c:pt idx="25">
                  <c:v>1.85477594687479</c:v>
                </c:pt>
                <c:pt idx="26">
                  <c:v>1.3878263301976</c:v>
                </c:pt>
                <c:pt idx="27">
                  <c:v>0.593506002098651</c:v>
                </c:pt>
                <c:pt idx="28">
                  <c:v>0.100087578651685</c:v>
                </c:pt>
                <c:pt idx="29">
                  <c:v>0.0063892022750016</c:v>
                </c:pt>
                <c:pt idx="30">
                  <c:v>0.000298515850969514</c:v>
                </c:pt>
                <c:pt idx="31">
                  <c:v>0.000675868004261219</c:v>
                </c:pt>
                <c:pt idx="32">
                  <c:v>0.00407369923373621</c:v>
                </c:pt>
                <c:pt idx="33">
                  <c:v>0.0143889416184963</c:v>
                </c:pt>
                <c:pt idx="34">
                  <c:v>0.0293638721177348</c:v>
                </c:pt>
                <c:pt idx="35">
                  <c:v>0.034618012001502</c:v>
                </c:pt>
                <c:pt idx="36">
                  <c:v>0.0235773459370994</c:v>
                </c:pt>
                <c:pt idx="37">
                  <c:v>0.00927666119098912</c:v>
                </c:pt>
                <c:pt idx="38">
                  <c:v>0.0021085915549976</c:v>
                </c:pt>
                <c:pt idx="39">
                  <c:v>0.000276883590687558</c:v>
                </c:pt>
                <c:pt idx="40">
                  <c:v>2.10041911454335e-5</c:v>
                </c:pt>
                <c:pt idx="41">
                  <c:v>9.20489191563831e-7</c:v>
                </c:pt>
                <c:pt idx="42">
                  <c:v>2.33042651445003e-8</c:v>
                </c:pt>
                <c:pt idx="43">
                  <c:v>3.40844366463312e-10</c:v>
                </c:pt>
                <c:pt idx="44">
                  <c:v>2.87992259867338e-12</c:v>
                </c:pt>
                <c:pt idx="45">
                  <c:v>1.40575455420235e-14</c:v>
                </c:pt>
                <c:pt idx="46">
                  <c:v>3.96407780999469e-17</c:v>
                </c:pt>
                <c:pt idx="47">
                  <c:v>6.45771434096668e-20</c:v>
                </c:pt>
                <c:pt idx="48">
                  <c:v>6.07742317091642e-23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80 模式重建</c:f>
              <c:strCache>
                <c:ptCount val="1"/>
                <c:pt idx="0">
                  <c:v>80 模式重建</c:v>
                </c:pt>
              </c:strCache>
            </c:strRef>
          </c:tx>
          <c:spPr>
            <a:ln w="22860" cap="rnd">
              <a:solidFill>
                <a:srgbClr val="C8161E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{-0.8,-0.77,-0.73,-0.7,-0.67,-0.63,-0.6,-0.57,-0.53,-0.5,-0.47,-0.43,-0.4,-0.37,-0.33,-0.3,-0.27,-0.23,-0.2,-0.17,-0.13,-0.1,-0.07,-0.03,0,0.03,0.07,0.1,0.13,0.17,0.2,0.23,0.27,0.3,0.33,0.37,0.4,0.43,0.47,0.5,0.53,0.57,0.6,0.63,0.67,0.7,0.73,0.77,0.8}</c:f>
              <c:numCache>
                <c:formatCode>General</c:formatCode>
                <c:ptCount val="49"/>
                <c:pt idx="0">
                  <c:v>-0.8</c:v>
                </c:pt>
                <c:pt idx="1">
                  <c:v>-0.77</c:v>
                </c:pt>
                <c:pt idx="2">
                  <c:v>-0.73</c:v>
                </c:pt>
                <c:pt idx="3">
                  <c:v>-0.7</c:v>
                </c:pt>
                <c:pt idx="4">
                  <c:v>-0.67</c:v>
                </c:pt>
                <c:pt idx="5">
                  <c:v>-0.63</c:v>
                </c:pt>
                <c:pt idx="6">
                  <c:v>-0.6</c:v>
                </c:pt>
                <c:pt idx="7">
                  <c:v>-0.57</c:v>
                </c:pt>
                <c:pt idx="8">
                  <c:v>-0.53</c:v>
                </c:pt>
                <c:pt idx="9">
                  <c:v>-0.5</c:v>
                </c:pt>
                <c:pt idx="10">
                  <c:v>-0.47</c:v>
                </c:pt>
                <c:pt idx="11">
                  <c:v>-0.43</c:v>
                </c:pt>
                <c:pt idx="12">
                  <c:v>-0.4</c:v>
                </c:pt>
                <c:pt idx="13">
                  <c:v>-0.37</c:v>
                </c:pt>
                <c:pt idx="14">
                  <c:v>-0.33</c:v>
                </c:pt>
                <c:pt idx="15">
                  <c:v>-0.3</c:v>
                </c:pt>
                <c:pt idx="16">
                  <c:v>-0.27</c:v>
                </c:pt>
                <c:pt idx="17">
                  <c:v>-0.23</c:v>
                </c:pt>
                <c:pt idx="18">
                  <c:v>-0.2</c:v>
                </c:pt>
                <c:pt idx="19">
                  <c:v>-0.17</c:v>
                </c:pt>
                <c:pt idx="20">
                  <c:v>-0.13</c:v>
                </c:pt>
                <c:pt idx="21">
                  <c:v>-0.1</c:v>
                </c:pt>
                <c:pt idx="22">
                  <c:v>-0.07</c:v>
                </c:pt>
                <c:pt idx="23">
                  <c:v>-0.03</c:v>
                </c:pt>
                <c:pt idx="24">
                  <c:v>0</c:v>
                </c:pt>
                <c:pt idx="25">
                  <c:v>0.03</c:v>
                </c:pt>
                <c:pt idx="26">
                  <c:v>0.07</c:v>
                </c:pt>
                <c:pt idx="27">
                  <c:v>0.1</c:v>
                </c:pt>
                <c:pt idx="28">
                  <c:v>0.13</c:v>
                </c:pt>
                <c:pt idx="29">
                  <c:v>0.17</c:v>
                </c:pt>
                <c:pt idx="30">
                  <c:v>0.2</c:v>
                </c:pt>
                <c:pt idx="31">
                  <c:v>0.23</c:v>
                </c:pt>
                <c:pt idx="32">
                  <c:v>0.27</c:v>
                </c:pt>
                <c:pt idx="33">
                  <c:v>0.3</c:v>
                </c:pt>
                <c:pt idx="34">
                  <c:v>0.33</c:v>
                </c:pt>
                <c:pt idx="35">
                  <c:v>0.37</c:v>
                </c:pt>
                <c:pt idx="36">
                  <c:v>0.4</c:v>
                </c:pt>
                <c:pt idx="37">
                  <c:v>0.43</c:v>
                </c:pt>
                <c:pt idx="38">
                  <c:v>0.47</c:v>
                </c:pt>
                <c:pt idx="39">
                  <c:v>0.5</c:v>
                </c:pt>
                <c:pt idx="40">
                  <c:v>0.53</c:v>
                </c:pt>
                <c:pt idx="41">
                  <c:v>0.57</c:v>
                </c:pt>
                <c:pt idx="42">
                  <c:v>0.6</c:v>
                </c:pt>
                <c:pt idx="43">
                  <c:v>0.63</c:v>
                </c:pt>
                <c:pt idx="44">
                  <c:v>0.67</c:v>
                </c:pt>
                <c:pt idx="45">
                  <c:v>0.7</c:v>
                </c:pt>
                <c:pt idx="46">
                  <c:v>0.73</c:v>
                </c:pt>
                <c:pt idx="47">
                  <c:v>0.77</c:v>
                </c:pt>
                <c:pt idx="48">
                  <c:v>0.8</c:v>
                </c:pt>
              </c:numCache>
            </c:numRef>
          </c:cat>
          <c:val>
            <c:numRef>
              <c:f>{1.11987871256502e-5,2.01520391157559e-5,3.53679300973535e-5,6.05400712247934e-5,0.000101069204986282,0.000164564975503972,0.000261335619592403,0.000404764525737037,0.000611433059675495,0.000900820018429995,0.00129440379754306,0.00181402875614081,0.00247948366433053,0.00330539173162815,0.00429808154223407,0.0054609980480078,0.00691515936560367,0.010002764074646,0.0234287091135893,0.0820734768924846,0.265306415761767,0.644832330577652,1.16347665989942,1.65856400944791,1.92245741720011,1.79539857600721,1.3465817183572,0.583169722221332,0.108365036801787,0.0171078686182012,0.00985099749125733,0.00877874611097857,0.0106506857261451,0.0192630274941416,0.0324868891859283,0.0365386674131904,0.0251137354229392,0.0107196234944058,0.00331865169028826,0.00116662826548968,0.000631597083175109,0.000405648195360939,0.000261357991686941,0.000164565302714564,0.000101069207751008,6.05400712382886e-5,3.53679300973915e-5,2.0152039115756e-5,1.11987871256502e-5}</c:f>
              <c:numCache>
                <c:formatCode>General</c:formatCode>
                <c:ptCount val="49"/>
                <c:pt idx="0">
                  <c:v>1.11987871256502e-5</c:v>
                </c:pt>
                <c:pt idx="1">
                  <c:v>2.01520391157559e-5</c:v>
                </c:pt>
                <c:pt idx="2">
                  <c:v>3.53679300973535e-5</c:v>
                </c:pt>
                <c:pt idx="3">
                  <c:v>6.05400712247934e-5</c:v>
                </c:pt>
                <c:pt idx="4">
                  <c:v>0.000101069204986282</c:v>
                </c:pt>
                <c:pt idx="5">
                  <c:v>0.000164564975503972</c:v>
                </c:pt>
                <c:pt idx="6">
                  <c:v>0.000261335619592403</c:v>
                </c:pt>
                <c:pt idx="7">
                  <c:v>0.000404764525737037</c:v>
                </c:pt>
                <c:pt idx="8">
                  <c:v>0.000611433059675495</c:v>
                </c:pt>
                <c:pt idx="9">
                  <c:v>0.000900820018429995</c:v>
                </c:pt>
                <c:pt idx="10">
                  <c:v>0.00129440379754306</c:v>
                </c:pt>
                <c:pt idx="11">
                  <c:v>0.00181402875614081</c:v>
                </c:pt>
                <c:pt idx="12">
                  <c:v>0.00247948366433053</c:v>
                </c:pt>
                <c:pt idx="13">
                  <c:v>0.00330539173162815</c:v>
                </c:pt>
                <c:pt idx="14">
                  <c:v>0.00429808154223407</c:v>
                </c:pt>
                <c:pt idx="15">
                  <c:v>0.0054609980480078</c:v>
                </c:pt>
                <c:pt idx="16">
                  <c:v>0.00691515936560367</c:v>
                </c:pt>
                <c:pt idx="17">
                  <c:v>0.010002764074646</c:v>
                </c:pt>
                <c:pt idx="18">
                  <c:v>0.0234287091135893</c:v>
                </c:pt>
                <c:pt idx="19">
                  <c:v>0.0820734768924846</c:v>
                </c:pt>
                <c:pt idx="20">
                  <c:v>0.265306415761767</c:v>
                </c:pt>
                <c:pt idx="21">
                  <c:v>0.644832330577652</c:v>
                </c:pt>
                <c:pt idx="22">
                  <c:v>1.16347665989942</c:v>
                </c:pt>
                <c:pt idx="23">
                  <c:v>1.65856400944791</c:v>
                </c:pt>
                <c:pt idx="24">
                  <c:v>1.92245741720011</c:v>
                </c:pt>
                <c:pt idx="25">
                  <c:v>1.79539857600721</c:v>
                </c:pt>
                <c:pt idx="26">
                  <c:v>1.3465817183572</c:v>
                </c:pt>
                <c:pt idx="27">
                  <c:v>0.583169722221332</c:v>
                </c:pt>
                <c:pt idx="28">
                  <c:v>0.108365036801787</c:v>
                </c:pt>
                <c:pt idx="29">
                  <c:v>0.0171078686182012</c:v>
                </c:pt>
                <c:pt idx="30">
                  <c:v>0.00985099749125733</c:v>
                </c:pt>
                <c:pt idx="31">
                  <c:v>0.00877874611097857</c:v>
                </c:pt>
                <c:pt idx="32">
                  <c:v>0.0106506857261451</c:v>
                </c:pt>
                <c:pt idx="33">
                  <c:v>0.0192630274941416</c:v>
                </c:pt>
                <c:pt idx="34">
                  <c:v>0.0324868891859283</c:v>
                </c:pt>
                <c:pt idx="35">
                  <c:v>0.0365386674131904</c:v>
                </c:pt>
                <c:pt idx="36">
                  <c:v>0.0251137354229392</c:v>
                </c:pt>
                <c:pt idx="37">
                  <c:v>0.0107196234944058</c:v>
                </c:pt>
                <c:pt idx="38">
                  <c:v>0.00331865169028826</c:v>
                </c:pt>
                <c:pt idx="39">
                  <c:v>0.00116662826548968</c:v>
                </c:pt>
                <c:pt idx="40">
                  <c:v>0.000631597083175109</c:v>
                </c:pt>
                <c:pt idx="41">
                  <c:v>0.000405648195360939</c:v>
                </c:pt>
                <c:pt idx="42">
                  <c:v>0.000261357991686941</c:v>
                </c:pt>
                <c:pt idx="43">
                  <c:v>0.000164565302714564</c:v>
                </c:pt>
                <c:pt idx="44">
                  <c:v>0.000101069207751008</c:v>
                </c:pt>
                <c:pt idx="45">
                  <c:v>6.05400712382886e-5</c:v>
                </c:pt>
                <c:pt idx="46">
                  <c:v>3.53679300973915e-5</c:v>
                </c:pt>
                <c:pt idx="47">
                  <c:v>2.0152039115756e-5</c:v>
                </c:pt>
                <c:pt idx="48">
                  <c:v>1.11987871256502e-5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v / c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fₑ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dc43e6b-1eac-4da3-9ad3-6ccb8a212047}"/>
      </c:ext>
    </c:extLst>
  </c:chart>
  <c:spPr>
    <a:solidFill>
      <a:srgbClr val="FFFFFF"/>
    </a:solidFill>
    <a:ln w="9525">
      <a:solidFill>
        <a:srgbClr val="D8D8D8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/>
      <p:pic>
        <p:nvPicPr>
          <p:cNvPr id="2" name="图片 3"/>
          <p:cNvPicPr>
            <a:picLocks noChangeAspect="1"/>
          </p:cNvPicPr>
          <p:nvPr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5400" b="1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8" name="文本占位符 31"/>
          <p:cNvSpPr>
            <a:spLocks noGrp="1"/>
          </p:cNvSpPr>
          <p:nvPr>
            <p:ph type="body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sp>
        <p:nvSpPr>
          <p:cNvPr id="15" name="直接连接符 14"/>
          <p:cNvSpPr>
            <a:spLocks noGrp="1"/>
          </p:cNvSpPr>
          <p:nvPr/>
        </p:nv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/>
      <p:sp>
        <p:nvSpPr>
          <p:cNvPr id="7" name="图片占位符 6"/>
          <p:cNvSpPr>
            <a:spLocks noGrp="1"/>
          </p:cNvSpPr>
          <p:nvPr>
            <p:ph type="pic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/>
        </p:txBody>
      </p:sp>
      <p:sp>
        <p:nvSpPr>
          <p:cNvPr id="8" name="内容占位符 25"/>
          <p:cNvSpPr>
            <a:spLocks noGrp="1"/>
          </p:cNvSpPr>
          <p:nvPr>
            <p:ph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9" name="文本占位符 31"/>
          <p:cNvSpPr>
            <a:spLocks noGrp="1"/>
          </p:cNvSpPr>
          <p:nvPr>
            <p:ph type="body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buNone/>
              <a:defRPr sz="4800" b="0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  <p:pic>
        <p:nvPicPr>
          <p:cNvPr id="11" name="图片 4"/>
          <p:cNvPicPr>
            <a:picLocks noChangeAspect="1"/>
          </p:cNvPicPr>
          <p:nvPr/>
        </p:nvPicPr>
        <p:blipFill rotWithShape="1">
          <a:blip r:embed="rId2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sp>
        <p:nvSpPr>
          <p:cNvPr id="2" name="直接连接符 1"/>
          <p:cNvSpPr>
            <a:spLocks noGrp="1"/>
          </p:cNvSpPr>
          <p:nvPr/>
        </p:nv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/>
      <p:sp>
        <p:nvSpPr>
          <p:cNvPr id="3" name="图片占位符 6"/>
          <p:cNvSpPr>
            <a:spLocks noGrp="1"/>
          </p:cNvSpPr>
          <p:nvPr>
            <p:ph type="pic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/>
        </p:txBody>
      </p:sp>
      <p:sp>
        <p:nvSpPr>
          <p:cNvPr id="4" name="内容占位符 25"/>
          <p:cNvSpPr>
            <a:spLocks noGrp="1"/>
          </p:cNvSpPr>
          <p:nvPr>
            <p:ph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5" name="文本占位符 31"/>
          <p:cNvSpPr>
            <a:spLocks noGrp="1"/>
          </p:cNvSpPr>
          <p:nvPr>
            <p:ph type="body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buNone/>
              <a:defRPr sz="4000" b="0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9" name="直接连接符 8"/>
          <p:cNvSpPr>
            <a:spLocks noGrp="1"/>
          </p:cNvSpPr>
          <p:nvPr/>
        </p:nv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mpd="sng">
            <a:noFill/>
            <a:prstDash val="solid"/>
          </a:ln>
        </p:spPr>
        <p:txBody>
          <a:bodyPr anchor="ctr"/>
          <a:lstStyle/>
          <a:p>
            <a:pPr>
              <a:buNone/>
            </a:pPr>
          </a:p>
        </p:txBody>
      </p:sp>
      <p:sp>
        <p:nvSpPr>
          <p:cNvPr id="3" name="图片占位符 6"/>
          <p:cNvSpPr>
            <a:spLocks noGrp="1"/>
          </p:cNvSpPr>
          <p:nvPr>
            <p:ph type="pic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/>
        </p:txBody>
      </p:sp>
      <p:sp>
        <p:nvSpPr>
          <p:cNvPr id="4" name="内容占位符 25"/>
          <p:cNvSpPr>
            <a:spLocks noGrp="1"/>
          </p:cNvSpPr>
          <p:nvPr>
            <p:ph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5" name="文本占位符 31"/>
          <p:cNvSpPr>
            <a:spLocks noGrp="1"/>
          </p:cNvSpPr>
          <p:nvPr>
            <p:ph type="body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buNone/>
              <a:defRPr sz="4000" b="0">
                <a:solidFill>
                  <a:schemeClr val="bg1"/>
                </a:solidFill>
              </a:defRPr>
            </a:lvl1pPr>
          </a:lstStyle>
          <a:p>
            <a:r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9" name="直接连接符 8"/>
          <p:cNvSpPr>
            <a:spLocks noGrp="1"/>
          </p:cNvSpPr>
          <p:nvPr/>
        </p:nv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/>
      <p:sp>
        <p:nvSpPr>
          <p:cNvPr id="4" name="等腰三角形 3"/>
          <p:cNvSpPr>
            <a:spLocks noGrp="1"/>
          </p:cNvSpPr>
          <p:nvPr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mpd="sng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>
              <a:buNone/>
            </a:pPr>
          </a:p>
        </p:txBody>
      </p:sp>
      <p:sp>
        <p:nvSpPr>
          <p:cNvPr id="5" name="内容占位符 25"/>
          <p:cNvSpPr>
            <a:spLocks noGrp="1"/>
          </p:cNvSpPr>
          <p:nvPr>
            <p:ph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6" name="文本占位符 31"/>
          <p:cNvSpPr>
            <a:spLocks noGrp="1"/>
          </p:cNvSpPr>
          <p:nvPr>
            <p:ph type="body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buNone/>
              <a:defRPr sz="4000" b="0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/>
        </p:txBody>
      </p:sp>
      <p:sp>
        <p:nvSpPr>
          <p:cNvPr id="11" name="直接连接符 10"/>
          <p:cNvSpPr>
            <a:spLocks noGrp="1"/>
          </p:cNvSpPr>
          <p:nvPr/>
        </p:nv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/>
      <p:pic>
        <p:nvPicPr>
          <p:cNvPr id="2" name="图片 5"/>
          <p:cNvPicPr>
            <a:picLocks noChangeAspect="1"/>
          </p:cNvPicPr>
          <p:nvPr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ctr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8" name="文本占位符 31"/>
          <p:cNvSpPr>
            <a:spLocks noGrp="1"/>
          </p:cNvSpPr>
          <p:nvPr>
            <p:ph type="body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>
              <a:buNone/>
            </a:pPr>
          </a:p>
        </p:txBody>
      </p:sp>
      <p:sp>
        <p:nvSpPr>
          <p:cNvPr id="9" name="图片占位符 14"/>
          <p:cNvSpPr>
            <a:spLocks noGrp="1"/>
          </p:cNvSpPr>
          <p:nvPr>
            <p:ph type="pic" idx="12"/>
          </p:nvPr>
        </p:nvSpPr>
        <p:spPr>
          <a:xfrm>
            <a:off x="0" y="1415726"/>
            <a:ext cx="6323888" cy="4026547"/>
          </a:xfrm>
          <a:custGeom>
            <a:avLst/>
            <a:gdLst/>
            <a:ahLst/>
            <a:cxnLst/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/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5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/>
      <p:sp>
        <p:nvSpPr>
          <p:cNvPr id="19" name="图片占位符 6"/>
          <p:cNvSpPr>
            <a:spLocks noGrp="1"/>
          </p:cNvSpPr>
          <p:nvPr>
            <p:ph type="pic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/>
      <p:sp>
        <p:nvSpPr>
          <p:cNvPr id="11" name="图片占位符 6"/>
          <p:cNvSpPr>
            <a:spLocks noGrp="1"/>
          </p:cNvSpPr>
          <p:nvPr>
            <p:ph type="pic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buNone/>
              <a:defRPr sz="3200">
                <a:solidFill>
                  <a:schemeClr val="tx2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buNone/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buNone/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buNone/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buNone/>
              <a:defRPr sz="1695">
                <a:solidFill>
                  <a:schemeClr val="accent2"/>
                </a:solidFill>
              </a:defRPr>
            </a:lvl5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 rotWithShape="1">
          <a:blip r:embed="rId2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7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buNone/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buNone/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buNone/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buNone/>
              <a:defRPr sz="1695">
                <a:solidFill>
                  <a:schemeClr val="accent2"/>
                </a:solidFill>
              </a:defRPr>
            </a:lvl5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pic>
        <p:nvPicPr>
          <p:cNvPr id="1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3" name="图片 11"/>
          <p:cNvPicPr>
            <a:picLocks noChangeAspect="1"/>
          </p:cNvPicPr>
          <p:nvPr/>
        </p:nvPicPr>
        <p:blipFill rotWithShape="1">
          <a:blip r:embed="rId3"/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3" name="文本框 12"/>
          <p:cNvSpPr>
            <a:spLocks noGrp="1"/>
          </p:cNvSpPr>
          <p:nvPr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i="1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sz="16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buNone/>
              <a:defRPr sz="3200">
                <a:solidFill>
                  <a:schemeClr val="tx2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buNone/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buNone/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buNone/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buNone/>
              <a:defRPr sz="1695">
                <a:solidFill>
                  <a:schemeClr val="accent2"/>
                </a:solidFill>
              </a:defRPr>
            </a:lvl5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>
              <a:buNone/>
            </a:pPr>
          </a:p>
        </p:txBody>
      </p:sp>
      <p:pic>
        <p:nvPicPr>
          <p:cNvPr id="7" name="图片 7"/>
          <p:cNvPicPr>
            <a:picLocks noChangeAspect="1"/>
          </p:cNvPicPr>
          <p:nvPr/>
        </p:nvPicPr>
        <p:blipFill rotWithShape="1">
          <a:blip r:embed="rId2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mpd="sng">
            <a:noFill/>
            <a:prstDash val="solid"/>
          </a:ln>
        </p:spPr>
        <p:txBody>
          <a:bodyPr anchor="ctr"/>
          <a:lstStyle/>
          <a:p>
            <a:pPr>
              <a:buNone/>
            </a:p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i="1">
                <a:solidFill>
                  <a:schemeClr val="bg1"/>
                </a:solidFill>
              </a:rPr>
              <a:t>www.sjtu.edu.cn </a:t>
            </a:r>
            <a:endParaRPr sz="1600" i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</a:rPr>
              <a:t>饮水思源   爱国荣校</a:t>
            </a:r>
            <a:endParaRPr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/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buNone/>
              <a:defRPr sz="6000" b="0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 rotWithShape="1">
          <a:blip r:embed="rId2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/>
      <p:pic>
        <p:nvPicPr>
          <p:cNvPr id="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图片占位符 33"/>
          <p:cNvSpPr>
            <a:spLocks noGrp="1"/>
          </p:cNvSpPr>
          <p:nvPr>
            <p:ph type="pic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>
              <a:buNone/>
            </a:pPr>
            <a:r>
              <a:t>编辑母版文本样式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/>
      <p:cxnSp>
        <p:nvCxnSpPr>
          <p:cNvPr id="2" name="直接连接符 9"/>
          <p:cNvCxnSpPr/>
          <p:nvPr/>
        </p:nvCxnSpPr>
        <p:spPr>
          <a:xfrm>
            <a:off x="304800" y="3429000"/>
            <a:ext cx="2197510" cy="0"/>
          </a:xfrm>
          <a:prstGeom prst="line">
            <a:avLst/>
          </a:prstGeom>
          <a:ln w="6350" cap="flat">
            <a:solidFill>
              <a:srgbClr val="FFFFFF"/>
            </a:solidFill>
            <a:prstDash val="solid"/>
            <a:miter/>
          </a:ln>
        </p:spPr>
      </p:cxnSp>
      <p:cxnSp>
        <p:nvCxnSpPr>
          <p:cNvPr id="3" name="直接连接符 10"/>
          <p:cNvCxnSpPr/>
          <p:nvPr/>
        </p:nvCxnSpPr>
        <p:spPr>
          <a:xfrm>
            <a:off x="9689690" y="3429000"/>
            <a:ext cx="2197510" cy="0"/>
          </a:xfrm>
          <a:prstGeom prst="line">
            <a:avLst/>
          </a:prstGeom>
          <a:ln w="6350" cap="flat">
            <a:solidFill>
              <a:srgbClr val="FFFFFF"/>
            </a:solidFill>
            <a:prstDash val="solid"/>
            <a:miter/>
          </a:ln>
        </p:spPr>
      </p:cxnSp>
      <p:sp>
        <p:nvSpPr>
          <p:cNvPr id="13" name="文本占位符 31"/>
          <p:cNvSpPr>
            <a:spLocks noGrp="1"/>
          </p:cNvSpPr>
          <p:nvPr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60"/>
              </a:spcBef>
              <a:buNone/>
              <a:defRPr sz="6000" b="1" spc="6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725805" indent="-241935" algn="l">
              <a:lnSpc>
                <a:spcPct val="90000"/>
              </a:lnSpc>
              <a:spcBef>
                <a:spcPts val="530"/>
              </a:spcBef>
              <a:buChar char="•"/>
              <a:defRPr sz="2540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209675" indent="-241935" algn="l">
              <a:lnSpc>
                <a:spcPct val="90000"/>
              </a:lnSpc>
              <a:spcBef>
                <a:spcPts val="530"/>
              </a:spcBef>
              <a:buChar char="•"/>
              <a:defRPr sz="211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9354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17741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66128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4515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2902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1289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</a:p>
        </p:txBody>
      </p:sp>
      <p:pic>
        <p:nvPicPr>
          <p:cNvPr id="14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4000" b="0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i="1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sz="16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/>
      <p:cxnSp>
        <p:nvCxnSpPr>
          <p:cNvPr id="2" name="直接连接符 9"/>
          <p:cNvCxnSpPr/>
          <p:nvPr/>
        </p:nvCxnSpPr>
        <p:spPr>
          <a:xfrm>
            <a:off x="304800" y="3429000"/>
            <a:ext cx="2197510" cy="0"/>
          </a:xfrm>
          <a:prstGeom prst="line">
            <a:avLst/>
          </a:prstGeom>
          <a:ln w="6350" cap="flat">
            <a:solidFill>
              <a:srgbClr val="FFFFFF"/>
            </a:solidFill>
            <a:prstDash val="solid"/>
            <a:miter/>
          </a:ln>
        </p:spPr>
      </p:cxnSp>
      <p:cxnSp>
        <p:nvCxnSpPr>
          <p:cNvPr id="3" name="直接连接符 10"/>
          <p:cNvCxnSpPr/>
          <p:nvPr/>
        </p:nvCxnSpPr>
        <p:spPr>
          <a:xfrm>
            <a:off x="9689690" y="3429000"/>
            <a:ext cx="2197510" cy="0"/>
          </a:xfrm>
          <a:prstGeom prst="line">
            <a:avLst/>
          </a:prstGeom>
          <a:ln w="6350" cap="flat">
            <a:solidFill>
              <a:srgbClr val="FFFFFF"/>
            </a:solidFill>
            <a:prstDash val="solid"/>
            <a:miter/>
          </a:ln>
        </p:spPr>
      </p:cxnSp>
      <p:sp>
        <p:nvSpPr>
          <p:cNvPr id="13" name="文本占位符 31"/>
          <p:cNvSpPr>
            <a:spLocks noGrp="1"/>
          </p:cNvSpPr>
          <p:nvPr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60"/>
              </a:spcBef>
              <a:buNone/>
              <a:defRPr sz="6000" b="1" spc="6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725805" indent="-241935" algn="l">
              <a:lnSpc>
                <a:spcPct val="90000"/>
              </a:lnSpc>
              <a:spcBef>
                <a:spcPts val="530"/>
              </a:spcBef>
              <a:buChar char="•"/>
              <a:defRPr sz="2540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209675" indent="-241935" algn="l">
              <a:lnSpc>
                <a:spcPct val="90000"/>
              </a:lnSpc>
              <a:spcBef>
                <a:spcPts val="530"/>
              </a:spcBef>
              <a:buChar char="•"/>
              <a:defRPr sz="211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9354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17741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66128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4515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2902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1289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i="1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sz="16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4000" b="0">
                <a:solidFill>
                  <a:schemeClr val="tx2"/>
                </a:solidFill>
              </a:defRPr>
            </a:lvl1pPr>
          </a:lstStyle>
          <a:p>
            <a:r>
              <a:t>单击此处编辑标题样式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流程图: 离页连接符 8"/>
          <p:cNvSpPr>
            <a:spLocks noGrp="1"/>
          </p:cNvSpPr>
          <p:nvPr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文本占位符 31"/>
          <p:cNvSpPr>
            <a:spLocks noGrp="1"/>
          </p:cNvSpPr>
          <p:nvPr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60"/>
              </a:spcBef>
              <a:buNone/>
              <a:defRPr sz="5400" b="1" spc="6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725805" indent="-241935" algn="l">
              <a:lnSpc>
                <a:spcPct val="90000"/>
              </a:lnSpc>
              <a:spcBef>
                <a:spcPts val="530"/>
              </a:spcBef>
              <a:buChar char="•"/>
              <a:defRPr sz="2540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209675" indent="-241935" algn="l">
              <a:lnSpc>
                <a:spcPct val="90000"/>
              </a:lnSpc>
              <a:spcBef>
                <a:spcPts val="530"/>
              </a:spcBef>
              <a:buChar char="•"/>
              <a:defRPr sz="211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9354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17741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66128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4515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2902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1289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>
            <a:spLocks noGrp="1"/>
          </p:cNvSpPr>
          <p:nvPr/>
        </p:nvSpPr>
        <p:spPr>
          <a:xfrm>
            <a:off x="3419386" y="4393629"/>
            <a:ext cx="5353229" cy="1461642"/>
          </a:xfrm>
          <a:custGeom>
            <a:avLst/>
            <a:gdLst/>
            <a:ahLst/>
            <a:cxnLst/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rgbClr val="FFFFFF"/>
            </a:solidFill>
            <a:prstDash val="solid"/>
          </a:ln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>
        <a:lnSpc>
          <a:spcPct val="90000"/>
        </a:lnSpc>
        <a:spcBef>
          <a:spcPts val="0"/>
        </a:spcBef>
        <a:buNone/>
        <a:defRPr sz="36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41935" indent="-241935" algn="l">
        <a:lnSpc>
          <a:spcPct val="90000"/>
        </a:lnSpc>
        <a:spcBef>
          <a:spcPts val="1060"/>
        </a:spcBef>
        <a:buNone/>
        <a:defRPr sz="296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25805" indent="-241935" algn="l">
        <a:lnSpc>
          <a:spcPct val="90000"/>
        </a:lnSpc>
        <a:spcBef>
          <a:spcPts val="530"/>
        </a:spcBef>
        <a:buChar char="•"/>
        <a:defRPr sz="2540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209675" indent="-241935" algn="l">
        <a:lnSpc>
          <a:spcPct val="90000"/>
        </a:lnSpc>
        <a:spcBef>
          <a:spcPts val="530"/>
        </a:spcBef>
        <a:buChar char="•"/>
        <a:defRPr sz="211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93545" indent="-241935" algn="l">
        <a:lnSpc>
          <a:spcPct val="90000"/>
        </a:lnSpc>
        <a:spcBef>
          <a:spcPts val="530"/>
        </a:spcBef>
        <a:buChar char="•"/>
        <a:defRPr sz="190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177415" indent="-241935" algn="l">
        <a:lnSpc>
          <a:spcPct val="90000"/>
        </a:lnSpc>
        <a:spcBef>
          <a:spcPts val="530"/>
        </a:spcBef>
        <a:buChar char="•"/>
        <a:defRPr sz="190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66128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6pPr>
      <a:lvl7pPr marL="314515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7pPr>
      <a:lvl8pPr marL="362902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8pPr>
      <a:lvl9pPr marL="411289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1pPr>
      <a:lvl2pPr marL="48387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2pPr>
      <a:lvl3pPr marL="96774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3pPr>
      <a:lvl4pPr marL="145161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4pPr>
      <a:lvl5pPr marL="193548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5pPr>
      <a:lvl6pPr marL="241935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6pPr>
      <a:lvl7pPr marL="290322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7pPr>
      <a:lvl8pPr marL="338709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8pPr>
      <a:lvl9pPr marL="387096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16.xml"/><Relationship Id="rId16" Type="http://schemas.openxmlformats.org/officeDocument/2006/relationships/image" Target="../media/image3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7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7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9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64.xml"/><Relationship Id="rId16" Type="http://schemas.openxmlformats.org/officeDocument/2006/relationships/image" Target="../media/image3.png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OTS代码结构与训练全流程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2999740" y="5244465"/>
            <a:ext cx="6593205" cy="454025"/>
          </a:xfrm>
        </p:spPr>
        <p:txBody>
          <a:bodyPr/>
          <a:lstStyle/>
          <a:p>
            <a:r>
              <a:t>基于代码仓库与 Sheffield (2011) 前三章｜2026年6月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1"/>
          </p:nvPr>
        </p:nvSpPr>
        <p:spPr>
          <a:xfrm>
            <a:off x="2351405" y="3861435"/>
            <a:ext cx="7414260" cy="598805"/>
          </a:xfrm>
        </p:spPr>
        <p:txBody>
          <a:bodyPr/>
          <a:lstStyle/>
          <a:p>
            <a:r>
              <a:t>从合成光谱到非 Maxwell 电子速度分布反演</a:t>
            </a:r>
          </a:p>
          <a:p>
            <a:r>
              <a:t>重点解析：ots_fourier 的物理与数值实现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9" name="直接连接符 2"/>
          <p:cNvCxnSpPr/>
          <p:nvPr>
            <p:custDataLst>
              <p:tags r:id="rId1"/>
            </p:custDataLst>
          </p:nvPr>
        </p:nvCxnSpPr>
        <p:spPr>
          <a:xfrm>
            <a:off x="955420" y="3666694"/>
            <a:ext cx="10248277" cy="0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3"/>
          <p:cNvCxnSpPr/>
          <p:nvPr>
            <p:custDataLst>
              <p:tags r:id="rId2"/>
            </p:custDataLst>
          </p:nvPr>
        </p:nvCxnSpPr>
        <p:spPr>
          <a:xfrm>
            <a:off x="4334742" y="1296629"/>
            <a:ext cx="0" cy="474012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4"/>
          <p:cNvCxnSpPr/>
          <p:nvPr>
            <p:custDataLst>
              <p:tags r:id="rId3"/>
            </p:custDataLst>
          </p:nvPr>
        </p:nvCxnSpPr>
        <p:spPr>
          <a:xfrm>
            <a:off x="7824374" y="1296629"/>
            <a:ext cx="0" cy="474012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śļíḓé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863444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01</a:t>
            </a:r>
            <a:endParaRPr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ïṩľîḓé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353077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02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îṩľiḑé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842711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03</a:t>
            </a:r>
            <a:endParaRPr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" name="îṩľiďé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863444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04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îŝḻîḓê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353077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05</a:t>
            </a:r>
            <a:endParaRPr b="1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" name="iṣļïḑe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842711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06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343429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合成非 Maxwell EVDF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3+1 Gaussian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343429" y="4897434"/>
            <a:ext cx="2492990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读取 Parquet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跳过第 0 行元数据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833857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低通 Fourier 标签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80 个复模式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323489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正向生成 OTS 光谱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三波段 1224 维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4832269" y="4897434"/>
            <a:ext cx="2492990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tx2"/>
                </a:solidFill>
              </a:rPr>
              <a:t>全批次训练 DNN</a:t>
            </a:r>
            <a:endParaRPr b="1">
              <a:solidFill>
                <a:schemeClr val="tx2"/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tx2"/>
                </a:solidFill>
              </a:rPr>
              <a:t>1224→5000→5000→160</a:t>
            </a:r>
            <a:endParaRPr b="1">
              <a:solidFill>
                <a:schemeClr val="tx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322700" y="4897434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逆变换与评估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F(K)→f(v)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4" name="图片 17"/>
          <p:cNvPicPr>
            <a:picLocks noChangeAspect="1"/>
          </p:cNvPicPr>
          <p:nvPr/>
        </p:nvPicPr>
        <p:blipFill rotWithShape="1">
          <a:blip r:embed="rId16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5646000" y="3626732"/>
            <a:ext cx="900000" cy="9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process-title-2"/>
          <p:cNvSpPr>
            <a:spLocks noGrp="1"/>
          </p:cNvSpPr>
          <p:nvPr/>
        </p:nvSpPr>
        <p:spPr>
          <a:xfrm>
            <a:off x="2857500" y="361950"/>
            <a:ext cx="647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2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rPr>
              <a:t>训练全流程：从 EVDF 合成到反演验证</a:t>
            </a:r>
            <a:endParaRPr sz="2250" b="1">
              <a:solidFill>
                <a:srgbClr val="C8161E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" name="任意多边形: 形状 7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5266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72442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4921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/>
          <p:cNvSpPr>
            <a:spLocks noGrp="1"/>
          </p:cNvSpPr>
          <p:nvPr/>
        </p:nvSpPr>
        <p:spPr>
          <a:xfrm>
            <a:off x="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/>
          <p:cNvSpPr>
            <a:spLocks noGrp="1"/>
          </p:cNvSpPr>
          <p:nvPr/>
        </p:nvSpPr>
        <p:spPr>
          <a:xfrm>
            <a:off x="3048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833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161E"/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/>
          <p:cNvSpPr>
            <a:spLocks noGrp="1"/>
          </p:cNvSpPr>
          <p:nvPr/>
        </p:nvSpPr>
        <p:spPr>
          <a:xfrm>
            <a:off x="9144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17500" y="749935"/>
            <a:ext cx="212979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01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4" name="文本框 4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390900" y="749935"/>
            <a:ext cx="240538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02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5" name="文本框 4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26200" y="749935"/>
            <a:ext cx="2204085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 u="sng">
                <a:solidFill>
                  <a:srgbClr val="FFFFFF"/>
                </a:solidFill>
                <a:latin typeface="+mj-ea"/>
                <a:ea typeface="+mj-ea"/>
                <a:cs typeface="+mj-ea"/>
              </a:rPr>
              <a:t>03</a:t>
            </a:r>
            <a:endParaRPr sz="6500" b="1" u="sng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6" name="文本框 4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480550" y="749935"/>
            <a:ext cx="2017395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04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7" name="文本框 4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17500" y="2206625"/>
            <a:ext cx="29203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输入是什么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8" name="文本框 4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390900" y="2206625"/>
            <a:ext cx="28727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标签如何来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9" name="文本框 4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38900" y="2206625"/>
            <a:ext cx="28340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模型学什么</a:t>
            </a:r>
            <a:endParaRPr sz="36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文本框 4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480550" y="2206625"/>
            <a:ext cx="26657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如何验证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1" name="文本框 50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17500" y="3005282"/>
            <a:ext cx="256540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ea typeface="宋体" panose="02010600030101010101" pitchFamily="2" charset="-122"/>
                <a:cs typeface="+mn-lt"/>
              </a:rPr>
              <a:t>三段独立归一化的 OTS 光谱：离子峰 579 点、红移电子峰 304 点、蓝移电子峰 341 点。</a:t>
            </a:r>
            <a:endParaRPr sz="2000">
              <a:solidFill>
                <a:srgbClr val="DBDBDB">
                  <a:lumMod val="50000"/>
                </a:srgbClr>
              </a:solidFill>
              <a:ea typeface="宋体" panose="02010600030101010101" pitchFamily="2" charset="-122"/>
              <a:cs typeface="+mn-lt"/>
            </a:endParaRPr>
          </a:p>
        </p:txBody>
      </p:sp>
      <p:sp>
        <p:nvSpPr>
          <p:cNvPr id="52" name="文本框 5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378200" y="3005282"/>
            <a:ext cx="25654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ea typeface="+mn-ea"/>
                <a:cs typeface="+mn-lt"/>
              </a:rPr>
              <a:t>将一维 EVDF 投影到 Fourier 空间，仅保留 80 个低频复系数，再拆成 160 个实数。</a:t>
            </a:r>
            <a:endParaRPr sz="2000">
              <a:solidFill>
                <a:srgbClr val="DBDBDB">
                  <a:lumMod val="50000"/>
                </a:srgbClr>
              </a:solidFill>
              <a:ea typeface="+mn-ea"/>
              <a:cs typeface="+mn-lt"/>
            </a:endParaRPr>
          </a:p>
        </p:txBody>
      </p:sp>
      <p:sp>
        <p:nvSpPr>
          <p:cNvPr id="53" name="文本框 5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426200" y="3005282"/>
            <a:ext cx="25654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ea typeface="+mn-ea"/>
                <a:cs typeface="+mn-lt"/>
              </a:rPr>
              <a:t>两层 5000 维全连接网络，学习“光谱形状 → EVDF 低通 Fourier 表示”的直接映射。</a:t>
            </a:r>
            <a:endParaRPr sz="2000">
              <a:solidFill>
                <a:srgbClr val="FFFFFF"/>
              </a:solidFill>
              <a:ea typeface="+mn-ea"/>
              <a:cs typeface="+mn-lt"/>
            </a:endParaRPr>
          </a:p>
        </p:txBody>
      </p:sp>
      <p:sp>
        <p:nvSpPr>
          <p:cNvPr id="54" name="文本框 5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486900" y="3005282"/>
            <a:ext cx="25654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ea typeface="+mn-ea"/>
                <a:cs typeface="+mn-lt"/>
              </a:rPr>
              <a:t>把预测的 Re/Im 重新组成 Fₑ(K)，经 ift_k 恢复 fₑ(v)，与真值并排比较。</a:t>
            </a:r>
            <a:endParaRPr sz="2000">
              <a:solidFill>
                <a:srgbClr val="DBDBDB">
                  <a:lumMod val="50000"/>
                </a:srgbClr>
              </a:solidFill>
              <a:ea typeface="+mn-ea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439862" y="1355320"/>
            <a:ext cx="8796337" cy="1060855"/>
          </a:xfrm>
        </p:spPr>
        <p:txBody>
          <a:bodyPr/>
          <a:lstStyle/>
          <a:p>
            <a:r>
              <a:rPr sz="6000" b="1">
                <a:solidFill>
                  <a:srgbClr val="C8161E"/>
                </a:solidFill>
                <a:latin typeface="+mj-ea"/>
                <a:ea typeface="+mj-ea"/>
                <a:cs typeface="+mj-ea"/>
              </a:rPr>
              <a:t>项目结构与数据生成</a:t>
            </a:r>
            <a:endParaRPr sz="6000" b="1">
              <a:solidFill>
                <a:srgbClr val="C8161E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ïṥļiḋe"/>
          <p:cNvSpPr>
            <a:spLocks noGrp="1"/>
          </p:cNvSpPr>
          <p:nvPr/>
        </p:nvSpPr>
        <p:spPr>
          <a:xfrm>
            <a:off x="1154827" y="1885747"/>
            <a:ext cx="2683748" cy="5386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34400" b="1">
                <a:solidFill>
                  <a:schemeClr val="tx2">
                    <a:lumMod val="20000"/>
                    <a:lumOff val="80000"/>
                  </a:schemeClr>
                </a:solidFill>
              </a:rPr>
              <a:t>01</a:t>
            </a:r>
            <a:endParaRPr sz="34400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代码结构：入口、物理层、训练层与评估层</a:t>
            </a:r>
          </a:p>
        </p:txBody>
      </p:sp>
      <p:sp>
        <p:nvSpPr>
          <p:cNvPr id="24" name="tree-root"/>
          <p:cNvSpPr>
            <a:spLocks noGrp="1"/>
          </p:cNvSpPr>
          <p:nvPr/>
        </p:nvSpPr>
        <p:spPr>
          <a:xfrm>
            <a:off x="619125" y="1381125"/>
            <a:ext cx="3905250" cy="495300"/>
          </a:xfrm>
          <a:prstGeom prst="roundRect">
            <a:avLst>
              <a:gd name="adj" fmla="val 15385"/>
            </a:avLst>
          </a:prstGeom>
          <a:solidFill>
            <a:srgbClr val="C8161E"/>
          </a:solidFill>
          <a:ln w="12383">
            <a:solidFill>
              <a:srgbClr val="C8161E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5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NN_hotE_large_lmRange/</a:t>
            </a:r>
            <a:endParaRPr sz="15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5" name="tree-row-0"/>
          <p:cNvSpPr>
            <a:spLocks noGrp="1"/>
          </p:cNvSpPr>
          <p:nvPr/>
        </p:nvSpPr>
        <p:spPr>
          <a:xfrm>
            <a:off x="904875" y="2076450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F7E8E9"/>
          </a:solidFill>
          <a:ln w="12383">
            <a:solidFill>
              <a:srgbClr val="E5B9BC"/>
            </a:solidFill>
            <a:prstDash val="solid"/>
          </a:ln>
        </p:spPr>
        <p:txBody>
          <a:bodyPr lIns="133350" tIns="66675" rIns="95250" bIns="66675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phyEqns/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ots_fourier.py｜ots_superGaussian.py｜ots_arb_gaussian.py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6" name="tree-row-1"/>
          <p:cNvSpPr>
            <a:spLocks noGrp="1"/>
          </p:cNvSpPr>
          <p:nvPr/>
        </p:nvSpPr>
        <p:spPr>
          <a:xfrm>
            <a:off x="904875" y="2857500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133350" tIns="66675" rIns="95250" bIns="66675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数据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genDataSet.py → dataset_train/test.parquet → readData.py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7" name="tree-row-2"/>
          <p:cNvSpPr>
            <a:spLocks noGrp="1"/>
          </p:cNvSpPr>
          <p:nvPr/>
        </p:nvSpPr>
        <p:spPr>
          <a:xfrm>
            <a:off x="904875" y="3638550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F7E8E9"/>
          </a:solidFill>
          <a:ln w="12383">
            <a:solidFill>
              <a:srgbClr val="E5B9BC"/>
            </a:solidFill>
            <a:prstDash val="solid"/>
          </a:ln>
        </p:spPr>
        <p:txBody>
          <a:bodyPr lIns="133350" tIns="66675" rIns="95250" bIns="66675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网络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model.py + train.py + main.py → OTS_Te_model.pickle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8" name="tree-row-3"/>
          <p:cNvSpPr>
            <a:spLocks noGrp="1"/>
          </p:cNvSpPr>
          <p:nvPr/>
        </p:nvSpPr>
        <p:spPr>
          <a:xfrm>
            <a:off x="904875" y="4419600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133350" tIns="66675" rIns="95250" bIns="66675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评估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12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singleSpectrum.py｜evaluateModel*.py｜quick_test.py</a:t>
            </a:r>
            <a:endParaRPr sz="112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9" name="tree-to-call"/>
          <p:cNvSpPr>
            <a:spLocks noGrp="1"/>
          </p:cNvSpPr>
          <p:nvPr/>
        </p:nvSpPr>
        <p:spPr>
          <a:xfrm>
            <a:off x="5953125" y="3143250"/>
            <a:ext cx="523875" cy="3238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30" name="call-title"/>
          <p:cNvSpPr>
            <a:spLocks noGrp="1"/>
          </p:cNvSpPr>
          <p:nvPr/>
        </p:nvSpPr>
        <p:spPr>
          <a:xfrm>
            <a:off x="6667500" y="14287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6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rPr>
              <a:t>主调用链</a:t>
            </a:r>
            <a:endParaRPr sz="1650" b="1">
              <a:solidFill>
                <a:srgbClr val="C8161E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31" name="flow-arrow-0"/>
          <p:cNvSpPr>
            <a:spLocks noGrp="1"/>
          </p:cNvSpPr>
          <p:nvPr/>
        </p:nvSpPr>
        <p:spPr>
          <a:xfrm>
            <a:off x="4156075" y="269557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32" name="flow-arrow-1"/>
          <p:cNvSpPr>
            <a:spLocks noGrp="1"/>
          </p:cNvSpPr>
          <p:nvPr/>
        </p:nvSpPr>
        <p:spPr>
          <a:xfrm>
            <a:off x="7864475" y="269557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33" name="flow-step-0"/>
          <p:cNvSpPr>
            <a:spLocks noGrp="1"/>
          </p:cNvSpPr>
          <p:nvPr/>
        </p:nvSpPr>
        <p:spPr>
          <a:xfrm>
            <a:off x="666750" y="2190750"/>
            <a:ext cx="34417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383">
            <a:solidFill>
              <a:srgbClr val="D6D6D6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01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genDataSet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合成训练对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4" name="flow-step-1"/>
          <p:cNvSpPr>
            <a:spLocks noGrp="1"/>
          </p:cNvSpPr>
          <p:nvPr/>
        </p:nvSpPr>
        <p:spPr>
          <a:xfrm>
            <a:off x="4375150" y="2190750"/>
            <a:ext cx="3441700" cy="1238250"/>
          </a:xfrm>
          <a:prstGeom prst="roundRect">
            <a:avLst>
              <a:gd name="adj" fmla="val 6154"/>
            </a:avLst>
          </a:prstGeom>
          <a:solidFill>
            <a:srgbClr val="F7E8E9"/>
          </a:solidFill>
          <a:ln w="12383">
            <a:solidFill>
              <a:srgbClr val="E8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02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main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组织训练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5" name="flow-step-2"/>
          <p:cNvSpPr>
            <a:spLocks noGrp="1"/>
          </p:cNvSpPr>
          <p:nvPr/>
        </p:nvSpPr>
        <p:spPr>
          <a:xfrm>
            <a:off x="8083550" y="2190750"/>
            <a:ext cx="34417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383">
            <a:solidFill>
              <a:srgbClr val="D6D6D6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03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evaluate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频域→速度域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6" name="outputs-note"/>
          <p:cNvSpPr>
            <a:spLocks noGrp="1"/>
          </p:cNvSpPr>
          <p:nvPr/>
        </p:nvSpPr>
        <p:spPr>
          <a:xfrm>
            <a:off x="6667500" y="4143375"/>
            <a:ext cx="4572000" cy="13144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关键产物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dataset_train.parquet：5000 个样本 + 1 行元数据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dataset_test.parquet：100 个样本 + 1 行元数据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OTS_Te_model.pickle：state_dict 的 pickle 包装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result*.png：光谱、系数与 EVDF 对比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" name="任意多边形: 形状 7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5266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72442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4921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/>
          <p:cNvSpPr>
            <a:spLocks noGrp="1"/>
          </p:cNvSpPr>
          <p:nvPr/>
        </p:nvSpPr>
        <p:spPr>
          <a:xfrm>
            <a:off x="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/>
          <p:cNvSpPr>
            <a:spLocks noGrp="1"/>
          </p:cNvSpPr>
          <p:nvPr/>
        </p:nvSpPr>
        <p:spPr>
          <a:xfrm>
            <a:off x="3048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833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161E"/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/>
          <p:cNvSpPr>
            <a:spLocks noGrp="1"/>
          </p:cNvSpPr>
          <p:nvPr/>
        </p:nvSpPr>
        <p:spPr>
          <a:xfrm>
            <a:off x="9144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175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01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4" name="文本框 4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3909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02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5" name="文本框 4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262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 u="sng">
                <a:solidFill>
                  <a:srgbClr val="FFFFFF"/>
                </a:solidFill>
                <a:latin typeface="+mj-ea"/>
                <a:ea typeface="+mj-ea"/>
                <a:cs typeface="+mj-ea"/>
              </a:rPr>
              <a:t>03</a:t>
            </a:r>
            <a:endParaRPr sz="6500" b="1" u="sng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6" name="文本框 4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48055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04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7" name="文本框 4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175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物理正向层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8" name="文本框 4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3909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数据接口层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9" name="文本框 4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389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反演网络层</a:t>
            </a:r>
            <a:endParaRPr sz="36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文本框 4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48055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验证与诊断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1" name="文本框 50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17500" y="3005282"/>
            <a:ext cx="2565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ots_fourier 负责 Fourier 变换、χₑ、ε、S(k,ω) 与归一化光谱；其输出是训练数据的物理来源。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2" name="文本框 5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378200" y="3005282"/>
            <a:ext cx="2565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genDataSet 负责随机 EVDF 与 Parquet；readData 把前 1224 列和后 160 列切成 float32 张量。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3" name="文本框 5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426200" y="3005282"/>
            <a:ext cx="2565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ModelOTS 是两层 5000 宽的 MLP；train 使用 Adam 与多阶段学习率，main 负责串联与保存。</a:t>
            </a:r>
            <a:endParaRPr sz="200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4" name="文本框 5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486900" y="3005282"/>
            <a:ext cx="2565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evaluateModel / singleSpectrum 把预测系数复原为 EVDF；quick_test 用小样本检查完整链路。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genDataSet.py：一个样本怎样被生成</a:t>
            </a:r>
          </a:p>
        </p:txBody>
      </p:sp>
      <p:sp>
        <p:nvSpPr>
          <p:cNvPr id="24" name="flow-arrow-0"/>
          <p:cNvSpPr>
            <a:spLocks noGrp="1"/>
          </p:cNvSpPr>
          <p:nvPr/>
        </p:nvSpPr>
        <p:spPr>
          <a:xfrm>
            <a:off x="3228975" y="260032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25" name="flow-arrow-1"/>
          <p:cNvSpPr>
            <a:spLocks noGrp="1"/>
          </p:cNvSpPr>
          <p:nvPr/>
        </p:nvSpPr>
        <p:spPr>
          <a:xfrm>
            <a:off x="6010275" y="260032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26" name="flow-arrow-2"/>
          <p:cNvSpPr>
            <a:spLocks noGrp="1"/>
          </p:cNvSpPr>
          <p:nvPr/>
        </p:nvSpPr>
        <p:spPr>
          <a:xfrm>
            <a:off x="8791575" y="260032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27" name="flow-step-0"/>
          <p:cNvSpPr>
            <a:spLocks noGrp="1"/>
          </p:cNvSpPr>
          <p:nvPr/>
        </p:nvSpPr>
        <p:spPr>
          <a:xfrm>
            <a:off x="666750" y="2095500"/>
            <a:ext cx="25146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383">
            <a:solidFill>
              <a:srgbClr val="D6D6D6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01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随机 EVDF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1000 点，[-0.8c,0.8c]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8" name="flow-step-1"/>
          <p:cNvSpPr>
            <a:spLocks noGrp="1"/>
          </p:cNvSpPr>
          <p:nvPr/>
        </p:nvSpPr>
        <p:spPr>
          <a:xfrm>
            <a:off x="3448050" y="2095500"/>
            <a:ext cx="2514600" cy="1238250"/>
          </a:xfrm>
          <a:prstGeom prst="roundRect">
            <a:avLst>
              <a:gd name="adj" fmla="val 6154"/>
            </a:avLst>
          </a:prstGeom>
          <a:solidFill>
            <a:srgbClr val="F7E8E9"/>
          </a:solidFill>
          <a:ln w="12383">
            <a:solidFill>
              <a:srgbClr val="E8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02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Fourier 编码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ft_x_n(...,80)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9" name="flow-step-2"/>
          <p:cNvSpPr>
            <a:spLocks noGrp="1"/>
          </p:cNvSpPr>
          <p:nvPr/>
        </p:nvSpPr>
        <p:spPr>
          <a:xfrm>
            <a:off x="6229350" y="2095500"/>
            <a:ext cx="25146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383">
            <a:solidFill>
              <a:srgbClr val="D6D6D6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03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正向光谱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OTS_spectrum_fft ×3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0" name="flow-step-3"/>
          <p:cNvSpPr>
            <a:spLocks noGrp="1"/>
          </p:cNvSpPr>
          <p:nvPr/>
        </p:nvSpPr>
        <p:spPr>
          <a:xfrm>
            <a:off x="9010650" y="2095500"/>
            <a:ext cx="2514600" cy="1238250"/>
          </a:xfrm>
          <a:prstGeom prst="roundRect">
            <a:avLst>
              <a:gd name="adj" fmla="val 6154"/>
            </a:avLst>
          </a:prstGeom>
          <a:solidFill>
            <a:srgbClr val="F7E8E9"/>
          </a:solidFill>
          <a:ln w="12383">
            <a:solidFill>
              <a:srgbClr val="E8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04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拼接存储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1224 + 160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1" name="data-flow-details"/>
          <p:cNvSpPr>
            <a:spLocks noGrp="1"/>
          </p:cNvSpPr>
          <p:nvPr/>
        </p:nvSpPr>
        <p:spPr>
          <a:xfrm>
            <a:off x="762000" y="3905250"/>
            <a:ext cx="10668000" cy="1476375"/>
          </a:xfrm>
          <a:prstGeom prst="rect">
            <a:avLst/>
          </a:prstGeom>
          <a:solidFill>
            <a:srgbClr val="F7E8E9"/>
          </a:solidFill>
          <a:ln w="11430">
            <a:solidFill>
              <a:srgbClr val="E7B7BA"/>
            </a:solidFill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固定物理条件：λ₀=351 nm，nₑ=1.81×10²⁶ m⁻³，Tₑ=1370 eV，Tᵢ=171.3 eV，散射角 123°，CH 混合物（H:55%，C:45%）。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变化量：每个样本的电子速度分布。三段光谱分别归一化到 max=1，再按 [离子峰, 红移电子峰, 蓝移电子峰] 拼接。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2" name="citation-7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代码：genDataSet.py；论文基准为 10 Gaussian，本分支实际为 3 个背景 Gaussian + 1 个弱热电子 Gaussian。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随机 EVDF：为什么是“3+1 Gaussian”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571500" y="1428750"/>
          <a:ext cx="6858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evdf-params"/>
          <p:cNvSpPr>
            <a:spLocks noGrp="1"/>
          </p:cNvSpPr>
          <p:nvPr/>
        </p:nvSpPr>
        <p:spPr>
          <a:xfrm>
            <a:off x="7810500" y="1571625"/>
            <a:ext cx="3524250" cy="3143250"/>
          </a:xfrm>
          <a:prstGeom prst="roundRect">
            <a:avLst>
              <a:gd name="adj" fmla="val 2424"/>
            </a:avLst>
          </a:prstGeom>
          <a:solidFill>
            <a:srgbClr val="F7E8E9"/>
          </a:solidFill>
          <a:ln w="12383">
            <a:solidFill>
              <a:srgbClr val="E4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/>
        </p:txBody>
      </p:sp>
      <p:sp>
        <p:nvSpPr>
          <p:cNvPr id="26" name="evdf-params-text"/>
          <p:cNvSpPr>
            <a:spLocks noGrp="1"/>
          </p:cNvSpPr>
          <p:nvPr/>
        </p:nvSpPr>
        <p:spPr>
          <a:xfrm>
            <a:off x="8020050" y="1752600"/>
            <a:ext cx="3124200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背景 Gaussian ×3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中心：±0.06c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宽度：0.01–0.05c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高度：0.2–2.5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275"/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弱热电子 Gaussian ×1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中心：±0.4c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宽度：0.01–0.05c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高度：0.001–0.045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275"/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最后用 ∫fₑ(v)dv=1 归一化。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7" name="citation-8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代码：genDataSet.random_gaussians；远端小峰扩展了电子峰所需波长覆盖范围。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Fourier 标签：1000 个速度点如何压缩为 80 个复模式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495300" y="1428750"/>
          <a:ext cx="57150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9" name="Chart"/>
          <p:cNvGraphicFramePr/>
          <p:nvPr/>
        </p:nvGraphicFramePr>
        <p:xfrm>
          <a:off x="6429375" y="1428750"/>
          <a:ext cx="514350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fourier-note"/>
          <p:cNvSpPr>
            <a:spLocks noGrp="1"/>
          </p:cNvSpPr>
          <p:nvPr/>
        </p:nvSpPr>
        <p:spPr>
          <a:xfrm>
            <a:off x="876300" y="4953000"/>
            <a:ext cx="10382250" cy="838200"/>
          </a:xfrm>
          <a:prstGeom prst="rect">
            <a:avLst/>
          </a:prstGeom>
          <a:solidFill>
            <a:srgbClr val="F7E8E9"/>
          </a:solidFill>
          <a:ln w="9525">
            <a:solidFill>
              <a:srgbClr val="E5B5B8"/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ft_x_n 不是“FFT 后截取前 80 项”：它先由速度网格得到 ΔK=2π/L，再在以 K=0 为中心的有限区间上重新做 80 次梯形积分。标签排列为 [Re(Fₑ[0:80]), Im(Fₑ[0:80])]。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1740"/>
          </a:bodyPr>
          <a:lstStyle/>
          <a:p>
            <a:r>
              <a:t>Parquet 数据结构：第 0 行不是样本</a:t>
            </a:r>
          </a:p>
        </p:txBody>
      </p:sp>
      <p:sp>
        <p:nvSpPr>
          <p:cNvPr id="5" name="schema-seg-0"/>
          <p:cNvSpPr>
            <a:spLocks noGrp="1"/>
          </p:cNvSpPr>
          <p:nvPr/>
        </p:nvSpPr>
        <p:spPr>
          <a:xfrm>
            <a:off x="590550" y="1571625"/>
            <a:ext cx="4810125" cy="933450"/>
          </a:xfrm>
          <a:prstGeom prst="roundRect">
            <a:avLst>
              <a:gd name="adj" fmla="val 0"/>
            </a:avLst>
          </a:prstGeom>
          <a:solidFill>
            <a:srgbClr val="F6D9DB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离子峰 579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349–353 nm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6" name="schema-seg-1"/>
          <p:cNvSpPr>
            <a:spLocks noGrp="1"/>
          </p:cNvSpPr>
          <p:nvPr/>
        </p:nvSpPr>
        <p:spPr>
          <a:xfrm>
            <a:off x="5400675" y="1571625"/>
            <a:ext cx="2524125" cy="933450"/>
          </a:xfrm>
          <a:prstGeom prst="roundRect">
            <a:avLst>
              <a:gd name="adj" fmla="val 0"/>
            </a:avLst>
          </a:prstGeom>
          <a:solidFill>
            <a:srgbClr val="F2BFC2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红移电子峰 304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375–600 nm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7" name="schema-seg-2"/>
          <p:cNvSpPr>
            <a:spLocks noGrp="1"/>
          </p:cNvSpPr>
          <p:nvPr/>
        </p:nvSpPr>
        <p:spPr>
          <a:xfrm>
            <a:off x="7924800" y="1571625"/>
            <a:ext cx="2828925" cy="933450"/>
          </a:xfrm>
          <a:prstGeom prst="roundRect">
            <a:avLst>
              <a:gd name="adj" fmla="val 0"/>
            </a:avLst>
          </a:prstGeom>
          <a:solidFill>
            <a:srgbClr val="E9969C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蓝移电子峰 341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100–340 nm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8" name="schema-seg-3"/>
          <p:cNvSpPr>
            <a:spLocks noGrp="1"/>
          </p:cNvSpPr>
          <p:nvPr/>
        </p:nvSpPr>
        <p:spPr>
          <a:xfrm>
            <a:off x="10753725" y="1571625"/>
            <a:ext cx="523875" cy="93345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Re</a:t>
            </a:r>
            <a:endParaRPr sz="1050" b="0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80</a:t>
            </a:r>
            <a:endParaRPr sz="1050" b="0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9" name="schema-seg-4"/>
          <p:cNvSpPr>
            <a:spLocks noGrp="1"/>
          </p:cNvSpPr>
          <p:nvPr/>
        </p:nvSpPr>
        <p:spPr>
          <a:xfrm>
            <a:off x="11277600" y="1571625"/>
            <a:ext cx="523875" cy="933450"/>
          </a:xfrm>
          <a:prstGeom prst="roundRect">
            <a:avLst>
              <a:gd name="adj" fmla="val 0"/>
            </a:avLst>
          </a:prstGeom>
          <a:solidFill>
            <a:srgbClr val="9F1118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Im</a:t>
            </a:r>
            <a:endParaRPr sz="1050" b="0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80</a:t>
            </a:r>
            <a:endParaRPr sz="1050" b="0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0" name="schema-input-label"/>
          <p:cNvSpPr>
            <a:spLocks noGrp="1"/>
          </p:cNvSpPr>
          <p:nvPr/>
        </p:nvSpPr>
        <p:spPr>
          <a:xfrm>
            <a:off x="590550" y="1238250"/>
            <a:ext cx="1014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3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rPr>
              <a:t>输入 x：1224 维归一化光谱</a:t>
            </a:r>
            <a:endParaRPr sz="1350" b="1">
              <a:solidFill>
                <a:srgbClr val="C8161E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1" name="schema-label-label"/>
          <p:cNvSpPr>
            <a:spLocks noGrp="1"/>
          </p:cNvSpPr>
          <p:nvPr/>
        </p:nvSpPr>
        <p:spPr>
          <a:xfrm>
            <a:off x="10715625" y="123825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120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rPr>
              <a:t>标签 y：160</a:t>
            </a:r>
            <a:endParaRPr sz="1200" b="1">
              <a:solidFill>
                <a:srgbClr val="C8161E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  <p:sp>
        <p:nvSpPr>
          <p:cNvPr id="12" name="metadata-row"/>
          <p:cNvSpPr>
            <a:spLocks noGrp="1"/>
          </p:cNvSpPr>
          <p:nvPr/>
        </p:nvSpPr>
        <p:spPr>
          <a:xfrm>
            <a:off x="590550" y="3000375"/>
            <a:ext cx="11210925" cy="1000125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171450" tIns="114300" rIns="152400" bIns="1143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第 0 行（元数据）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前 1224 列存 wavelength grid（nm）；后 160 列存 K grid，并为 Re/Im 各重复一次。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3" name="physical-rows"/>
          <p:cNvSpPr>
            <a:spLocks noGrp="1"/>
          </p:cNvSpPr>
          <p:nvPr/>
        </p:nvSpPr>
        <p:spPr>
          <a:xfrm>
            <a:off x="590550" y="4171950"/>
            <a:ext cx="11210925" cy="1000125"/>
          </a:xfrm>
          <a:prstGeom prst="roundRect">
            <a:avLst>
              <a:gd name="adj" fmla="val 7619"/>
            </a:avLst>
          </a:prstGeom>
          <a:solidFill>
            <a:srgbClr val="F7E8E9"/>
          </a:solidFill>
          <a:ln w="12383">
            <a:solidFill>
              <a:srgbClr val="E4B4B7"/>
            </a:solidFill>
            <a:prstDash val="solid"/>
          </a:ln>
        </p:spPr>
        <p:txBody>
          <a:bodyPr lIns="171450" tIns="114300" rIns="152400" bIns="1143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第 1 行起（物理样本）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readData_dataset 默认 i_s=1 以跳过元数据；返回 xs:[N,1224] 与 ys:[N,160] 的 float32 Tensor。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4" name="slice-warning"/>
          <p:cNvSpPr>
            <a:spLocks noGrp="1"/>
          </p:cNvSpPr>
          <p:nvPr/>
        </p:nvSpPr>
        <p:spPr>
          <a:xfrm>
            <a:off x="590550" y="5286375"/>
            <a:ext cx="11210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C8161E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C8161E"/>
                </a:solidFill>
                <a:latin typeface="HarmonyOS Sans SC Light"/>
                <a:ea typeface="HarmonyOS Sans SC Light"/>
                <a:cs typeface="HarmonyOS Sans SC Light"/>
              </a:rPr>
              <a:t>注意：默认 i_e=-1 会按 pandas 切片语义漏掉物理文件的最后一行。</a:t>
            </a:r>
            <a:endParaRPr sz="1200" b="1">
              <a:solidFill>
                <a:srgbClr val="C8161E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439862" y="1355320"/>
            <a:ext cx="8796337" cy="1060855"/>
          </a:xfrm>
        </p:spPr>
        <p:txBody>
          <a:bodyPr/>
          <a:lstStyle/>
          <a:p>
            <a:r>
              <a:rPr sz="6000" b="1">
                <a:solidFill>
                  <a:srgbClr val="C8161E"/>
                </a:solidFill>
                <a:latin typeface="+mj-ea"/>
                <a:ea typeface="+mj-ea"/>
                <a:cs typeface="+mj-ea"/>
              </a:rPr>
              <a:t>ots_fourier：从任意 EVDF 到 OTS 光谱</a:t>
            </a:r>
            <a:endParaRPr sz="6000" b="1">
              <a:solidFill>
                <a:srgbClr val="C8161E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ïṥļiḋe"/>
          <p:cNvSpPr>
            <a:spLocks noGrp="1"/>
          </p:cNvSpPr>
          <p:nvPr/>
        </p:nvSpPr>
        <p:spPr>
          <a:xfrm>
            <a:off x="1154827" y="1885747"/>
            <a:ext cx="2683748" cy="5386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34400" b="1">
                <a:solidFill>
                  <a:schemeClr val="tx2">
                    <a:lumMod val="20000"/>
                    <a:lumOff val="80000"/>
                  </a:schemeClr>
                </a:solidFill>
              </a:rPr>
              <a:t>02</a:t>
            </a:r>
            <a:endParaRPr sz="34400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" name="任意多边形: 形状 74"/>
          <p:cNvSpPr>
            <a:spLocks noGrp="1"/>
          </p:cNvSpPr>
          <p:nvPr/>
        </p:nvSpPr>
        <p:spPr>
          <a:xfrm>
            <a:off x="9145266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/>
          <p:cNvSpPr>
            <a:spLocks noGrp="1"/>
          </p:cNvSpPr>
          <p:nvPr/>
        </p:nvSpPr>
        <p:spPr>
          <a:xfrm>
            <a:off x="3072442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/>
          <p:cNvSpPr>
            <a:spLocks noGrp="1"/>
          </p:cNvSpPr>
          <p:nvPr/>
        </p:nvSpPr>
        <p:spPr>
          <a:xfrm>
            <a:off x="24921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/>
          <p:cNvSpPr>
            <a:spLocks noGrp="1"/>
          </p:cNvSpPr>
          <p:nvPr/>
        </p:nvSpPr>
        <p:spPr>
          <a:xfrm>
            <a:off x="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/>
          <p:cNvSpPr>
            <a:spLocks noGrp="1"/>
          </p:cNvSpPr>
          <p:nvPr/>
        </p:nvSpPr>
        <p:spPr>
          <a:xfrm>
            <a:off x="3048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/>
          <p:cNvSpPr>
            <a:spLocks noGrp="1"/>
          </p:cNvSpPr>
          <p:nvPr/>
        </p:nvSpPr>
        <p:spPr>
          <a:xfrm>
            <a:off x="60833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161E"/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/>
          <p:cNvSpPr>
            <a:spLocks noGrp="1"/>
          </p:cNvSpPr>
          <p:nvPr/>
        </p:nvSpPr>
        <p:spPr>
          <a:xfrm>
            <a:off x="9144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3175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01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33909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02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4262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 u="sng">
                <a:solidFill>
                  <a:srgbClr val="FFFFFF"/>
                </a:solidFill>
                <a:latin typeface="+mj-ea"/>
                <a:ea typeface="+mj-ea"/>
                <a:cs typeface="+mj-ea"/>
              </a:rPr>
              <a:t>03</a:t>
            </a:r>
            <a:endParaRPr sz="6500" b="1" u="sng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948055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04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3175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集体参数 α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33909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谱密度 S(k,ω)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9" name="文本框 48"/>
          <p:cNvSpPr>
            <a:spLocks noGrp="1"/>
          </p:cNvSpPr>
          <p:nvPr/>
        </p:nvSpPr>
        <p:spPr>
          <a:xfrm>
            <a:off x="64389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介电响应 ε</a:t>
            </a:r>
            <a:endParaRPr sz="36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948055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散射功率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317500" y="3005282"/>
            <a:ext cx="2565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α≡1/(kλDe)。α≪1 时电子近似独立，谱形直接映射 EVDF；α≳1 时屏蔽相关和集体模显著。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3378200" y="3005282"/>
            <a:ext cx="2565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S(k,ω) 是电子密度涨落 |nₑ(k,ω)|² 的归一化统计量，是“微观速度分布→可测光谱”的桥梁。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6426200" y="3005282"/>
            <a:ext cx="2565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ε=1+χₑ+Σχᵢ。χₑ 来自任意 EVDF 的速度积分；离子在本代码中保持 Maxwellian。</a:t>
            </a:r>
            <a:endParaRPr sz="200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4" name="文本框 53"/>
          <p:cNvSpPr>
            <a:spLocks noGrp="1"/>
          </p:cNvSpPr>
          <p:nvPr/>
        </p:nvSpPr>
        <p:spPr>
          <a:xfrm>
            <a:off x="9486900" y="3005282"/>
            <a:ext cx="2565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Pₛ∝(1+2Δω/ω₀)·S(k,ω)，并带极化、几何、密度与经典电子半径等绝对因子。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6" name="citation-12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理论来源：Sheffield et al. (2011), Ch. 1 §1.8.3；Ch. 2 §2.1–2.3；Ch. 3 §3.3–3.4。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散射几何：代码里的 k_s 实际是散射波矢差的模</a:t>
            </a:r>
          </a:p>
        </p:txBody>
      </p:sp>
      <p:sp>
        <p:nvSpPr>
          <p:cNvPr id="24" name="ki-arrow"/>
          <p:cNvSpPr>
            <a:spLocks noGrp="1"/>
          </p:cNvSpPr>
          <p:nvPr/>
        </p:nvSpPr>
        <p:spPr>
          <a:xfrm>
            <a:off x="1619250" y="3524250"/>
            <a:ext cx="2952750" cy="323850"/>
          </a:xfrm>
          <a:prstGeom prst="rightArrow">
            <a:avLst/>
          </a:prstGeom>
          <a:solidFill>
            <a:srgbClr val="44546A"/>
          </a:solidFill>
          <a:ln w="7620">
            <a:solidFill>
              <a:srgbClr val="44546A"/>
            </a:solidFill>
            <a:prstDash val="solid"/>
          </a:ln>
        </p:spPr>
      </p:sp>
      <p:sp>
        <p:nvSpPr>
          <p:cNvPr id="25" name="ks-arrow"/>
          <p:cNvSpPr>
            <a:spLocks noGrp="1"/>
          </p:cNvSpPr>
          <p:nvPr/>
        </p:nvSpPr>
        <p:spPr>
          <a:xfrm>
            <a:off x="4333875" y="2333625"/>
            <a:ext cx="3143250" cy="323850"/>
          </a:xfrm>
          <a:prstGeom prst="rightArrow">
            <a:avLst/>
          </a:prstGeom>
          <a:solidFill>
            <a:srgbClr val="C8161E"/>
          </a:solidFill>
          <a:ln w="7620">
            <a:solidFill>
              <a:srgbClr val="C8161E"/>
            </a:solidFill>
            <a:prstDash val="solid"/>
          </a:ln>
        </p:spPr>
      </p:sp>
      <p:sp>
        <p:nvSpPr>
          <p:cNvPr id="26" name="kdiff-arrow"/>
          <p:cNvSpPr>
            <a:spLocks noGrp="1"/>
          </p:cNvSpPr>
          <p:nvPr/>
        </p:nvSpPr>
        <p:spPr>
          <a:xfrm>
            <a:off x="4333875" y="3714750"/>
            <a:ext cx="2238375" cy="266700"/>
          </a:xfrm>
          <a:prstGeom prst="rightArrow">
            <a:avLst/>
          </a:prstGeom>
          <a:solidFill>
            <a:srgbClr val="E5A3A7"/>
          </a:solidFill>
          <a:ln w="7620">
            <a:solidFill>
              <a:srgbClr val="E5A3A7"/>
            </a:solidFill>
            <a:prstDash val="solid"/>
          </a:ln>
        </p:spPr>
      </p:sp>
      <p:sp>
        <p:nvSpPr>
          <p:cNvPr id="27" name="scatter-volume"/>
          <p:cNvSpPr>
            <a:spLocks noGrp="1"/>
          </p:cNvSpPr>
          <p:nvPr/>
        </p:nvSpPr>
        <p:spPr>
          <a:xfrm>
            <a:off x="3810000" y="3095625"/>
            <a:ext cx="876300" cy="876300"/>
          </a:xfrm>
          <a:prstGeom prst="ellipse">
            <a:avLst/>
          </a:prstGeom>
          <a:solidFill>
            <a:srgbClr val="F7E8E9"/>
          </a:solidFill>
          <a:ln w="12383">
            <a:solidFill>
              <a:srgbClr val="C8161E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80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80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V</a:t>
            </a:r>
            <a:endParaRPr sz="180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8" name="detector"/>
          <p:cNvSpPr>
            <a:spLocks noGrp="1"/>
          </p:cNvSpPr>
          <p:nvPr/>
        </p:nvSpPr>
        <p:spPr>
          <a:xfrm>
            <a:off x="7524750" y="2000250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383">
            <a:solidFill>
              <a:srgbClr val="C8161E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探测器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方向 ss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9" name="ki-label"/>
          <p:cNvSpPr>
            <a:spLocks noGrp="1"/>
          </p:cNvSpPr>
          <p:nvPr/>
        </p:nvSpPr>
        <p:spPr>
          <a:xfrm>
            <a:off x="1762125" y="31432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44546A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44546A"/>
                </a:solidFill>
                <a:latin typeface="HarmonyOS Sans SC Light"/>
                <a:ea typeface="HarmonyOS Sans SC Light"/>
                <a:cs typeface="HarmonyOS Sans SC Light"/>
              </a:rPr>
              <a:t>入射：k₀ ∥ k_sh</a:t>
            </a:r>
            <a:endParaRPr sz="1350" b="1">
              <a:solidFill>
                <a:srgbClr val="44546A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0" name="ks-label"/>
          <p:cNvSpPr>
            <a:spLocks noGrp="1"/>
          </p:cNvSpPr>
          <p:nvPr/>
        </p:nvSpPr>
        <p:spPr>
          <a:xfrm>
            <a:off x="5334000" y="19526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C8161E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C8161E"/>
                </a:solidFill>
                <a:latin typeface="HarmonyOS Sans SC Light"/>
                <a:ea typeface="HarmonyOS Sans SC Light"/>
                <a:cs typeface="HarmonyOS Sans SC Light"/>
              </a:rPr>
              <a:t>散射光：ω/c · ss</a:t>
            </a:r>
            <a:endParaRPr sz="1350" b="1">
              <a:solidFill>
                <a:srgbClr val="C8161E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1" name="kd-label"/>
          <p:cNvSpPr>
            <a:spLocks noGrp="1"/>
          </p:cNvSpPr>
          <p:nvPr/>
        </p:nvSpPr>
        <p:spPr>
          <a:xfrm>
            <a:off x="4810125" y="40957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rPr>
              <a:t>代码 k_s = |k₀ − (ω/c)ss|</a:t>
            </a:r>
            <a:endParaRPr sz="1350" b="1">
              <a:solidFill>
                <a:srgbClr val="9F1118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2" name="geometry-map"/>
          <p:cNvSpPr>
            <a:spLocks noGrp="1"/>
          </p:cNvSpPr>
          <p:nvPr/>
        </p:nvSpPr>
        <p:spPr>
          <a:xfrm>
            <a:off x="9239250" y="1428750"/>
            <a:ext cx="2381250" cy="3810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171450" tIns="152400" rIns="133350" bIns="1333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变量映射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275"/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lm_0 → λ₀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lms → λ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omega_0 → ω₀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omega → ω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omega_s → Δω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k_sh → 入射方向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ss → 观察方向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k_s → |k|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v_s → Δω/|k| − u·k̂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3" name="citation-13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Sheffield Ch. 2 Fig. 2.3 与 Eq. (2.3.13–14)：k = k_s − k_i，ω = ω_s − ω_i；代码采用相反差号但最终使用模与一致的频移约定。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9" name="直接连接符 2"/>
          <p:cNvCxnSpPr/>
          <p:nvPr>
            <p:custDataLst>
              <p:tags r:id="rId1"/>
            </p:custDataLst>
          </p:nvPr>
        </p:nvCxnSpPr>
        <p:spPr>
          <a:xfrm>
            <a:off x="955420" y="3666694"/>
            <a:ext cx="10248277" cy="0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3"/>
          <p:cNvCxnSpPr/>
          <p:nvPr>
            <p:custDataLst>
              <p:tags r:id="rId2"/>
            </p:custDataLst>
          </p:nvPr>
        </p:nvCxnSpPr>
        <p:spPr>
          <a:xfrm>
            <a:off x="4334742" y="1296629"/>
            <a:ext cx="0" cy="474012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4"/>
          <p:cNvCxnSpPr/>
          <p:nvPr>
            <p:custDataLst>
              <p:tags r:id="rId3"/>
            </p:custDataLst>
          </p:nvPr>
        </p:nvCxnSpPr>
        <p:spPr>
          <a:xfrm>
            <a:off x="7824374" y="1296629"/>
            <a:ext cx="0" cy="474012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śļíḓé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863444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01</a:t>
            </a:r>
            <a:endParaRPr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ïṩľîḓé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353077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02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îṩľiḑé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842711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03</a:t>
            </a:r>
            <a:endParaRPr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" name="îṩľiďé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863444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04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îŝḻîḓê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353077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05</a:t>
            </a:r>
            <a:endParaRPr b="1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" name="iṣļïḑe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842711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06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343429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基本尺度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λD、ωp、vte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343429" y="4897434"/>
            <a:ext cx="2492990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恢复 fₑ(v_s)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Fourier 逆积分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833857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散射几何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λ→ω→k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323489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相速度映射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v_s=Δω/k−u∥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4832269" y="4897434"/>
            <a:ext cx="2492990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tx2"/>
                </a:solidFill>
              </a:rPr>
              <a:t>响应与介电</a:t>
            </a:r>
            <a:endParaRPr b="1">
              <a:solidFill>
                <a:schemeClr val="tx2"/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tx2"/>
                </a:solidFill>
              </a:rPr>
              <a:t>χₑ、χᵢ、ε</a:t>
            </a:r>
            <a:endParaRPr b="1">
              <a:solidFill>
                <a:schemeClr val="tx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322700" y="4897434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谱密度与输出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S→P→I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4" name="图片 17"/>
          <p:cNvPicPr>
            <a:picLocks noChangeAspect="1"/>
          </p:cNvPicPr>
          <p:nvPr/>
        </p:nvPicPr>
        <p:blipFill rotWithShape="1">
          <a:blip r:embed="rId16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5646000" y="3626732"/>
            <a:ext cx="900000" cy="9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process-title-14"/>
          <p:cNvSpPr>
            <a:spLocks noGrp="1"/>
          </p:cNvSpPr>
          <p:nvPr/>
        </p:nvSpPr>
        <p:spPr>
          <a:xfrm>
            <a:off x="2857500" y="361950"/>
            <a:ext cx="647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9225"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2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rPr>
              <a:t>OTS_spectrum_fft：九段代码可压缩成六个物理步骤</a:t>
            </a:r>
            <a:endParaRPr sz="2250" b="1">
              <a:solidFill>
                <a:srgbClr val="C8161E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1740"/>
          </a:bodyPr>
          <a:lstStyle/>
          <a:p>
            <a:r>
              <a:t>Fourier 工具函数：谁负责什么</a:t>
            </a:r>
          </a:p>
        </p:txBody>
      </p:sp>
      <p:sp>
        <p:nvSpPr>
          <p:cNvPr id="5" name="ft-head-0"/>
          <p:cNvSpPr>
            <a:spLocks noGrp="1"/>
          </p:cNvSpPr>
          <p:nvPr/>
        </p:nvSpPr>
        <p:spPr>
          <a:xfrm>
            <a:off x="476250" y="1143000"/>
            <a:ext cx="1809750" cy="45720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函数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6" name="ft-head-1"/>
          <p:cNvSpPr>
            <a:spLocks noGrp="1"/>
          </p:cNvSpPr>
          <p:nvPr/>
        </p:nvSpPr>
        <p:spPr>
          <a:xfrm>
            <a:off x="2286000" y="1143000"/>
            <a:ext cx="2571750" cy="45720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输入 → 输出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7" name="ft-head-2"/>
          <p:cNvSpPr>
            <a:spLocks noGrp="1"/>
          </p:cNvSpPr>
          <p:nvPr/>
        </p:nvSpPr>
        <p:spPr>
          <a:xfrm>
            <a:off x="4857750" y="1143000"/>
            <a:ext cx="3333750" cy="45720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核心算法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8" name="ft-head-3"/>
          <p:cNvSpPr>
            <a:spLocks noGrp="1"/>
          </p:cNvSpPr>
          <p:nvPr/>
        </p:nvSpPr>
        <p:spPr>
          <a:xfrm>
            <a:off x="8191500" y="1143000"/>
            <a:ext cx="3524250" cy="45720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调用位置 / 注意点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9" name="ft-cell-0-0"/>
          <p:cNvSpPr>
            <a:spLocks noGrp="1"/>
          </p:cNvSpPr>
          <p:nvPr/>
        </p:nvSpPr>
        <p:spPr>
          <a:xfrm>
            <a:off x="476250" y="1600200"/>
            <a:ext cx="1809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ft_x</a:t>
            </a:r>
            <a:endParaRPr sz="1200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ft-cell-0-1"/>
          <p:cNvSpPr>
            <a:spLocks noGrp="1"/>
          </p:cNvSpPr>
          <p:nvPr/>
        </p:nvSpPr>
        <p:spPr>
          <a:xfrm>
            <a:off x="2286000" y="1600200"/>
            <a:ext cx="2571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(v,f) → (K,F)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1" name="ft-cell-0-2"/>
          <p:cNvSpPr>
            <a:spLocks noGrp="1"/>
          </p:cNvSpPr>
          <p:nvPr/>
        </p:nvSpPr>
        <p:spPr>
          <a:xfrm>
            <a:off x="4857750" y="1600200"/>
            <a:ext cx="3333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全 K 网格逐点梯形积分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2" name="ft-cell-0-3"/>
          <p:cNvSpPr>
            <a:spLocks noGrp="1"/>
          </p:cNvSpPr>
          <p:nvPr/>
        </p:nvSpPr>
        <p:spPr>
          <a:xfrm>
            <a:off x="8191500" y="1600200"/>
            <a:ext cx="35242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调试用完整变换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3" name="ft-cell-1-0"/>
          <p:cNvSpPr>
            <a:spLocks noGrp="1"/>
          </p:cNvSpPr>
          <p:nvPr/>
        </p:nvSpPr>
        <p:spPr>
          <a:xfrm>
            <a:off x="476250" y="2238375"/>
            <a:ext cx="1809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ft_x_n</a:t>
            </a:r>
            <a:endParaRPr sz="1200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ft-cell-1-1"/>
          <p:cNvSpPr>
            <a:spLocks noGrp="1"/>
          </p:cNvSpPr>
          <p:nvPr/>
        </p:nvSpPr>
        <p:spPr>
          <a:xfrm>
            <a:off x="2286000" y="2238375"/>
            <a:ext cx="2571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(v,f,n) → n 模式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5" name="ft-cell-1-2"/>
          <p:cNvSpPr>
            <a:spLocks noGrp="1"/>
          </p:cNvSpPr>
          <p:nvPr/>
        </p:nvSpPr>
        <p:spPr>
          <a:xfrm>
            <a:off x="4857750" y="2238375"/>
            <a:ext cx="3333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围绕 K=0 重算有限带宽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6" name="ft-cell-1-3"/>
          <p:cNvSpPr>
            <a:spLocks noGrp="1"/>
          </p:cNvSpPr>
          <p:nvPr/>
        </p:nvSpPr>
        <p:spPr>
          <a:xfrm>
            <a:off x="8191500" y="2238375"/>
            <a:ext cx="35242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训练标签；n=80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7" name="ft-cell-2-0"/>
          <p:cNvSpPr>
            <a:spLocks noGrp="1"/>
          </p:cNvSpPr>
          <p:nvPr/>
        </p:nvSpPr>
        <p:spPr>
          <a:xfrm>
            <a:off x="476250" y="2876550"/>
            <a:ext cx="1809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ift_k</a:t>
            </a:r>
            <a:endParaRPr sz="1200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ft-cell-2-1"/>
          <p:cNvSpPr>
            <a:spLocks noGrp="1"/>
          </p:cNvSpPr>
          <p:nvPr/>
        </p:nvSpPr>
        <p:spPr>
          <a:xfrm>
            <a:off x="2286000" y="2876550"/>
            <a:ext cx="2571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(K,F) → 自动 v 网格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9" name="ft-cell-2-2"/>
          <p:cNvSpPr>
            <a:spLocks noGrp="1"/>
          </p:cNvSpPr>
          <p:nvPr/>
        </p:nvSpPr>
        <p:spPr>
          <a:xfrm>
            <a:off x="4857750" y="2876550"/>
            <a:ext cx="3333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逆 Fourier 梯形积分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0" name="ft-cell-2-3"/>
          <p:cNvSpPr>
            <a:spLocks noGrp="1"/>
          </p:cNvSpPr>
          <p:nvPr/>
        </p:nvSpPr>
        <p:spPr>
          <a:xfrm>
            <a:off x="8191500" y="2876550"/>
            <a:ext cx="35242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评估时恢复 EVDF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1" name="ft-cell-3-0"/>
          <p:cNvSpPr>
            <a:spLocks noGrp="1"/>
          </p:cNvSpPr>
          <p:nvPr/>
        </p:nvSpPr>
        <p:spPr>
          <a:xfrm>
            <a:off x="476250" y="3514725"/>
            <a:ext cx="1809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ift_k_x</a:t>
            </a:r>
            <a:endParaRPr sz="1200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ft-cell-3-1"/>
          <p:cNvSpPr>
            <a:spLocks noGrp="1"/>
          </p:cNvSpPr>
          <p:nvPr/>
        </p:nvSpPr>
        <p:spPr>
          <a:xfrm>
            <a:off x="2286000" y="3514725"/>
            <a:ext cx="2571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(K,F,v) → 指定 v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3" name="ft-cell-3-2"/>
          <p:cNvSpPr>
            <a:spLocks noGrp="1"/>
          </p:cNvSpPr>
          <p:nvPr/>
        </p:nvSpPr>
        <p:spPr>
          <a:xfrm>
            <a:off x="4857750" y="3514725"/>
            <a:ext cx="3333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在给定速度点上逆积分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4" name="ft-cell-3-3"/>
          <p:cNvSpPr>
            <a:spLocks noGrp="1"/>
          </p:cNvSpPr>
          <p:nvPr/>
        </p:nvSpPr>
        <p:spPr>
          <a:xfrm>
            <a:off x="8191500" y="3514725"/>
            <a:ext cx="35242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检查低通重建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5" name="ft-cell-4-0"/>
          <p:cNvSpPr>
            <a:spLocks noGrp="1"/>
          </p:cNvSpPr>
          <p:nvPr/>
        </p:nvSpPr>
        <p:spPr>
          <a:xfrm>
            <a:off x="476250" y="4152900"/>
            <a:ext cx="1809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w_ft</a:t>
            </a:r>
            <a:endParaRPr sz="1200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ft-cell-4-1"/>
          <p:cNvSpPr>
            <a:spLocks noGrp="1"/>
          </p:cNvSpPr>
          <p:nvPr/>
        </p:nvSpPr>
        <p:spPr>
          <a:xfrm>
            <a:off x="2286000" y="4152900"/>
            <a:ext cx="2571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(v_s,K,F) → 响应核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7" name="ft-cell-4-2"/>
          <p:cNvSpPr>
            <a:spLocks noGrp="1"/>
          </p:cNvSpPr>
          <p:nvPr/>
        </p:nvSpPr>
        <p:spPr>
          <a:xfrm>
            <a:off x="4857750" y="4152900"/>
            <a:ext cx="33337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仅积 K&gt;0：K·F·e^{iKv}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8" name="ft-cell-4-3"/>
          <p:cNvSpPr>
            <a:spLocks noGrp="1"/>
          </p:cNvSpPr>
          <p:nvPr/>
        </p:nvSpPr>
        <p:spPr>
          <a:xfrm>
            <a:off x="8191500" y="4152900"/>
            <a:ext cx="3524250" cy="638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构造 χₑ 的关键函数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9" name="ft-cell-5-0"/>
          <p:cNvSpPr>
            <a:spLocks noGrp="1"/>
          </p:cNvSpPr>
          <p:nvPr/>
        </p:nvSpPr>
        <p:spPr>
          <a:xfrm>
            <a:off x="476250" y="4791075"/>
            <a:ext cx="1809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OTS_spectrum_fft</a:t>
            </a:r>
            <a:endParaRPr sz="1200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ft-cell-5-1"/>
          <p:cNvSpPr>
            <a:spLocks noGrp="1"/>
          </p:cNvSpPr>
          <p:nvPr/>
        </p:nvSpPr>
        <p:spPr>
          <a:xfrm>
            <a:off x="2286000" y="4791075"/>
            <a:ext cx="2571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λ 与等离子体参数 → I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1" name="ft-cell-5-2"/>
          <p:cNvSpPr>
            <a:spLocks noGrp="1"/>
          </p:cNvSpPr>
          <p:nvPr/>
        </p:nvSpPr>
        <p:spPr>
          <a:xfrm>
            <a:off x="4857750" y="4791075"/>
            <a:ext cx="33337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几何→响应→S→归一化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2" name="ft-cell-5-3"/>
          <p:cNvSpPr>
            <a:spLocks noGrp="1"/>
          </p:cNvSpPr>
          <p:nvPr/>
        </p:nvSpPr>
        <p:spPr>
          <a:xfrm>
            <a:off x="8191500" y="4791075"/>
            <a:ext cx="3524250" cy="6381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数据集正向模型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步骤 1–2：基本尺度与波矢</a:t>
            </a:r>
          </a:p>
        </p:txBody>
      </p:sp>
      <p:sp>
        <p:nvSpPr>
          <p:cNvPr id="5" name="scale-left"/>
          <p:cNvSpPr>
            <a:spLocks noGrp="1"/>
          </p:cNvSpPr>
          <p:nvPr/>
        </p:nvSpPr>
        <p:spPr>
          <a:xfrm>
            <a:off x="571500" y="1381125"/>
            <a:ext cx="5191125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/>
        </p:txBody>
      </p:sp>
      <p:sp>
        <p:nvSpPr>
          <p:cNvPr id="6" name="scale-equations"/>
          <p:cNvSpPr>
            <a:spLocks noGrp="1"/>
          </p:cNvSpPr>
          <p:nvPr/>
        </p:nvSpPr>
        <p:spPr>
          <a:xfrm>
            <a:off x="809625" y="1619250"/>
            <a:ext cx="4714875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Debye 长度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λD = √(ε₀kBTₑ / nₑe²)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  <a:p>
            <a:endParaRPr sz="1575">
              <a:latin typeface="+mn-lt"/>
              <a:ea typeface="宋体" panose="02010600030101010101" pitchFamily="2" charset="-122"/>
              <a:cs typeface="+mn-lt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电子等离子体频率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ωp = √(nₑe² / mₑε₀)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  <a:p>
            <a:endParaRPr sz="1575">
              <a:latin typeface="+mn-lt"/>
              <a:ea typeface="宋体" panose="02010600030101010101" pitchFamily="2" charset="-122"/>
              <a:cs typeface="+mn-lt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热速度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vte = √(kBTₑ/mₑ),  vti = √(kBTᵢ/mᵢ)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  <a:p>
            <a:endParaRPr sz="1575">
              <a:latin typeface="+mn-lt"/>
              <a:ea typeface="宋体" panose="02010600030101010101" pitchFamily="2" charset="-122"/>
              <a:cs typeface="+mn-lt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入射波矢（冷等离子体修正）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75" b="0">
                <a:solidFill>
                  <a:srgbClr val="333333"/>
                </a:solidFill>
                <a:latin typeface="+mn-lt"/>
                <a:ea typeface="宋体" panose="02010600030101010101" pitchFamily="2" charset="-122"/>
                <a:cs typeface="+mn-lt"/>
              </a:rPr>
              <a:t>k₀ = √(ω₀²−ωp²)/c · k_sh</a:t>
            </a:r>
            <a:endParaRPr sz="1575" b="0">
              <a:solidFill>
                <a:srgbClr val="333333"/>
              </a:solidFill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7" name="scale-right"/>
          <p:cNvSpPr>
            <a:spLocks noGrp="1"/>
          </p:cNvSpPr>
          <p:nvPr/>
        </p:nvSpPr>
        <p:spPr>
          <a:xfrm>
            <a:off x="6143625" y="1381125"/>
            <a:ext cx="5476875" cy="4095750"/>
          </a:xfrm>
          <a:prstGeom prst="roundRect">
            <a:avLst>
              <a:gd name="adj" fmla="val 1860"/>
            </a:avLst>
          </a:prstGeom>
          <a:solidFill>
            <a:srgbClr val="F7E8E9"/>
          </a:solidFill>
          <a:ln w="12383">
            <a:solidFill>
              <a:srgbClr val="E4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/>
        </p:txBody>
      </p:sp>
      <p:sp>
        <p:nvSpPr>
          <p:cNvPr id="8" name="scale-code"/>
          <p:cNvSpPr>
            <a:spLocks noGrp="1"/>
          </p:cNvSpPr>
          <p:nvPr/>
        </p:nvSpPr>
        <p:spPr>
          <a:xfrm>
            <a:off x="6429375" y="1571625"/>
            <a:ext cx="49530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每个测量波长 λ：</a:t>
            </a:r>
            <a:endParaRPr sz="135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ω = 2πc/λ</a:t>
            </a:r>
            <a:endParaRPr sz="135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k⃗ = k⃗₀ − (ω/c)·ss</a:t>
            </a:r>
            <a:endParaRPr sz="135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k = √(kx²+ky²+kz²)</a:t>
            </a:r>
            <a:endParaRPr sz="135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Δω = ω−ω₀</a:t>
            </a:r>
            <a:endParaRPr sz="135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endParaRPr sz="1350">
              <a:latin typeface="+mn-lt"/>
              <a:cs typeface="+mn-lt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随后用 k 与 Δω 把“光谱横轴”换成沿散射波矢方向的速度坐标。</a:t>
            </a:r>
            <a:endParaRPr sz="135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endParaRPr sz="1350">
              <a:latin typeface="+mn-lt"/>
              <a:cs typeface="+mn-lt"/>
            </a:endParaRP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实现观察：r_e 与 V 虽被计算/传入，但最终返回的是归一化谱形，绝对功率因子没有进入输出。</a:t>
            </a:r>
            <a:endParaRPr sz="135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</p:txBody>
      </p:sp>
      <p:sp>
        <p:nvSpPr>
          <p:cNvPr id="9" name="citation-16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代码：ots_fourier.py OTS_spectrum_fft 第 1–4 步；Sheffield Ch. 1 §1.4–1.5、Ch. 2 §2.3。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步骤 3–5：波长点如何读取电子分布</a:t>
            </a:r>
          </a:p>
        </p:txBody>
      </p:sp>
      <p:sp>
        <p:nvSpPr>
          <p:cNvPr id="5" name="electron-arrow-0"/>
          <p:cNvSpPr>
            <a:spLocks noGrp="1"/>
          </p:cNvSpPr>
          <p:nvPr/>
        </p:nvSpPr>
        <p:spPr>
          <a:xfrm>
            <a:off x="1857375" y="2095500"/>
            <a:ext cx="523875" cy="2476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6" name="electron-arrow-1"/>
          <p:cNvSpPr>
            <a:spLocks noGrp="1"/>
          </p:cNvSpPr>
          <p:nvPr/>
        </p:nvSpPr>
        <p:spPr>
          <a:xfrm>
            <a:off x="3571875" y="2095500"/>
            <a:ext cx="523875" cy="2476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7" name="electron-arrow-2"/>
          <p:cNvSpPr>
            <a:spLocks noGrp="1"/>
          </p:cNvSpPr>
          <p:nvPr/>
        </p:nvSpPr>
        <p:spPr>
          <a:xfrm>
            <a:off x="5524500" y="2095500"/>
            <a:ext cx="523875" cy="2476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8" name="electron-arrow-3"/>
          <p:cNvSpPr>
            <a:spLocks noGrp="1"/>
          </p:cNvSpPr>
          <p:nvPr/>
        </p:nvSpPr>
        <p:spPr>
          <a:xfrm>
            <a:off x="8048625" y="2095500"/>
            <a:ext cx="523875" cy="2476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9" name="electron-node-0"/>
          <p:cNvSpPr>
            <a:spLocks noGrp="1"/>
          </p:cNvSpPr>
          <p:nvPr/>
        </p:nvSpPr>
        <p:spPr>
          <a:xfrm>
            <a:off x="619125" y="1809750"/>
            <a:ext cx="1381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λ</a:t>
            </a:r>
            <a:endParaRPr sz="13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0" name="electron-node-1"/>
          <p:cNvSpPr>
            <a:spLocks noGrp="1"/>
          </p:cNvSpPr>
          <p:nvPr/>
        </p:nvSpPr>
        <p:spPr>
          <a:xfrm>
            <a:off x="2333625" y="1809750"/>
            <a:ext cx="1381125" cy="857250"/>
          </a:xfrm>
          <a:prstGeom prst="roundRect">
            <a:avLst>
              <a:gd name="adj" fmla="val 8889"/>
            </a:avLst>
          </a:prstGeom>
          <a:solidFill>
            <a:srgbClr val="F7E8E9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ω=2πc/λ</a:t>
            </a:r>
            <a:endParaRPr sz="13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1" name="electron-node-2"/>
          <p:cNvSpPr>
            <a:spLocks noGrp="1"/>
          </p:cNvSpPr>
          <p:nvPr/>
        </p:nvSpPr>
        <p:spPr>
          <a:xfrm>
            <a:off x="4286250" y="1809750"/>
            <a:ext cx="1381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k=|k₀−ωss/c|</a:t>
            </a:r>
            <a:endParaRPr sz="13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2" name="electron-node-3"/>
          <p:cNvSpPr>
            <a:spLocks noGrp="1"/>
          </p:cNvSpPr>
          <p:nvPr/>
        </p:nvSpPr>
        <p:spPr>
          <a:xfrm>
            <a:off x="6810375" y="1809750"/>
            <a:ext cx="2190750" cy="857250"/>
          </a:xfrm>
          <a:prstGeom prst="roundRect">
            <a:avLst>
              <a:gd name="adj" fmla="val 8889"/>
            </a:avLst>
          </a:prstGeom>
          <a:solidFill>
            <a:srgbClr val="F7E8E9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v_s=Δω/k−uₑ·k̂</a:t>
            </a:r>
            <a:endParaRPr sz="13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3" name="electron-node-4"/>
          <p:cNvSpPr>
            <a:spLocks noGrp="1"/>
          </p:cNvSpPr>
          <p:nvPr/>
        </p:nvSpPr>
        <p:spPr>
          <a:xfrm>
            <a:off x="9525000" y="1809750"/>
            <a:ext cx="1381125" cy="857250"/>
          </a:xfrm>
          <a:prstGeom prst="roundRect">
            <a:avLst>
              <a:gd name="adj" fmla="val 8889"/>
            </a:avLst>
          </a:prstGeom>
          <a:solidFill>
            <a:srgbClr val="C8161E"/>
          </a:solidFill>
          <a:ln w="12383">
            <a:solidFill>
              <a:srgbClr val="C8161E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fₑ(v_s)</a:t>
            </a:r>
            <a:endParaRPr sz="135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4" name="inverse-formula"/>
          <p:cNvSpPr>
            <a:spLocks noGrp="1"/>
          </p:cNvSpPr>
          <p:nvPr/>
        </p:nvSpPr>
        <p:spPr>
          <a:xfrm>
            <a:off x="809625" y="3286125"/>
            <a:ext cx="10572750" cy="142875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2100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2100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rPr>
              <a:t>fₑ(v_s) ≈ Σⱼ Fₑ(Kⱼ) · exp(iKⱼv_s) · ΔK / (2π)</a:t>
            </a:r>
            <a:endParaRPr sz="2100" b="1">
              <a:solidFill>
                <a:srgbClr val="9F1118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5" name="inverse-explain"/>
          <p:cNvSpPr>
            <a:spLocks noGrp="1"/>
          </p:cNvSpPr>
          <p:nvPr/>
        </p:nvSpPr>
        <p:spPr>
          <a:xfrm>
            <a:off x="952500" y="4857750"/>
            <a:ext cx="1028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这一步并不先重建整条 EVDF；它只在当前光谱波长所对应的 v_s 上求 fₑ(v_s)。因此一次向量化计算即可得到整段电子特征。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6" name="citation-17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代码：v_s、f_es；Sheffield Eq. (3.4.3) 中 fₑ(ω/k) 正是电子散射项的速度分布采样。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步骤 5：w_ft 怎样把 Fourier 系数变成 χₑ</a:t>
            </a:r>
          </a:p>
        </p:txBody>
      </p:sp>
      <p:sp>
        <p:nvSpPr>
          <p:cNvPr id="5" name="book-chi"/>
          <p:cNvSpPr>
            <a:spLocks noGrp="1"/>
          </p:cNvSpPr>
          <p:nvPr/>
        </p:nvSpPr>
        <p:spPr>
          <a:xfrm>
            <a:off x="523875" y="1381125"/>
            <a:ext cx="4000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5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一般形式（Sheffield Ch.3）</a:t>
            </a:r>
            <a:endParaRPr sz="15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5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χₑ(k,ω) ∝ (1/k²) ∫ dv</a:t>
            </a:r>
            <a:endParaRPr sz="15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5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5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[k·∂fₑ/∂v] / (ω−k·v−i0⁺)</a:t>
            </a:r>
            <a:endParaRPr sz="15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6" name="chi-transform-arrow"/>
          <p:cNvSpPr>
            <a:spLocks noGrp="1"/>
          </p:cNvSpPr>
          <p:nvPr/>
        </p:nvSpPr>
        <p:spPr>
          <a:xfrm>
            <a:off x="4667250" y="2095500"/>
            <a:ext cx="714375" cy="304800"/>
          </a:xfrm>
          <a:prstGeom prst="rightArrow">
            <a:avLst/>
          </a:prstGeom>
          <a:solidFill>
            <a:srgbClr val="E4B4B7"/>
          </a:solidFill>
          <a:ln w="7620">
            <a:solidFill>
              <a:srgbClr val="E4B4B7"/>
            </a:solidFill>
            <a:prstDash val="solid"/>
          </a:ln>
        </p:spPr>
      </p:sp>
      <p:sp>
        <p:nvSpPr>
          <p:cNvPr id="7" name="paper-chi"/>
          <p:cNvSpPr>
            <a:spLocks noGrp="1"/>
          </p:cNvSpPr>
          <p:nvPr/>
        </p:nvSpPr>
        <p:spPr>
          <a:xfrm>
            <a:off x="5476875" y="1381125"/>
            <a:ext cx="6191250" cy="1809750"/>
          </a:xfrm>
          <a:prstGeom prst="roundRect">
            <a:avLst>
              <a:gd name="adj" fmla="val 4211"/>
            </a:avLst>
          </a:prstGeom>
          <a:solidFill>
            <a:srgbClr val="F7E8E9"/>
          </a:solidFill>
          <a:ln w="12383">
            <a:solidFill>
              <a:srgbClr val="E4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725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725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rPr>
              <a:t>Fourier 等价式（OTS paper Eq. 5）</a:t>
            </a:r>
            <a:endParaRPr sz="1725" b="1">
              <a:solidFill>
                <a:srgbClr val="9F1118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725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725" b="1">
                <a:solidFill>
                  <a:srgbClr val="9F1118"/>
                </a:solidFill>
                <a:latin typeface="HarmonyOS Sans SC Light"/>
                <a:ea typeface="HarmonyOS Sans SC Light"/>
                <a:cs typeface="HarmonyOS Sans SC Light"/>
              </a:rPr>
              <a:t>χₑ ∝ (1/k²) ∫₀^∞ dK · K Fₑ(K) exp(−iKω/k)</a:t>
            </a:r>
            <a:endParaRPr sz="1725" b="1">
              <a:solidFill>
                <a:srgbClr val="9F1118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8" name="wft-code"/>
          <p:cNvSpPr>
            <a:spLocks noGrp="1"/>
          </p:cNvSpPr>
          <p:nvPr/>
        </p:nvSpPr>
        <p:spPr>
          <a:xfrm>
            <a:off x="523875" y="3524250"/>
            <a:ext cx="6572250" cy="1809750"/>
          </a:xfrm>
          <a:prstGeom prst="roundRect">
            <a:avLst>
              <a:gd name="adj" fmla="val 4211"/>
            </a:avLst>
          </a:prstGeom>
          <a:solidFill>
            <a:srgbClr val="2B2B2B"/>
          </a:solidFill>
          <a:ln w="12383">
            <a:solidFill>
              <a:srgbClr val="2B2B2B"/>
            </a:solidFill>
            <a:prstDash val="solid"/>
          </a:ln>
        </p:spPr>
        <p:txBody>
          <a:bodyPr lIns="171450" tIns="133350" rIns="133350" bIns="1333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w_ft(v_s,K,F_e)</a:t>
            </a:r>
            <a:endParaRPr sz="135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K_j:</a:t>
            </a:r>
            <a:endParaRPr sz="135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response += relu(K_j) * F_e[j] * exp(i*K_j*v_s) * dK</a:t>
            </a:r>
            <a:endParaRPr sz="135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response /= 2*sqrt(2)*pi</a:t>
            </a:r>
            <a:endParaRPr sz="135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chi-notes"/>
          <p:cNvSpPr>
            <a:spLocks noGrp="1"/>
          </p:cNvSpPr>
          <p:nvPr/>
        </p:nvSpPr>
        <p:spPr>
          <a:xfrm>
            <a:off x="7429500" y="3524250"/>
            <a:ext cx="4048125" cy="18097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理解要点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relu(K) 实现 K&gt;0 半轴积分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代码 Fourier 约定为 exp(−iKv)，因此响应核使用 exp(+iKv_s)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w_es 再乘尺度因子，χₑ=(1/kλD)²·w_es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Re/Im 同时保留非对称 EVDF 信息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0" name="citation-18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来源：Sheffield Eq. (3.3.9–10)、(3.4.3)；OTS_paper.pdf Eq. (3)、Eq. (5)；代码 w_ft。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步骤 6–9：离子响应、介电函数与最终光谱</a:t>
            </a:r>
          </a:p>
        </p:txBody>
      </p:sp>
      <p:sp>
        <p:nvSpPr>
          <p:cNvPr id="5" name="spectrum-arrow-0"/>
          <p:cNvSpPr>
            <a:spLocks noGrp="1"/>
          </p:cNvSpPr>
          <p:nvPr/>
        </p:nvSpPr>
        <p:spPr>
          <a:xfrm>
            <a:off x="2857500" y="3124200"/>
            <a:ext cx="495300" cy="26670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6" name="spectrum-arrow-1"/>
          <p:cNvSpPr>
            <a:spLocks noGrp="1"/>
          </p:cNvSpPr>
          <p:nvPr/>
        </p:nvSpPr>
        <p:spPr>
          <a:xfrm>
            <a:off x="5715000" y="3124200"/>
            <a:ext cx="495300" cy="26670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7" name="spectrum-arrow-2"/>
          <p:cNvSpPr>
            <a:spLocks noGrp="1"/>
          </p:cNvSpPr>
          <p:nvPr/>
        </p:nvSpPr>
        <p:spPr>
          <a:xfrm>
            <a:off x="8572500" y="3124200"/>
            <a:ext cx="495300" cy="26670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8" name="spectrum-block-0"/>
          <p:cNvSpPr>
            <a:spLocks noGrp="1"/>
          </p:cNvSpPr>
          <p:nvPr/>
        </p:nvSpPr>
        <p:spPr>
          <a:xfrm>
            <a:off x="523875" y="1952625"/>
            <a:ext cx="2428875" cy="252412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152400" tIns="152400" rIns="133350" bIns="1333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离子分布与响应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275"/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fᵢ(v)=Gaussian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wᵢ=w_fast(ξᵢ)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χᵢ∝(1/kλD)²·Zᵢ²pᵢ·(Tₑ/Tᵢ)wᵢ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9" name="spectrum-block-1"/>
          <p:cNvSpPr>
            <a:spLocks noGrp="1"/>
          </p:cNvSpPr>
          <p:nvPr/>
        </p:nvSpPr>
        <p:spPr>
          <a:xfrm>
            <a:off x="3381375" y="1952625"/>
            <a:ext cx="2428875" cy="2524125"/>
          </a:xfrm>
          <a:prstGeom prst="roundRect">
            <a:avLst>
              <a:gd name="adj" fmla="val 3137"/>
            </a:avLst>
          </a:prstGeom>
          <a:solidFill>
            <a:srgbClr val="F7E8E9"/>
          </a:solidFill>
          <a:ln w="12383">
            <a:solidFill>
              <a:srgbClr val="D8D8D8"/>
            </a:solidFill>
            <a:prstDash val="solid"/>
          </a:ln>
        </p:spPr>
        <p:txBody>
          <a:bodyPr lIns="152400" tIns="152400" rIns="133350" bIns="1333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总介电函数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275"/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ε = 1 + χₑ + χᵢ₁ + χᵢ₂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0" name="spectrum-block-2"/>
          <p:cNvSpPr>
            <a:spLocks noGrp="1"/>
          </p:cNvSpPr>
          <p:nvPr/>
        </p:nvSpPr>
        <p:spPr>
          <a:xfrm>
            <a:off x="6238875" y="1952625"/>
            <a:ext cx="2428875" cy="252412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152400" tIns="152400" rIns="133350" bIns="1333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谱密度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275"/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S = (2π/k)|1−χₑ/ε|²fₑ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  + (2π/k)|χₑ/ε|²Σ(Zᵢ²pᵢ/Z̄)fᵢ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1" name="spectrum-block-3"/>
          <p:cNvSpPr>
            <a:spLocks noGrp="1"/>
          </p:cNvSpPr>
          <p:nvPr/>
        </p:nvSpPr>
        <p:spPr>
          <a:xfrm>
            <a:off x="9096375" y="1952625"/>
            <a:ext cx="2428875" cy="2524125"/>
          </a:xfrm>
          <a:prstGeom prst="roundRect">
            <a:avLst>
              <a:gd name="adj" fmla="val 3137"/>
            </a:avLst>
          </a:prstGeom>
          <a:solidFill>
            <a:srgbClr val="C8161E"/>
          </a:solidFill>
          <a:ln w="12383">
            <a:solidFill>
              <a:srgbClr val="C8161E"/>
            </a:solidFill>
            <a:prstDash val="solid"/>
          </a:ln>
        </p:spPr>
        <p:txBody>
          <a:bodyPr lIns="152400" tIns="152400" rIns="133350" bIns="1333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归一化输出</a:t>
            </a:r>
            <a:endParaRPr sz="12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275"/>
          </a:p>
          <a:p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P = Re[(1+2Δω/ω₀)S]</a:t>
            </a:r>
            <a:endParaRPr sz="12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I = P / max|P|</a:t>
            </a:r>
            <a:endParaRPr sz="12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2" name="spectrum-interpret"/>
          <p:cNvSpPr>
            <a:spLocks noGrp="1"/>
          </p:cNvSpPr>
          <p:nvPr/>
        </p:nvSpPr>
        <p:spPr>
          <a:xfrm>
            <a:off x="857250" y="4857750"/>
            <a:ext cx="10477500" cy="7810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电子项同时包含“自由电子”与电子屏蔽修正；离子项通过 |χₑ/ε|² 被电子云“看见”，形成离子特征。三段波长分别调用同一正向模型，并各自归一化。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3" name="citation-19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Sheffield Eq. (3.4.3)；OTS_paper.pdf Eq. (1–2)；代码 chi_e / chi_i1 / chi_i2 / epsilon / S_e / P_s / I。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从理论公式到代码变量：逐项对应</a:t>
            </a:r>
          </a:p>
        </p:txBody>
      </p:sp>
      <p:sp>
        <p:nvSpPr>
          <p:cNvPr id="24" name="map-head-0"/>
          <p:cNvSpPr>
            <a:spLocks noGrp="1"/>
          </p:cNvSpPr>
          <p:nvPr/>
        </p:nvSpPr>
        <p:spPr>
          <a:xfrm>
            <a:off x="476250" y="1285875"/>
            <a:ext cx="2238375" cy="43815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物理对象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5" name="map-head-1"/>
          <p:cNvSpPr>
            <a:spLocks noGrp="1"/>
          </p:cNvSpPr>
          <p:nvPr/>
        </p:nvSpPr>
        <p:spPr>
          <a:xfrm>
            <a:off x="2714625" y="1285875"/>
            <a:ext cx="3190875" cy="43815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理论表达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6" name="map-head-2"/>
          <p:cNvSpPr>
            <a:spLocks noGrp="1"/>
          </p:cNvSpPr>
          <p:nvPr/>
        </p:nvSpPr>
        <p:spPr>
          <a:xfrm>
            <a:off x="5905500" y="1285875"/>
            <a:ext cx="3143250" cy="43815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代码实现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7" name="map-head-3"/>
          <p:cNvSpPr>
            <a:spLocks noGrp="1"/>
          </p:cNvSpPr>
          <p:nvPr/>
        </p:nvSpPr>
        <p:spPr>
          <a:xfrm>
            <a:off x="9048750" y="1285875"/>
            <a:ext cx="2762250" cy="438150"/>
          </a:xfrm>
          <a:prstGeom prst="roundRect">
            <a:avLst>
              <a:gd name="adj" fmla="val 0"/>
            </a:avLst>
          </a:prstGeom>
          <a:solidFill>
            <a:srgbClr val="C8161E"/>
          </a:solidFill>
          <a:ln w="12383">
            <a:solidFill>
              <a:srgbClr val="FFFFF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输出含义</a:t>
            </a:r>
            <a:endParaRPr sz="120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8" name="map-cell-0-0"/>
          <p:cNvSpPr>
            <a:spLocks noGrp="1"/>
          </p:cNvSpPr>
          <p:nvPr/>
        </p:nvSpPr>
        <p:spPr>
          <a:xfrm>
            <a:off x="476250" y="1724025"/>
            <a:ext cx="2238375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散射波矢/频移</a:t>
            </a:r>
            <a:endParaRPr sz="10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9" name="map-cell-0-1"/>
          <p:cNvSpPr>
            <a:spLocks noGrp="1"/>
          </p:cNvSpPr>
          <p:nvPr/>
        </p:nvSpPr>
        <p:spPr>
          <a:xfrm>
            <a:off x="2714625" y="1724025"/>
            <a:ext cx="3190875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k=k_s−k_i；ω=ω_s−ω_i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0" name="map-cell-0-2"/>
          <p:cNvSpPr>
            <a:spLocks noGrp="1"/>
          </p:cNvSpPr>
          <p:nvPr/>
        </p:nvSpPr>
        <p:spPr>
          <a:xfrm>
            <a:off x="5905500" y="1724025"/>
            <a:ext cx="3143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kx_s,ky_s,kz_s,k_s,omega_s</a:t>
            </a:r>
            <a:endParaRPr sz="97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" name="map-cell-0-3"/>
          <p:cNvSpPr>
            <a:spLocks noGrp="1"/>
          </p:cNvSpPr>
          <p:nvPr/>
        </p:nvSpPr>
        <p:spPr>
          <a:xfrm>
            <a:off x="9048750" y="1724025"/>
            <a:ext cx="2762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λ 点 → 相速度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2" name="map-cell-1-0"/>
          <p:cNvSpPr>
            <a:spLocks noGrp="1"/>
          </p:cNvSpPr>
          <p:nvPr/>
        </p:nvSpPr>
        <p:spPr>
          <a:xfrm>
            <a:off x="476250" y="2371725"/>
            <a:ext cx="2238375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电子分布采样</a:t>
            </a:r>
            <a:endParaRPr sz="10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3" name="map-cell-1-1"/>
          <p:cNvSpPr>
            <a:spLocks noGrp="1"/>
          </p:cNvSpPr>
          <p:nvPr/>
        </p:nvSpPr>
        <p:spPr>
          <a:xfrm>
            <a:off x="2714625" y="2371725"/>
            <a:ext cx="3190875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fₑ(ω/k)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4" name="map-cell-1-2"/>
          <p:cNvSpPr>
            <a:spLocks noGrp="1"/>
          </p:cNvSpPr>
          <p:nvPr/>
        </p:nvSpPr>
        <p:spPr>
          <a:xfrm>
            <a:off x="5905500" y="2371725"/>
            <a:ext cx="3143250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f_es 的 Fourier 逆积分</a:t>
            </a:r>
            <a:endParaRPr sz="97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map-cell-1-3"/>
          <p:cNvSpPr>
            <a:spLocks noGrp="1"/>
          </p:cNvSpPr>
          <p:nvPr/>
        </p:nvSpPr>
        <p:spPr>
          <a:xfrm>
            <a:off x="9048750" y="2371725"/>
            <a:ext cx="2762250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电子特征包络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6" name="map-cell-2-0"/>
          <p:cNvSpPr>
            <a:spLocks noGrp="1"/>
          </p:cNvSpPr>
          <p:nvPr/>
        </p:nvSpPr>
        <p:spPr>
          <a:xfrm>
            <a:off x="476250" y="3019425"/>
            <a:ext cx="2238375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电子极化率</a:t>
            </a:r>
            <a:endParaRPr sz="10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7" name="map-cell-2-1"/>
          <p:cNvSpPr>
            <a:spLocks noGrp="1"/>
          </p:cNvSpPr>
          <p:nvPr/>
        </p:nvSpPr>
        <p:spPr>
          <a:xfrm>
            <a:off x="2714625" y="3019425"/>
            <a:ext cx="3190875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χₑ∝∫(∂f/∂v)/(ω−kv)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8" name="map-cell-2-2"/>
          <p:cNvSpPr>
            <a:spLocks noGrp="1"/>
          </p:cNvSpPr>
          <p:nvPr/>
        </p:nvSpPr>
        <p:spPr>
          <a:xfrm>
            <a:off x="5905500" y="3019425"/>
            <a:ext cx="3143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w_ft → w_es → chi_e</a:t>
            </a:r>
            <a:endParaRPr sz="97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map-cell-2-3"/>
          <p:cNvSpPr>
            <a:spLocks noGrp="1"/>
          </p:cNvSpPr>
          <p:nvPr/>
        </p:nvSpPr>
        <p:spPr>
          <a:xfrm>
            <a:off x="9048750" y="3019425"/>
            <a:ext cx="2762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屏蔽与 Landau 响应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0" name="map-cell-3-0"/>
          <p:cNvSpPr>
            <a:spLocks noGrp="1"/>
          </p:cNvSpPr>
          <p:nvPr/>
        </p:nvSpPr>
        <p:spPr>
          <a:xfrm>
            <a:off x="476250" y="3667125"/>
            <a:ext cx="2238375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离子极化率</a:t>
            </a:r>
            <a:endParaRPr sz="10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1" name="map-cell-3-1"/>
          <p:cNvSpPr>
            <a:spLocks noGrp="1"/>
          </p:cNvSpPr>
          <p:nvPr/>
        </p:nvSpPr>
        <p:spPr>
          <a:xfrm>
            <a:off x="2714625" y="3667125"/>
            <a:ext cx="3190875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χᵢ：Maxwellian 物种求和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2" name="map-cell-3-2"/>
          <p:cNvSpPr>
            <a:spLocks noGrp="1"/>
          </p:cNvSpPr>
          <p:nvPr/>
        </p:nvSpPr>
        <p:spPr>
          <a:xfrm>
            <a:off x="5905500" y="3667125"/>
            <a:ext cx="3143250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w_fast, chi_i1, chi_i2</a:t>
            </a:r>
            <a:endParaRPr sz="97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map-cell-3-3"/>
          <p:cNvSpPr>
            <a:spLocks noGrp="1"/>
          </p:cNvSpPr>
          <p:nvPr/>
        </p:nvSpPr>
        <p:spPr>
          <a:xfrm>
            <a:off x="9048750" y="3667125"/>
            <a:ext cx="2762250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离子声特征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4" name="map-cell-4-0"/>
          <p:cNvSpPr>
            <a:spLocks noGrp="1"/>
          </p:cNvSpPr>
          <p:nvPr/>
        </p:nvSpPr>
        <p:spPr>
          <a:xfrm>
            <a:off x="476250" y="4314825"/>
            <a:ext cx="2238375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介电函数</a:t>
            </a:r>
            <a:endParaRPr sz="10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5" name="map-cell-4-1"/>
          <p:cNvSpPr>
            <a:spLocks noGrp="1"/>
          </p:cNvSpPr>
          <p:nvPr/>
        </p:nvSpPr>
        <p:spPr>
          <a:xfrm>
            <a:off x="2714625" y="4314825"/>
            <a:ext cx="3190875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ε=1+χₑ+Σχᵢ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6" name="map-cell-4-2"/>
          <p:cNvSpPr>
            <a:spLocks noGrp="1"/>
          </p:cNvSpPr>
          <p:nvPr/>
        </p:nvSpPr>
        <p:spPr>
          <a:xfrm>
            <a:off x="5905500" y="4314825"/>
            <a:ext cx="3143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epsilon</a:t>
            </a:r>
            <a:endParaRPr sz="97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7" name="map-cell-4-3"/>
          <p:cNvSpPr>
            <a:spLocks noGrp="1"/>
          </p:cNvSpPr>
          <p:nvPr/>
        </p:nvSpPr>
        <p:spPr>
          <a:xfrm>
            <a:off x="9048750" y="4314825"/>
            <a:ext cx="2762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集体共振分母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8" name="map-cell-5-0"/>
          <p:cNvSpPr>
            <a:spLocks noGrp="1"/>
          </p:cNvSpPr>
          <p:nvPr/>
        </p:nvSpPr>
        <p:spPr>
          <a:xfrm>
            <a:off x="476250" y="4962525"/>
            <a:ext cx="2238375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谱密度与功率</a:t>
            </a:r>
            <a:endParaRPr sz="1050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49" name="map-cell-5-1"/>
          <p:cNvSpPr>
            <a:spLocks noGrp="1"/>
          </p:cNvSpPr>
          <p:nvPr/>
        </p:nvSpPr>
        <p:spPr>
          <a:xfrm>
            <a:off x="2714625" y="4962525"/>
            <a:ext cx="3190875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S(k,ω)，Pₛ∝(1+2ω/ω₀)S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50" name="map-cell-5-2"/>
          <p:cNvSpPr>
            <a:spLocks noGrp="1"/>
          </p:cNvSpPr>
          <p:nvPr/>
        </p:nvSpPr>
        <p:spPr>
          <a:xfrm>
            <a:off x="5905500" y="4962525"/>
            <a:ext cx="3143250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S_e → P_s → I</a:t>
            </a:r>
            <a:endParaRPr sz="97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1" name="map-cell-5-3"/>
          <p:cNvSpPr>
            <a:spLocks noGrp="1"/>
          </p:cNvSpPr>
          <p:nvPr/>
        </p:nvSpPr>
        <p:spPr>
          <a:xfrm>
            <a:off x="9048750" y="4962525"/>
            <a:ext cx="2762250" cy="64770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66675" bIns="571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0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归一化训练输入</a:t>
            </a:r>
            <a:endParaRPr sz="10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439862" y="1355320"/>
            <a:ext cx="8796337" cy="1060855"/>
          </a:xfrm>
        </p:spPr>
        <p:txBody>
          <a:bodyPr/>
          <a:lstStyle/>
          <a:p>
            <a:r>
              <a:rPr sz="6000" b="1">
                <a:solidFill>
                  <a:srgbClr val="C8161E"/>
                </a:solidFill>
                <a:latin typeface="+mj-ea"/>
                <a:ea typeface="+mj-ea"/>
                <a:cs typeface="+mj-ea"/>
              </a:rPr>
              <a:t>网络训练、推理与工程注意事项</a:t>
            </a:r>
            <a:endParaRPr sz="6000" b="1">
              <a:solidFill>
                <a:srgbClr val="C8161E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ïṥļiḋe"/>
          <p:cNvSpPr>
            <a:spLocks noGrp="1"/>
          </p:cNvSpPr>
          <p:nvPr/>
        </p:nvSpPr>
        <p:spPr>
          <a:xfrm>
            <a:off x="1154827" y="1885747"/>
            <a:ext cx="2683748" cy="5386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34400" b="1">
                <a:solidFill>
                  <a:schemeClr val="tx2">
                    <a:lumMod val="20000"/>
                    <a:lumOff val="80000"/>
                  </a:schemeClr>
                </a:solidFill>
              </a:rPr>
              <a:t>03</a:t>
            </a:r>
            <a:endParaRPr sz="34400" b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ModelOTS：一个大而直接的频谱反演 MLP</a:t>
            </a:r>
          </a:p>
        </p:txBody>
      </p:sp>
      <p:sp>
        <p:nvSpPr>
          <p:cNvPr id="24" name="net-arrow-0"/>
          <p:cNvSpPr>
            <a:spLocks noGrp="1"/>
          </p:cNvSpPr>
          <p:nvPr/>
        </p:nvSpPr>
        <p:spPr>
          <a:xfrm>
            <a:off x="2524125" y="2809875"/>
            <a:ext cx="571500" cy="3238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25" name="net-arrow-1"/>
          <p:cNvSpPr>
            <a:spLocks noGrp="1"/>
          </p:cNvSpPr>
          <p:nvPr/>
        </p:nvSpPr>
        <p:spPr>
          <a:xfrm>
            <a:off x="5238750" y="2809875"/>
            <a:ext cx="571500" cy="3238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26" name="net-arrow-2"/>
          <p:cNvSpPr>
            <a:spLocks noGrp="1"/>
          </p:cNvSpPr>
          <p:nvPr/>
        </p:nvSpPr>
        <p:spPr>
          <a:xfrm>
            <a:off x="7953375" y="2809875"/>
            <a:ext cx="571500" cy="323850"/>
          </a:xfrm>
          <a:prstGeom prst="rightArrow">
            <a:avLst/>
          </a:prstGeom>
          <a:solidFill>
            <a:srgbClr val="E3B3B6"/>
          </a:solidFill>
          <a:ln w="7620">
            <a:solidFill>
              <a:srgbClr val="E3B3B6"/>
            </a:solidFill>
            <a:prstDash val="solid"/>
          </a:ln>
        </p:spPr>
      </p:sp>
      <p:sp>
        <p:nvSpPr>
          <p:cNvPr id="27" name="net-layer-0"/>
          <p:cNvSpPr>
            <a:spLocks noGrp="1"/>
          </p:cNvSpPr>
          <p:nvPr/>
        </p:nvSpPr>
        <p:spPr>
          <a:xfrm>
            <a:off x="523875" y="1952625"/>
            <a:ext cx="2143125" cy="21907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输入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1224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三段光谱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参数 ≈0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8" name="net-layer-1"/>
          <p:cNvSpPr>
            <a:spLocks noGrp="1"/>
          </p:cNvSpPr>
          <p:nvPr/>
        </p:nvSpPr>
        <p:spPr>
          <a:xfrm>
            <a:off x="3238500" y="1952625"/>
            <a:ext cx="2143125" cy="2190750"/>
          </a:xfrm>
          <a:prstGeom prst="roundRect">
            <a:avLst>
              <a:gd name="adj" fmla="val 3556"/>
            </a:avLst>
          </a:prstGeom>
          <a:solidFill>
            <a:srgbClr val="F7E8E9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隐藏层 1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Linear 1224→5000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LeakyReLU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参数 ≈6.1M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9" name="net-layer-2"/>
          <p:cNvSpPr>
            <a:spLocks noGrp="1"/>
          </p:cNvSpPr>
          <p:nvPr/>
        </p:nvSpPr>
        <p:spPr>
          <a:xfrm>
            <a:off x="5953125" y="1952625"/>
            <a:ext cx="2143125" cy="21907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隐藏层 2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Linear 5000→5000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LeakyReLU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参数 ≈25.0M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0" name="net-layer-3"/>
          <p:cNvSpPr>
            <a:spLocks noGrp="1"/>
          </p:cNvSpPr>
          <p:nvPr/>
        </p:nvSpPr>
        <p:spPr>
          <a:xfrm>
            <a:off x="8667750" y="1952625"/>
            <a:ext cx="2143125" cy="2190750"/>
          </a:xfrm>
          <a:prstGeom prst="roundRect">
            <a:avLst>
              <a:gd name="adj" fmla="val 3556"/>
            </a:avLst>
          </a:prstGeom>
          <a:solidFill>
            <a:srgbClr val="C8161E"/>
          </a:solidFill>
          <a:ln w="12383">
            <a:solidFill>
              <a:srgbClr val="C8161E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输出</a:t>
            </a:r>
            <a:endParaRPr sz="135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Linear 5000→160</a:t>
            </a:r>
            <a:endParaRPr sz="135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无激活</a:t>
            </a:r>
            <a:endParaRPr sz="135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endParaRPr sz="1350"/>
          </a:p>
          <a:p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参数 ≈0.8M</a:t>
            </a:r>
            <a:endParaRPr sz="1350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1" name="net-rationale"/>
          <p:cNvSpPr>
            <a:spLocks noGrp="1"/>
          </p:cNvSpPr>
          <p:nvPr/>
        </p:nvSpPr>
        <p:spPr>
          <a:xfrm>
            <a:off x="1143000" y="4524375"/>
            <a:ext cx="9906000" cy="1095375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152400" tIns="114300" rIns="152400" bIns="1143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为什么不是 CNN？光谱不同波长位置具有明确物理含义，不天然满足平移不变性。两层超宽 MLP 用约 3200 万参数直接学习全局非线性映射；线性输出允许 Fourier 系数取任意正负值。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训练循环：119,000 次全批次 Adam 更新</a:t>
            </a:r>
          </a:p>
        </p:txBody>
      </p:sp>
      <p:sp>
        <p:nvSpPr>
          <p:cNvPr id="24" name="train-loop"/>
          <p:cNvSpPr>
            <a:spLocks noGrp="1"/>
          </p:cNvSpPr>
          <p:nvPr/>
        </p:nvSpPr>
        <p:spPr>
          <a:xfrm>
            <a:off x="523875" y="1428750"/>
            <a:ext cx="4381500" cy="3667125"/>
          </a:xfrm>
          <a:prstGeom prst="roundRect">
            <a:avLst>
              <a:gd name="adj" fmla="val 2078"/>
            </a:avLst>
          </a:prstGeom>
          <a:solidFill>
            <a:srgbClr val="2B2B2B"/>
          </a:solidFill>
          <a:ln w="12383">
            <a:solidFill>
              <a:srgbClr val="2B2B2B"/>
            </a:solidFill>
            <a:prstDash val="solid"/>
          </a:ln>
        </p:spPr>
        <p:txBody>
          <a:bodyPr lIns="209550" tIns="171450" rIns="171450" bIns="1714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每一步</a:t>
            </a:r>
            <a:endParaRPr sz="1425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1. y_pred = model(xs)</a:t>
            </a:r>
            <a:endParaRPr sz="1425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2. loss = mean(|y_pred−ys|)</a:t>
            </a:r>
            <a:endParaRPr sz="1425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3. optimizer.zero_grad()</a:t>
            </a:r>
            <a:endParaRPr sz="1425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4. loss.backward()</a:t>
            </a:r>
            <a:endParaRPr sz="1425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5. optimizer.step()</a:t>
            </a:r>
            <a:endParaRPr sz="1425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25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每 200 步打印一次 loss</a:t>
            </a:r>
            <a:endParaRPr sz="1425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stage-arrow-0"/>
          <p:cNvSpPr>
            <a:spLocks noGrp="1"/>
          </p:cNvSpPr>
          <p:nvPr/>
        </p:nvSpPr>
        <p:spPr>
          <a:xfrm>
            <a:off x="6667500" y="2524125"/>
            <a:ext cx="342900" cy="228600"/>
          </a:xfrm>
          <a:prstGeom prst="rightArrow">
            <a:avLst/>
          </a:prstGeom>
          <a:solidFill>
            <a:srgbClr val="E2B1B4"/>
          </a:solidFill>
          <a:ln w="7620">
            <a:solidFill>
              <a:srgbClr val="E2B1B4"/>
            </a:solidFill>
            <a:prstDash val="solid"/>
          </a:ln>
        </p:spPr>
      </p:sp>
      <p:sp>
        <p:nvSpPr>
          <p:cNvPr id="26" name="stage-0"/>
          <p:cNvSpPr>
            <a:spLocks noGrp="1"/>
          </p:cNvSpPr>
          <p:nvPr/>
        </p:nvSpPr>
        <p:spPr>
          <a:xfrm>
            <a:off x="5381625" y="1905000"/>
            <a:ext cx="1333500" cy="14763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阶段 1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3,000 步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lr=1e−4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7" name="stage-arrow-1"/>
          <p:cNvSpPr>
            <a:spLocks noGrp="1"/>
          </p:cNvSpPr>
          <p:nvPr/>
        </p:nvSpPr>
        <p:spPr>
          <a:xfrm>
            <a:off x="7953375" y="2524125"/>
            <a:ext cx="342900" cy="228600"/>
          </a:xfrm>
          <a:prstGeom prst="rightArrow">
            <a:avLst/>
          </a:prstGeom>
          <a:solidFill>
            <a:srgbClr val="E2B1B4"/>
          </a:solidFill>
          <a:ln w="7620">
            <a:solidFill>
              <a:srgbClr val="E2B1B4"/>
            </a:solidFill>
            <a:prstDash val="solid"/>
          </a:ln>
        </p:spPr>
      </p:sp>
      <p:sp>
        <p:nvSpPr>
          <p:cNvPr id="28" name="stage-1"/>
          <p:cNvSpPr>
            <a:spLocks noGrp="1"/>
          </p:cNvSpPr>
          <p:nvPr/>
        </p:nvSpPr>
        <p:spPr>
          <a:xfrm>
            <a:off x="6953250" y="1905000"/>
            <a:ext cx="1333500" cy="1476375"/>
          </a:xfrm>
          <a:prstGeom prst="roundRect">
            <a:avLst>
              <a:gd name="adj" fmla="val 5714"/>
            </a:avLst>
          </a:prstGeom>
          <a:solidFill>
            <a:srgbClr val="F7E8E9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阶段 2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6,000 步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lr=1e−5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9" name="stage-arrow-2"/>
          <p:cNvSpPr>
            <a:spLocks noGrp="1"/>
          </p:cNvSpPr>
          <p:nvPr/>
        </p:nvSpPr>
        <p:spPr>
          <a:xfrm>
            <a:off x="9239250" y="2524125"/>
            <a:ext cx="342900" cy="228600"/>
          </a:xfrm>
          <a:prstGeom prst="rightArrow">
            <a:avLst/>
          </a:prstGeom>
          <a:solidFill>
            <a:srgbClr val="E2B1B4"/>
          </a:solidFill>
          <a:ln w="7620">
            <a:solidFill>
              <a:srgbClr val="E2B1B4"/>
            </a:solidFill>
            <a:prstDash val="solid"/>
          </a:ln>
        </p:spPr>
      </p:sp>
      <p:sp>
        <p:nvSpPr>
          <p:cNvPr id="30" name="stage-2"/>
          <p:cNvSpPr>
            <a:spLocks noGrp="1"/>
          </p:cNvSpPr>
          <p:nvPr/>
        </p:nvSpPr>
        <p:spPr>
          <a:xfrm>
            <a:off x="8524875" y="1905000"/>
            <a:ext cx="1333500" cy="14763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阶段 3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10,000 步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lr=1e−6</a:t>
            </a:r>
            <a:endParaRPr sz="1275" b="1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1" name="stage-3"/>
          <p:cNvSpPr>
            <a:spLocks noGrp="1"/>
          </p:cNvSpPr>
          <p:nvPr/>
        </p:nvSpPr>
        <p:spPr>
          <a:xfrm>
            <a:off x="10096500" y="1905000"/>
            <a:ext cx="1333500" cy="1476375"/>
          </a:xfrm>
          <a:prstGeom prst="roundRect">
            <a:avLst>
              <a:gd name="adj" fmla="val 5714"/>
            </a:avLst>
          </a:prstGeom>
          <a:solidFill>
            <a:srgbClr val="C8161E"/>
          </a:solidFill>
          <a:ln w="12383">
            <a:solidFill>
              <a:srgbClr val="C8161E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阶段 4</a:t>
            </a:r>
            <a:endParaRPr sz="12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100,000 步</a:t>
            </a:r>
            <a:endParaRPr sz="12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lr=1e−7</a:t>
            </a:r>
            <a:endParaRPr sz="12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32" name="train-warning"/>
          <p:cNvSpPr>
            <a:spLocks noGrp="1"/>
          </p:cNvSpPr>
          <p:nvPr/>
        </p:nvSpPr>
        <p:spPr>
          <a:xfrm>
            <a:off x="5381625" y="3810000"/>
            <a:ext cx="6143625" cy="1381125"/>
          </a:xfrm>
          <a:prstGeom prst="roundRect">
            <a:avLst>
              <a:gd name="adj" fmla="val 5517"/>
            </a:avLst>
          </a:prstGeom>
          <a:solidFill>
            <a:srgbClr val="F7E8E9"/>
          </a:solidFill>
          <a:ln w="12383">
            <a:solidFill>
              <a:srgbClr val="E4B4B7"/>
            </a:solidFill>
            <a:prstDash val="solid"/>
          </a:ln>
        </p:spPr>
        <p:txBody>
          <a:bodyPr lIns="152400" tIns="114300" rIns="133350" bIns="1143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实现与论文的关键差异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当前 train.py：Fourier 系数域 L1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论文文字：逆变换后的 EVDF 域 MSE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• 当前：全批次，无 DataLoader、验证集、早停或动态 scheduler</a:t>
            </a:r>
            <a:endParaRPr sz="1275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评估与推理：从 160 个实数返回 fₑ(v)</a:t>
            </a:r>
          </a:p>
        </p:txBody>
      </p:sp>
      <p:sp>
        <p:nvSpPr>
          <p:cNvPr id="5" name="flow-arrow-0"/>
          <p:cNvSpPr>
            <a:spLocks noGrp="1"/>
          </p:cNvSpPr>
          <p:nvPr/>
        </p:nvSpPr>
        <p:spPr>
          <a:xfrm>
            <a:off x="2672715" y="250507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6" name="flow-arrow-1"/>
          <p:cNvSpPr>
            <a:spLocks noGrp="1"/>
          </p:cNvSpPr>
          <p:nvPr/>
        </p:nvSpPr>
        <p:spPr>
          <a:xfrm>
            <a:off x="4897755" y="250507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7" name="flow-arrow-2"/>
          <p:cNvSpPr>
            <a:spLocks noGrp="1"/>
          </p:cNvSpPr>
          <p:nvPr/>
        </p:nvSpPr>
        <p:spPr>
          <a:xfrm>
            <a:off x="7122795" y="250507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8" name="flow-arrow-3"/>
          <p:cNvSpPr>
            <a:spLocks noGrp="1"/>
          </p:cNvSpPr>
          <p:nvPr/>
        </p:nvSpPr>
        <p:spPr>
          <a:xfrm>
            <a:off x="9347835" y="2505075"/>
            <a:ext cx="171450" cy="228600"/>
          </a:xfrm>
          <a:prstGeom prst="rightArrow">
            <a:avLst/>
          </a:prstGeom>
          <a:solidFill>
            <a:srgbClr val="E4B6B9"/>
          </a:solidFill>
          <a:ln w="7620">
            <a:solidFill>
              <a:srgbClr val="E4B6B9"/>
            </a:solidFill>
            <a:prstDash val="solid"/>
          </a:ln>
        </p:spPr>
      </p:sp>
      <p:sp>
        <p:nvSpPr>
          <p:cNvPr id="9" name="flow-step-0"/>
          <p:cNvSpPr>
            <a:spLocks noGrp="1"/>
          </p:cNvSpPr>
          <p:nvPr/>
        </p:nvSpPr>
        <p:spPr>
          <a:xfrm>
            <a:off x="666750" y="2000250"/>
            <a:ext cx="195834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383">
            <a:solidFill>
              <a:srgbClr val="D6D6D6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01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加载模型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pickle → state_dict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0" name="flow-step-1"/>
          <p:cNvSpPr>
            <a:spLocks noGrp="1"/>
          </p:cNvSpPr>
          <p:nvPr/>
        </p:nvSpPr>
        <p:spPr>
          <a:xfrm>
            <a:off x="2891790" y="2000250"/>
            <a:ext cx="1958340" cy="1238250"/>
          </a:xfrm>
          <a:prstGeom prst="roundRect">
            <a:avLst>
              <a:gd name="adj" fmla="val 6154"/>
            </a:avLst>
          </a:prstGeom>
          <a:solidFill>
            <a:srgbClr val="F7E8E9"/>
          </a:solidFill>
          <a:ln w="12383">
            <a:solidFill>
              <a:srgbClr val="E8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02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读取样本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xs:[1,1224]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1" name="flow-step-2"/>
          <p:cNvSpPr>
            <a:spLocks noGrp="1"/>
          </p:cNvSpPr>
          <p:nvPr/>
        </p:nvSpPr>
        <p:spPr>
          <a:xfrm>
            <a:off x="5116830" y="2000250"/>
            <a:ext cx="195834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383">
            <a:solidFill>
              <a:srgbClr val="D6D6D6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03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前向推理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ys_pred:[1,160]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2" name="flow-step-3"/>
          <p:cNvSpPr>
            <a:spLocks noGrp="1"/>
          </p:cNvSpPr>
          <p:nvPr/>
        </p:nvSpPr>
        <p:spPr>
          <a:xfrm>
            <a:off x="7341870" y="2000250"/>
            <a:ext cx="1958340" cy="1238250"/>
          </a:xfrm>
          <a:prstGeom prst="roundRect">
            <a:avLst>
              <a:gd name="adj" fmla="val 6154"/>
            </a:avLst>
          </a:prstGeom>
          <a:solidFill>
            <a:srgbClr val="F7E8E9"/>
          </a:solidFill>
          <a:ln w="12383">
            <a:solidFill>
              <a:srgbClr val="E8B4B7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04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组成复数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Re + i·Im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3" name="flow-step-4"/>
          <p:cNvSpPr>
            <a:spLocks noGrp="1"/>
          </p:cNvSpPr>
          <p:nvPr/>
        </p:nvSpPr>
        <p:spPr>
          <a:xfrm>
            <a:off x="9566910" y="2000250"/>
            <a:ext cx="195834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383">
            <a:solidFill>
              <a:srgbClr val="D6D6D6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05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逆 Fourier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ift_k(K,F)</a:t>
            </a:r>
            <a:endParaRPr sz="120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4" name="eval-output"/>
          <p:cNvSpPr>
            <a:spLocks noGrp="1"/>
          </p:cNvSpPr>
          <p:nvPr/>
        </p:nvSpPr>
        <p:spPr>
          <a:xfrm>
            <a:off x="857250" y="3952875"/>
            <a:ext cx="10477500" cy="1381125"/>
          </a:xfrm>
          <a:prstGeom prst="roundRect">
            <a:avLst>
              <a:gd name="adj" fmla="val 5517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171450" tIns="133350" rIns="152400" bIns="13335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evaluateModel.py：批量绘制真值/预测 EVDF（result1.png）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singleSpectrum.py：检查单个样本的三段输入光谱与 Fourier 实部/虚部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quick_test.py：用 20+5 个样本验证“EVDF→光谱→DNN→EVDF”链路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15" name="citation-24"/>
          <p:cNvSpPr>
            <a:spLocks noGrp="1"/>
          </p:cNvSpPr>
          <p:nvPr/>
        </p:nvSpPr>
        <p:spPr>
          <a:xfrm>
            <a:off x="419100" y="6153150"/>
            <a:ext cx="1104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825" b="0">
                <a:solidFill>
                  <a:srgbClr val="777777"/>
                </a:solidFill>
                <a:latin typeface="HarmonyOS Sans SC Light"/>
                <a:ea typeface="HarmonyOS Sans SC Light"/>
                <a:cs typeface="HarmonyOS Sans SC Light"/>
              </a:rPr>
              <a:t>评估的物理终点不是系数误差，而是重建 fₑ(v) 的形状、归一化、非负性与尾部结构。</a:t>
            </a:r>
            <a:endParaRPr sz="825" b="0">
              <a:solidFill>
                <a:srgbClr val="777777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" name="任意多边形: 形状 74"/>
          <p:cNvSpPr>
            <a:spLocks noGrp="1"/>
          </p:cNvSpPr>
          <p:nvPr/>
        </p:nvSpPr>
        <p:spPr>
          <a:xfrm>
            <a:off x="9145266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/>
          <p:cNvSpPr>
            <a:spLocks noGrp="1"/>
          </p:cNvSpPr>
          <p:nvPr/>
        </p:nvSpPr>
        <p:spPr>
          <a:xfrm>
            <a:off x="3072442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/>
          <p:cNvSpPr>
            <a:spLocks noGrp="1"/>
          </p:cNvSpPr>
          <p:nvPr/>
        </p:nvSpPr>
        <p:spPr>
          <a:xfrm>
            <a:off x="24921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/>
          <p:cNvSpPr>
            <a:spLocks noGrp="1"/>
          </p:cNvSpPr>
          <p:nvPr/>
        </p:nvSpPr>
        <p:spPr>
          <a:xfrm>
            <a:off x="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/>
          <p:cNvSpPr>
            <a:spLocks noGrp="1"/>
          </p:cNvSpPr>
          <p:nvPr/>
        </p:nvSpPr>
        <p:spPr>
          <a:xfrm>
            <a:off x="3048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/>
          <p:cNvSpPr>
            <a:spLocks noGrp="1"/>
          </p:cNvSpPr>
          <p:nvPr/>
        </p:nvSpPr>
        <p:spPr>
          <a:xfrm>
            <a:off x="60833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161E"/>
          </a:solidFill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/>
          <p:cNvSpPr>
            <a:spLocks noGrp="1"/>
          </p:cNvSpPr>
          <p:nvPr/>
        </p:nvSpPr>
        <p:spPr>
          <a:xfrm>
            <a:off x="9144000" y="0"/>
            <a:ext cx="3048000" cy="6858000"/>
          </a:xfrm>
          <a:custGeom>
            <a:avLst/>
            <a:gdLst/>
            <a:ahLst/>
            <a:cxnLst/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/>
          <p:cNvSpPr>
            <a:spLocks noGrp="1"/>
          </p:cNvSpPr>
          <p:nvPr/>
        </p:nvSpPr>
        <p:spPr>
          <a:xfrm>
            <a:off x="3175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01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4" name="文本框 43"/>
          <p:cNvSpPr>
            <a:spLocks noGrp="1"/>
          </p:cNvSpPr>
          <p:nvPr/>
        </p:nvSpPr>
        <p:spPr>
          <a:xfrm>
            <a:off x="33909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02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5" name="文本框 44"/>
          <p:cNvSpPr>
            <a:spLocks noGrp="1"/>
          </p:cNvSpPr>
          <p:nvPr/>
        </p:nvSpPr>
        <p:spPr>
          <a:xfrm>
            <a:off x="642620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 u="sng">
                <a:solidFill>
                  <a:srgbClr val="FFFFFF"/>
                </a:solidFill>
                <a:latin typeface="+mj-ea"/>
                <a:ea typeface="+mj-ea"/>
                <a:cs typeface="+mj-ea"/>
              </a:rPr>
              <a:t>03</a:t>
            </a:r>
            <a:endParaRPr sz="6500" b="1" u="sng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6" name="文本框 45"/>
          <p:cNvSpPr>
            <a:spLocks noGrp="1"/>
          </p:cNvSpPr>
          <p:nvPr/>
        </p:nvSpPr>
        <p:spPr>
          <a:xfrm>
            <a:off x="9480550" y="750093"/>
            <a:ext cx="122872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04</a:t>
            </a:r>
            <a:endParaRPr sz="65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7" name="文本框 46"/>
          <p:cNvSpPr>
            <a:spLocks noGrp="1"/>
          </p:cNvSpPr>
          <p:nvPr/>
        </p:nvSpPr>
        <p:spPr>
          <a:xfrm>
            <a:off x="317500" y="2206625"/>
            <a:ext cx="17145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数据与论文不同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8" name="文本框 47"/>
          <p:cNvSpPr>
            <a:spLocks noGrp="1"/>
          </p:cNvSpPr>
          <p:nvPr/>
        </p:nvSpPr>
        <p:spPr>
          <a:xfrm>
            <a:off x="33909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损失定义不同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9" name="文本框 48"/>
          <p:cNvSpPr>
            <a:spLocks noGrp="1"/>
          </p:cNvSpPr>
          <p:nvPr/>
        </p:nvSpPr>
        <p:spPr>
          <a:xfrm>
            <a:off x="643890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+mj-ea"/>
                <a:ea typeface="+mj-ea"/>
                <a:cs typeface="+mj-ea"/>
              </a:rPr>
              <a:t>工程细节</a:t>
            </a:r>
            <a:endParaRPr sz="3600" b="1">
              <a:solidFill>
                <a:srgbClr val="FFFF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文本框 49"/>
          <p:cNvSpPr>
            <a:spLocks noGrp="1"/>
          </p:cNvSpPr>
          <p:nvPr/>
        </p:nvSpPr>
        <p:spPr>
          <a:xfrm>
            <a:off x="9480550" y="2206625"/>
            <a:ext cx="17145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DBDBDB">
                    <a:lumMod val="50000"/>
                  </a:srgbClr>
                </a:solidFill>
                <a:latin typeface="+mj-ea"/>
                <a:ea typeface="+mj-ea"/>
                <a:cs typeface="+mj-ea"/>
              </a:rPr>
              <a:t>物理适用范围</a:t>
            </a:r>
            <a:endParaRPr sz="3600" b="1">
              <a:solidFill>
                <a:srgbClr val="DBDBDB">
                  <a:lumMod val="5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1" name="文本框 50"/>
          <p:cNvSpPr>
            <a:spLocks noGrp="1"/>
          </p:cNvSpPr>
          <p:nvPr/>
        </p:nvSpPr>
        <p:spPr>
          <a:xfrm>
            <a:off x="317500" y="3005282"/>
            <a:ext cx="2565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论文基准：10 Gaussian、电子峰 375–500/200–340 nm；当前分支：3+1 Gaussian，并扩展到约 100–600 nm。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2" name="文本框 51"/>
          <p:cNvSpPr>
            <a:spLocks noGrp="1"/>
          </p:cNvSpPr>
          <p:nvPr/>
        </p:nvSpPr>
        <p:spPr>
          <a:xfrm>
            <a:off x="3378200" y="3005282"/>
            <a:ext cx="2565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代码优化 160 维系数 L1；论文写的是 EVDF 域 MSE。二者对高频/低频模式的权重并不等价。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3" name="文本框 52"/>
          <p:cNvSpPr>
            <a:spLocks noGrp="1"/>
          </p:cNvSpPr>
          <p:nvPr/>
        </p:nvSpPr>
        <p:spPr>
          <a:xfrm>
            <a:off x="6426200" y="3005282"/>
            <a:ext cx="2565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i_e=-1 漏最后一行；genDataSet 导入即执行；pickle 兼容性较弱；训练无 mini-batch、验证与早停。</a:t>
            </a:r>
            <a:endParaRPr sz="200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4" name="文本框 53"/>
          <p:cNvSpPr>
            <a:spLocks noGrp="1"/>
          </p:cNvSpPr>
          <p:nvPr/>
        </p:nvSpPr>
        <p:spPr>
          <a:xfrm>
            <a:off x="9486900" y="3005282"/>
            <a:ext cx="2565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+mn-ea"/>
                <a:ea typeface="+mn-ea"/>
                <a:cs typeface="+mn-ea"/>
              </a:rPr>
              <a:t>离子默认 Maxwellian；三段独立归一化抹去相对强度；输出是谱形，不是绝对散射功率；未显式约束 EVDF 非负。</a:t>
            </a:r>
            <a:endParaRPr sz="2000">
              <a:solidFill>
                <a:srgbClr val="DBDBDB">
                  <a:lumMod val="50000"/>
                </a:srgbClr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9" name="直接连接符 2"/>
          <p:cNvCxnSpPr/>
          <p:nvPr/>
        </p:nvCxnSpPr>
        <p:spPr>
          <a:xfrm>
            <a:off x="955420" y="3666694"/>
            <a:ext cx="10248277" cy="0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3"/>
          <p:cNvCxnSpPr/>
          <p:nvPr/>
        </p:nvCxnSpPr>
        <p:spPr>
          <a:xfrm>
            <a:off x="4334742" y="1296629"/>
            <a:ext cx="0" cy="474012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4"/>
          <p:cNvCxnSpPr/>
          <p:nvPr/>
        </p:nvCxnSpPr>
        <p:spPr>
          <a:xfrm>
            <a:off x="7824374" y="1296629"/>
            <a:ext cx="0" cy="474012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śļíḓé"/>
          <p:cNvSpPr>
            <a:spLocks noGrp="1"/>
          </p:cNvSpPr>
          <p:nvPr/>
        </p:nvSpPr>
        <p:spPr>
          <a:xfrm>
            <a:off x="1863444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01</a:t>
            </a:r>
            <a:endParaRPr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ïṩľîḓé"/>
          <p:cNvSpPr>
            <a:spLocks noGrp="1"/>
          </p:cNvSpPr>
          <p:nvPr/>
        </p:nvSpPr>
        <p:spPr>
          <a:xfrm>
            <a:off x="5353077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02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îṩľiḑé"/>
          <p:cNvSpPr>
            <a:spLocks noGrp="1"/>
          </p:cNvSpPr>
          <p:nvPr/>
        </p:nvSpPr>
        <p:spPr>
          <a:xfrm>
            <a:off x="8842711" y="1569383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03</a:t>
            </a:r>
            <a:endParaRPr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" name="îṩľiďé"/>
          <p:cNvSpPr>
            <a:spLocks noGrp="1"/>
          </p:cNvSpPr>
          <p:nvPr/>
        </p:nvSpPr>
        <p:spPr>
          <a:xfrm>
            <a:off x="1863444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04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îŝḻîḓê"/>
          <p:cNvSpPr>
            <a:spLocks noGrp="1"/>
          </p:cNvSpPr>
          <p:nvPr/>
        </p:nvSpPr>
        <p:spPr>
          <a:xfrm>
            <a:off x="5353077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Impact" panose="020B0806030902050204"/>
                <a:ea typeface="Impact" panose="020B0806030902050204"/>
                <a:cs typeface="Impact" panose="020B0806030902050204"/>
              </a:defRPr>
            </a:lvl1pPr>
          </a:lstStyle>
          <a:p>
            <a:r>
              <a:rPr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05</a:t>
            </a:r>
            <a:endParaRPr b="1">
              <a:solidFill>
                <a:schemeClr val="tx2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" name="iṣļïḑe"/>
          <p:cNvSpPr>
            <a:spLocks noGrp="1"/>
          </p:cNvSpPr>
          <p:nvPr/>
        </p:nvSpPr>
        <p:spPr>
          <a:xfrm>
            <a:off x="8842711" y="3941899"/>
            <a:ext cx="1452962" cy="864121"/>
          </a:xfrm>
          <a:prstGeom prst="rect">
            <a:avLst/>
          </a:prstGeom>
          <a:noFill/>
        </p:spPr>
        <p:txBody>
          <a:bodyPr wrap="square" lIns="91440" tIns="45720" rIns="91440" bIns="45720">
            <a:normAutofit fontScale="93890" lnSpcReduction="10000"/>
          </a:bodyPr>
          <a:lstStyle/>
          <a:p>
            <a:pPr algn="ctr">
              <a:buNone/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06</a:t>
            </a:r>
            <a:endParaRPr sz="5400" b="1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43429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检查依赖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Torch / NumPy / PyArrow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43429" y="4897434"/>
            <a:ext cx="2492990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核对张量形状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[N,1224]→[N,160]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33857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先跑 quick_test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验证完整链路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23489" y="2527369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生成数据集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python genDataSet.py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32269" y="4897434"/>
            <a:ext cx="2492990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tx2"/>
                </a:solidFill>
              </a:rPr>
              <a:t>训练与保存</a:t>
            </a:r>
            <a:endParaRPr b="1">
              <a:solidFill>
                <a:schemeClr val="tx2"/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tx2"/>
                </a:solidFill>
              </a:rPr>
              <a:t>python main.py</a:t>
            </a:r>
            <a:endParaRPr b="1">
              <a:solidFill>
                <a:schemeClr val="tx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22700" y="4897434"/>
            <a:ext cx="2492991" cy="846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评估异常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ct val="130000"/>
              </a:lnSpc>
              <a:buNone/>
            </a:pPr>
            <a:r>
              <a:rPr b="1">
                <a:solidFill>
                  <a:schemeClr val="bg1">
                    <a:lumMod val="50000"/>
                  </a:schemeClr>
                </a:solidFill>
              </a:rPr>
              <a:t>系数、EVDF、谱回代</a:t>
            </a:r>
            <a:endParaRPr b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4" name="图片 17"/>
          <p:cNvPicPr>
            <a:picLocks noChangeAspect="1"/>
          </p:cNvPicPr>
          <p:nvPr/>
        </p:nvPicPr>
        <p:blipFill rotWithShape="1">
          <a:blip r:embed="rId1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5646000" y="3626732"/>
            <a:ext cx="900000" cy="9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process-title-26"/>
          <p:cNvSpPr>
            <a:spLocks noGrp="1"/>
          </p:cNvSpPr>
          <p:nvPr/>
        </p:nvSpPr>
        <p:spPr>
          <a:xfrm>
            <a:off x="2857500" y="361950"/>
            <a:ext cx="647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defRPr>
            </a:pPr>
            <a:r>
              <a:rPr sz="2250" b="1">
                <a:solidFill>
                  <a:srgbClr val="C8161E"/>
                </a:solidFill>
                <a:latin typeface="HarmonyOS Sans SC Black"/>
                <a:ea typeface="HarmonyOS Sans SC Black"/>
                <a:cs typeface="HarmonyOS Sans SC Black"/>
              </a:rPr>
              <a:t>复现与调试：推荐执行顺序</a:t>
            </a:r>
            <a:endParaRPr sz="2250" b="1">
              <a:solidFill>
                <a:srgbClr val="C8161E"/>
              </a:solidFill>
              <a:latin typeface="HarmonyOS Sans SC Black"/>
              <a:ea typeface="HarmonyOS Sans SC Black"/>
              <a:cs typeface="HarmonyOS Sans SC Bla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总结：理解这套代码要抓住三条主线</a:t>
            </a:r>
          </a:p>
        </p:txBody>
      </p:sp>
      <p:sp>
        <p:nvSpPr>
          <p:cNvPr id="24" name="takeaway-0"/>
          <p:cNvSpPr>
            <a:spLocks noGrp="1"/>
          </p:cNvSpPr>
          <p:nvPr/>
        </p:nvSpPr>
        <p:spPr>
          <a:xfrm>
            <a:off x="571500" y="138112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152400" tIns="114300" rIns="133350" bIns="1143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1. 物理主线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S(k,ω) 把密度涨落连接到散射光谱；ε 与 χ 决定集体响应。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5" name="takeaway-1"/>
          <p:cNvSpPr>
            <a:spLocks noGrp="1"/>
          </p:cNvSpPr>
          <p:nvPr/>
        </p:nvSpPr>
        <p:spPr>
          <a:xfrm>
            <a:off x="571500" y="266700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7E8E9"/>
          </a:solidFill>
          <a:ln w="12383">
            <a:solidFill>
              <a:srgbClr val="E4B4B7"/>
            </a:solidFill>
            <a:prstDash val="solid"/>
          </a:ln>
        </p:spPr>
        <p:txBody>
          <a:bodyPr lIns="152400" tIns="114300" rIns="133350" bIns="1143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2. 数值主线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80 个复 Fourier 模式既是低通正则，也是神经网络的可学习标签。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6" name="takeaway-2"/>
          <p:cNvSpPr>
            <a:spLocks noGrp="1"/>
          </p:cNvSpPr>
          <p:nvPr/>
        </p:nvSpPr>
        <p:spPr>
          <a:xfrm>
            <a:off x="571500" y="395287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383">
            <a:solidFill>
              <a:srgbClr val="D8D8D8"/>
            </a:solidFill>
            <a:prstDash val="solid"/>
          </a:ln>
        </p:spPr>
        <p:txBody>
          <a:bodyPr lIns="152400" tIns="114300" rIns="133350" bIns="1143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3. 工程主线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  <a:p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35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rPr>
              <a:t>genDataSet 构造监督对，MLP 直接反演，ift_k 把预测送回可解释的 EVDF。</a:t>
            </a:r>
            <a:endParaRPr sz="1350" b="0">
              <a:solidFill>
                <a:srgbClr val="333333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  <p:sp>
        <p:nvSpPr>
          <p:cNvPr id="27" name="references"/>
          <p:cNvSpPr>
            <a:spLocks noGrp="1"/>
          </p:cNvSpPr>
          <p:nvPr/>
        </p:nvSpPr>
        <p:spPr>
          <a:xfrm>
            <a:off x="6286500" y="1381125"/>
            <a:ext cx="5334000" cy="3619500"/>
          </a:xfrm>
          <a:prstGeom prst="roundRect">
            <a:avLst>
              <a:gd name="adj" fmla="val 2105"/>
            </a:avLst>
          </a:prstGeom>
          <a:solidFill>
            <a:srgbClr val="F5F5F5"/>
          </a:solidFill>
          <a:ln w="12383">
            <a:solidFill>
              <a:srgbClr val="D8D8D8"/>
            </a:solidFill>
            <a:prstDash val="solid"/>
          </a:ln>
        </p:spPr>
        <p:txBody>
          <a:bodyPr lIns="171450" tIns="152400" rIns="152400" bIns="15240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主要参考</a:t>
            </a:r>
            <a:endParaRPr sz="120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endParaRPr sz="1200">
              <a:latin typeface="+mn-lt"/>
              <a:cs typeface="+mn-lt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1. Sheffield et al., Plasma Scattering of Electromagnetic Radiation, 2011, Chapters 1–3.</a:t>
            </a:r>
            <a:endParaRPr sz="120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endParaRPr sz="1200">
              <a:latin typeface="+mn-lt"/>
              <a:cs typeface="+mn-lt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2. Cheng et al., Non-Maxwellian EVDF reconstruction from OTS using large neural networks, 2026, Eqs. (1)–(5).</a:t>
            </a:r>
            <a:endParaRPr sz="120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endParaRPr sz="1200">
              <a:latin typeface="+mn-lt"/>
              <a:cs typeface="+mn-lt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3. 仓库：OTS_code_share/NN_hotE_large_lmRange/</a:t>
            </a:r>
            <a:endParaRPr sz="120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   phyEqns/ots_fourier.py</a:t>
            </a:r>
            <a:endParaRPr sz="120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   genDataSet.py / model.py / train.py / main.py</a:t>
            </a:r>
            <a:endParaRPr sz="120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00" b="0">
                <a:solidFill>
                  <a:srgbClr val="333333"/>
                </a:solidFill>
                <a:latin typeface="+mn-lt"/>
                <a:ea typeface="HarmonyOS Sans SC Light"/>
                <a:cs typeface="+mn-lt"/>
              </a:rPr>
              <a:t>   evaluateModel.py</a:t>
            </a:r>
            <a:endParaRPr sz="1200" b="0">
              <a:solidFill>
                <a:srgbClr val="333333"/>
              </a:solidFill>
              <a:latin typeface="+mn-lt"/>
              <a:ea typeface="HarmonyOS Sans SC Light"/>
              <a:cs typeface="+mn-lt"/>
            </a:endParaRPr>
          </a:p>
        </p:txBody>
      </p:sp>
      <p:sp>
        <p:nvSpPr>
          <p:cNvPr id="28" name="final-message"/>
          <p:cNvSpPr>
            <a:spLocks noGrp="1"/>
          </p:cNvSpPr>
          <p:nvPr/>
        </p:nvSpPr>
        <p:spPr>
          <a:xfrm>
            <a:off x="6286500" y="5191125"/>
            <a:ext cx="5334000" cy="666750"/>
          </a:xfrm>
          <a:prstGeom prst="roundRect">
            <a:avLst>
              <a:gd name="adj" fmla="val 11429"/>
            </a:avLst>
          </a:prstGeom>
          <a:solidFill>
            <a:srgbClr val="C8161E"/>
          </a:solidFill>
          <a:ln w="12383">
            <a:solidFill>
              <a:srgbClr val="C8161E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defRPr>
            </a:pPr>
            <a:r>
              <a:rPr sz="1275" b="1">
                <a:solidFill>
                  <a:srgbClr val="FFFFFF"/>
                </a:solidFill>
                <a:latin typeface="HarmonyOS Sans SC Light"/>
                <a:ea typeface="HarmonyOS Sans SC Light"/>
                <a:cs typeface="HarmonyOS Sans SC Light"/>
              </a:rPr>
              <a:t>核心一句话：网络预测的不是 EVDF 采样点，而是能够同时驱动正向光谱和逆向重建的低通 Fourier 表示。</a:t>
            </a:r>
            <a:endParaRPr sz="1275" b="1">
              <a:solidFill>
                <a:srgbClr val="FFFFFF"/>
              </a:solidFill>
              <a:latin typeface="HarmonyOS Sans SC Light"/>
              <a:ea typeface="HarmonyOS Sans SC Light"/>
              <a:cs typeface="HarmonyOS Sans SC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1"/>
          </p:nvPr>
        </p:nvSpPr>
        <p:spPr>
          <a:xfrm>
            <a:off x="3071316" y="3129277"/>
            <a:ext cx="6286859" cy="598488"/>
          </a:xfrm>
        </p:spPr>
        <p:txBody>
          <a:bodyPr/>
          <a:lstStyle/>
          <a:p>
            <a:r>
              <a:t>谢谢｜欢迎讨论 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2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3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4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6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7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8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9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0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1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2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3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4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5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6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17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18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19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0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1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2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3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4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5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6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7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8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29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0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1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2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3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4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5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6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7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8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39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0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1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2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3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4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5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6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7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8.xml><?xml version="1.0" encoding="utf-8"?>
<p:tagLst xmlns:p="http://schemas.openxmlformats.org/presentationml/2006/main">
  <p:tag name="KSO_WM_DIAGRAM_VIRTUALLY_FRAME" val="{&quot;height&quot;:540,&quot;left&quot;:1.962283464566929,&quot;top&quot;:0,&quot;width&quot;:958.1374015748031}"/>
</p:tagLst>
</file>

<file path=ppt/tags/tag49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0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1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2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3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4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5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6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7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8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59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60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61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62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63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ags/tag64.xml><?xml version="1.0" encoding="utf-8"?>
<p:tagLst xmlns:p="http://schemas.openxmlformats.org/presentationml/2006/main">
  <p:tag name="KSO_WM_DIAGRAM_VIRTUALLY_FRAME" val="{&quot;height&quot;:373.2384251968504,&quot;left&quot;:75.22992125984253,&quot;top&quot;:102.0967716535433,&quot;width&quot;:806.9509448818897}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SJTU-202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SJTU-202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6881</Words>
  <Application>WPS 演示</Application>
  <PresentationFormat>Converted Presentation</PresentationFormat>
  <Paragraphs>675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宋体</vt:lpstr>
      <vt:lpstr>Wingdings</vt:lpstr>
      <vt:lpstr>Impact</vt:lpstr>
      <vt:lpstr>HarmonyOS Sans SC Black</vt:lpstr>
      <vt:lpstr>Segoe Print</vt:lpstr>
      <vt:lpstr>HarmonyOS Sans SC Light</vt:lpstr>
      <vt:lpstr>Segoe UI</vt:lpstr>
      <vt:lpstr>微软雅黑</vt:lpstr>
      <vt:lpstr>Arial Unicode MS</vt:lpstr>
      <vt:lpstr>Consolas</vt:lpstr>
      <vt:lpstr>Calibri</vt:lpstr>
      <vt:lpstr>黑体</vt:lpstr>
      <vt:lpstr>自定义设计方案</vt:lpstr>
      <vt:lpstr>OTS代码结构与训练全流程</vt:lpstr>
      <vt:lpstr>PowerPoint 演示文稿</vt:lpstr>
      <vt:lpstr>PowerPoint 演示文稿</vt:lpstr>
      <vt:lpstr>项目结构与数据生成</vt:lpstr>
      <vt:lpstr>代码结构：入口、物理层、训练层与评估层</vt:lpstr>
      <vt:lpstr>PowerPoint 演示文稿</vt:lpstr>
      <vt:lpstr>genDataSet.py：一个样本怎样被生成</vt:lpstr>
      <vt:lpstr>随机 EVDF：为什么是“3+1 Gaussian”</vt:lpstr>
      <vt:lpstr>Fourier 标签：1000 个速度点如何压缩为 80 个复模式</vt:lpstr>
      <vt:lpstr>Parquet 数据结构：第 0 行不是样本</vt:lpstr>
      <vt:lpstr>ots_fourier：从任意 EVDF 到 OTS 光谱</vt:lpstr>
      <vt:lpstr>PowerPoint 演示文稿</vt:lpstr>
      <vt:lpstr>散射几何：代码里的 k_s 实际是散射波矢差的模</vt:lpstr>
      <vt:lpstr>PowerPoint 演示文稿</vt:lpstr>
      <vt:lpstr>Fourier 工具函数：谁负责什么</vt:lpstr>
      <vt:lpstr>步骤 1–2：基本尺度与波矢</vt:lpstr>
      <vt:lpstr>步骤 3–5：波长点如何读取电子分布</vt:lpstr>
      <vt:lpstr>步骤 5：w_ft 怎样把 Fourier 系数变成 χₑ</vt:lpstr>
      <vt:lpstr>步骤 6–9：离子响应、介电函数与最终光谱</vt:lpstr>
      <vt:lpstr>从理论公式到代码变量：逐项对应</vt:lpstr>
      <vt:lpstr>网络训练、推理与工程注意事项</vt:lpstr>
      <vt:lpstr>ModelOTS：一个大而直接的频谱反演 MLP</vt:lpstr>
      <vt:lpstr>训练循环：119,000 次全批次 Adam 更新</vt:lpstr>
      <vt:lpstr>评估与推理：从 160 个实数返回 fₑ(v)</vt:lpstr>
      <vt:lpstr>PowerPoint 演示文稿</vt:lpstr>
      <vt:lpstr>PowerPoint 演示文稿</vt:lpstr>
      <vt:lpstr>总结：理解这套代码要抓住三条主线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OTS代码结构与训练全流程</dc:title>
  <dc:creator>Walnut Exporter</dc:creator>
  <cp:lastModifiedBy>Iris wu</cp:lastModifiedBy>
  <cp:revision>1</cp:revision>
  <dcterms:created xsi:type="dcterms:W3CDTF">2026-06-21T11:24:51Z</dcterms:created>
  <dcterms:modified xsi:type="dcterms:W3CDTF">2026-06-21T11:24:51Z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2EE7FEC2272C48CF9E6749D1966187A9_12</vt:lpwstr>
  </property>
  <property fmtid="{D5CDD505-2E9C-101B-9397-08002B2CF9AE}" pid="3" name="KSOProductBuildVer">
    <vt:lpwstr>2052-12.1.0.23542</vt:lpwstr>
  </property>
</Properties>
</file>