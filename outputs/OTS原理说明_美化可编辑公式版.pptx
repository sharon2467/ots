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26141b4c124899" /><Relationship Type="http://schemas.openxmlformats.org/officeDocument/2006/relationships/extended-properties" Target="/docProps/app.xml" Id="R7f5c0bf89f124ec5" /><Relationship Type="http://schemas.openxmlformats.org/officeDocument/2006/relationships/officeDocument" Target="/ppt/presentation.xml" Id="Rd9fea531e98a42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c104f48f364017"/>
  </p:sldMasterIdLst>
  <p:notesMasterIdLst>
    <p:notesMasterId xmlns:r="http://schemas.openxmlformats.org/officeDocument/2006/relationships" r:id="Rb8add9983e57403c"/>
  </p:notesMasterIdLst>
  <p:sldIdLst>
    <p:sldId xmlns:r="http://schemas.openxmlformats.org/officeDocument/2006/relationships" id="256" r:id="Rafd6ba27edac4bcd"/>
    <p:sldId xmlns:r="http://schemas.openxmlformats.org/officeDocument/2006/relationships" id="257" r:id="R3d3b0470148945c5"/>
    <p:sldId xmlns:r="http://schemas.openxmlformats.org/officeDocument/2006/relationships" id="258" r:id="Rc3ae662604bb4e3b"/>
    <p:sldId xmlns:r="http://schemas.openxmlformats.org/officeDocument/2006/relationships" id="259" r:id="Rf79f91fa800f48c0"/>
    <p:sldId xmlns:r="http://schemas.openxmlformats.org/officeDocument/2006/relationships" id="260" r:id="Rd331fbdf10524b48"/>
    <p:sldId xmlns:r="http://schemas.openxmlformats.org/officeDocument/2006/relationships" id="261" r:id="Rb57a796fd4b54473"/>
    <p:sldId xmlns:r="http://schemas.openxmlformats.org/officeDocument/2006/relationships" id="262" r:id="R03d61feef0fc456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73242a35d54a38" /><Relationship Type="http://schemas.openxmlformats.org/officeDocument/2006/relationships/slideMaster" Target="/ppt/slideMasters/slideMaster1.xml" Id="R36c104f48f364017" /><Relationship Type="http://schemas.openxmlformats.org/officeDocument/2006/relationships/notesMaster" Target="/ppt/notesMasters/notesMaster1.xml" Id="Rb8add9983e57403c" /><Relationship Type="http://schemas.openxmlformats.org/officeDocument/2006/relationships/presProps" Target="/ppt/presProps.xml" Id="R2f477d812bec4952" /><Relationship Type="http://schemas.openxmlformats.org/officeDocument/2006/relationships/tableStyles" Target="/ppt/tableStyles.xml" Id="R9921ad34d02c48f9" /><Relationship Type="http://schemas.openxmlformats.org/officeDocument/2006/relationships/slide" Target="/ppt/slides/slide1.xml" Id="Rafd6ba27edac4bcd" /><Relationship Type="http://schemas.openxmlformats.org/officeDocument/2006/relationships/slide" Target="/ppt/slides/slide2.xml" Id="R3d3b0470148945c5" /><Relationship Type="http://schemas.openxmlformats.org/officeDocument/2006/relationships/slide" Target="/ppt/slides/slide3.xml" Id="Rc3ae662604bb4e3b" /><Relationship Type="http://schemas.openxmlformats.org/officeDocument/2006/relationships/slide" Target="/ppt/slides/slide4.xml" Id="Rf79f91fa800f48c0" /><Relationship Type="http://schemas.openxmlformats.org/officeDocument/2006/relationships/slide" Target="/ppt/slides/slide5.xml" Id="Rd331fbdf10524b48" /><Relationship Type="http://schemas.openxmlformats.org/officeDocument/2006/relationships/slide" Target="/ppt/slides/slide6.xml" Id="Rb57a796fd4b54473" /><Relationship Type="http://schemas.openxmlformats.org/officeDocument/2006/relationships/slide" Target="/ppt/slides/slide7.xml" Id="R03d61feef0fc45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d2913837d241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0f8c1041a743dd" /><Relationship Type="http://schemas.openxmlformats.org/officeDocument/2006/relationships/notesMaster" Target="/ppt/notesMasters/notesMaster1.xml" Id="R6d6c179fc8304e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3503be23d14200" /><Relationship Type="http://schemas.openxmlformats.org/officeDocument/2006/relationships/notesMaster" Target="/ppt/notesMasters/notesMaster1.xml" Id="R4ca2825b946942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3d7307d5904546" /><Relationship Type="http://schemas.openxmlformats.org/officeDocument/2006/relationships/notesMaster" Target="/ppt/notesMasters/notesMaster1.xml" Id="R269f2e212aaf43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35dc81d1c34086" /><Relationship Type="http://schemas.openxmlformats.org/officeDocument/2006/relationships/notesMaster" Target="/ppt/notesMasters/notesMaster1.xml" Id="R2b7b137a500f4e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728eaa94ba4d00" /><Relationship Type="http://schemas.openxmlformats.org/officeDocument/2006/relationships/notesMaster" Target="/ppt/notesMasters/notesMaster1.xml" Id="R49e385d6a27444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33680814994662" /><Relationship Type="http://schemas.openxmlformats.org/officeDocument/2006/relationships/notesMaster" Target="/ppt/notesMasters/notesMaster1.xml" Id="R61c79df5702247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5f95ce4f1d4b71" /><Relationship Type="http://schemas.openxmlformats.org/officeDocument/2006/relationships/notesMaster" Target="/ppt/notesMasters/notesMaster1.xml" Id="R864ce86d268444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2ebdde8c724c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ab575ba1064019" /><Relationship Type="http://schemas.openxmlformats.org/officeDocument/2006/relationships/slideLayout" Target="/ppt/slideLayouts/slideLayout1.xml" Id="R344e03f5c77846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4e03f5c77846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9c49d20a1249b6" /><Relationship Type="http://schemas.openxmlformats.org/officeDocument/2006/relationships/notesSlide" Target="/ppt/notesSlides/notesSlide1.xml" Id="R5f2c6d05ec0b4f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e1d66aa1fe4279" /><Relationship Type="http://schemas.openxmlformats.org/officeDocument/2006/relationships/notesSlide" Target="/ppt/notesSlides/notesSlide2.xml" Id="Ra9d0fd55a62f48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fb58440fa443de" /><Relationship Type="http://schemas.openxmlformats.org/officeDocument/2006/relationships/notesSlide" Target="/ppt/notesSlides/notesSlide3.xml" Id="R9f899c6fe25d40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1a8ff4c014015" /><Relationship Type="http://schemas.openxmlformats.org/officeDocument/2006/relationships/notesSlide" Target="/ppt/notesSlides/notesSlide4.xml" Id="Rd5686292c8324a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6735109dd4fce" /><Relationship Type="http://schemas.openxmlformats.org/officeDocument/2006/relationships/notesSlide" Target="/ppt/notesSlides/notesSlide5.xml" Id="Rae38b3aee69847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1482917da442d1" /><Relationship Type="http://schemas.openxmlformats.org/officeDocument/2006/relationships/notesSlide" Target="/ppt/notesSlides/notesSlide6.xml" Id="R0eb721171f5d40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091f97fc4543e1" /><Relationship Type="http://schemas.openxmlformats.org/officeDocument/2006/relationships/notesSlide" Target="/ppt/notesSlides/notesSlide7.xml" Id="R86b34aeae93e41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E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A5DD87-4079-43CD-85C8-09A59A35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20DD0E-9A0E-4D3D-B3FA-D5C0B9B6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B55472-0DB9-43D9-AC7E-5EA4FDE3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E01887-809E-4DFA-B271-ED93CB9D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590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650" b="1" i="0">
                <a:solidFill>
                  <a:srgbClr val="13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 i="0">
                <a:solidFill>
                  <a:srgbClr val="132033"/>
                </a:solidFill>
                <a:latin typeface="Microsoft YaHei"/>
                <a:ea typeface="Microsoft YaHei"/>
                <a:cs typeface="Microsoft YaHei"/>
              </a:rPr>
              <a:t>OTS原理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1C4681-10E1-487D-9D34-F17D01DE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8135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51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i="0">
                <a:solidFill>
                  <a:srgbClr val="516173"/>
                </a:solidFill>
                <a:latin typeface="Microsoft YaHei"/>
                <a:ea typeface="Microsoft YaHei"/>
                <a:cs typeface="Microsoft YaHei"/>
              </a:rPr>
              <a:t>光学 Thomson 散射谱函数推导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0F347D-4C2F-4AED-9B64-52F8BDE4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48125"/>
            <a:ext cx="66675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03F9F4-F355-4543-9132-336C2B35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48125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777791-C01D-49E2-A001-82D86F24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24325"/>
            <a:ext cx="6438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875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Pₛ(R,ωₛ)dΩdωₛ  ∝  nₑ₀ V · S(k,ω)dωₛ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559039-D321-47DD-9AF7-092A2073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9110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13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132033"/>
                </a:solidFill>
                <a:latin typeface="Microsoft YaHei"/>
                <a:ea typeface="Microsoft YaHei"/>
                <a:cs typeface="Microsoft YaHei"/>
              </a:rPr>
              <a:t>从单电子辐射出发，经密度涨落与介电响应，得到 OTS 谱函数与散射功率表达式。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42C797-A016-4AC8-A432-AE3D4930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104900"/>
            <a:ext cx="236220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7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A3E87D-CE52-410A-8C32-239D91F2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19250"/>
            <a:ext cx="16002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B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866615-F522-4E66-8550-7AB1C9F0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954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550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S(k,ω)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EDCF1F-C974-48E9-9229-744CC1E4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62200"/>
            <a:ext cx="16002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8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4EDACB-8188-4380-B432-B92B8C22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3840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550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χₑ / 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03A4D9-5D43-4934-8DDE-83778E49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6957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0F7F8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F7F8C"/>
                </a:solidFill>
                <a:latin typeface="Aptos"/>
                <a:ea typeface="Aptos"/>
                <a:cs typeface="Aptos"/>
              </a:rPr>
              <a:t>editable formula deck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5777C2-B74C-46E0-8E5B-DF70C36A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515100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73808F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73808F"/>
                </a:solidFill>
                <a:latin typeface="Aptos"/>
                <a:ea typeface="Aptos"/>
                <a:cs typeface="Aptos"/>
              </a:rPr>
              <a:t>OTS 原理说明  ·  1/7</a:t>
            </a:r>
          </a:p>
        </p:txBody>
      </p:sp>
    </p:spTree>
    <p:extLst>
      <p:ext uri="{BB962C8B-B14F-4D97-AF65-F5344CB8AC3E}">
        <p14:creationId xmlns:p14="http://schemas.microsoft.com/office/powerpoint/2010/main" val="12144708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001B28-E2D7-4646-BF53-56E20F99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F2619C-F5C0-462A-955C-D617EFDE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57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0F7F8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F7F8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C9EEE1-F7BB-4C9F-AB7B-252A5ADA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516173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516173"/>
                </a:solidFill>
                <a:latin typeface="Aptos"/>
                <a:ea typeface="Aptos"/>
                <a:cs typeface="Aptos"/>
              </a:rPr>
              <a:t>Optical Thomson Scattering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B44C8D-2CA5-4CA2-94E3-EEB75117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245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13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132033"/>
                </a:solidFill>
                <a:latin typeface="Microsoft YaHei"/>
                <a:ea typeface="Microsoft YaHei"/>
                <a:cs typeface="Microsoft YaHei"/>
              </a:rPr>
              <a:t>由单电子远场辐射写出总散射场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E71542-88B8-4C83-995E-2C471D43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028700"/>
            <a:ext cx="113157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6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779DFB-6F18-4962-B931-8947D382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4859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9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BF0A9F-8E37-47FE-99A7-83D6F190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47775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274C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74C77"/>
                </a:solidFill>
                <a:latin typeface="Microsoft YaHei"/>
                <a:ea typeface="Microsoft YaHei"/>
                <a:cs typeface="Microsoft YaHei"/>
              </a:rPr>
              <a:t>电子加速度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69C4B0-1EA2-43E0-9712-E93350AD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5334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320580-4F79-4DB6-9170-FF82F70E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DDC776-8876-42C5-80C9-0E4BB975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510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350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β̇_j = − e/(c mₑ) · (1−βⱼ²)¹ᐟ² [ Eᵢ + βⱼ×Bᵢ − βⱼ(βⱼ·Eᵢ) 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30A4B5-69D4-4266-803B-3B30DE0B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2382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51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16173"/>
                </a:solidFill>
                <a:latin typeface="Microsoft YaHei"/>
                <a:ea typeface="Microsoft YaHei"/>
                <a:cs typeface="Microsoft YaHei"/>
              </a:rPr>
              <a:t>处于电磁波  B_i = î × E_i  中的电子加速度为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B0BA7B-1B39-48FB-BCB1-B932C886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14859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5AE051-4FA5-4191-A738-18A3B566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33625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C979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C97918"/>
                </a:solidFill>
                <a:latin typeface="Microsoft YaHei"/>
                <a:ea typeface="Microsoft YaHei"/>
                <a:cs typeface="Microsoft YaHei"/>
              </a:rPr>
              <a:t>单电子远场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15C3AD-3862-42CA-AE93-FC81524B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53340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40E0B5-2DEF-4BC5-9C37-4980C343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939A10-77C3-43E0-A9B0-F7A3D82E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510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350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Eₛj(R,t) = − e/(cR) [ ŝ×((ŝ−βⱼ)×β̇_j)/(1−ŝ·βⱼ)³ ]ᵣₑₜ 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39C46D-8629-4623-A4CE-CFDEA72F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86150"/>
            <a:ext cx="17145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9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F169BD-2306-4487-9F8C-C4D7DEC2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337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274C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74C77"/>
                </a:solidFill>
                <a:latin typeface="Microsoft YaHei"/>
                <a:ea typeface="Microsoft YaHei"/>
                <a:cs typeface="Microsoft YaHei"/>
              </a:rPr>
              <a:t>关联密度函数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423A85-7269-47B8-9D86-CCF6296E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53340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BFC6E4-A040-41E4-8694-79D24406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47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23E024-7F83-4F7B-B98E-D190A555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62400"/>
            <a:ext cx="510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Σ_{j=1}^{N} δ(r−rⱼ(t′)) δ(v−vⱼ(t′)) δ(t′−t+R/c−ŝ·rⱼ/c) (1−βⱼ·ŝ)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CB50B9-8882-464D-A4CE-A4135A75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51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16173"/>
                </a:solidFill>
                <a:latin typeface="Microsoft YaHei"/>
                <a:ea typeface="Microsoft YaHei"/>
                <a:cs typeface="Microsoft YaHei"/>
              </a:rPr>
              <a:t>因子保证单电荷单次贡献为 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B1207D-78A5-44A4-AC2F-FEF2EDEB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200150"/>
            <a:ext cx="12573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9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4F392D-EFE6-4ABE-90E4-4B379B9E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247775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274C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74C77"/>
                </a:solidFill>
                <a:latin typeface="Microsoft YaHei"/>
                <a:ea typeface="Microsoft YaHei"/>
                <a:cs typeface="Microsoft YaHei"/>
              </a:rPr>
              <a:t>总电场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DD9365-9E63-4E54-B433-CE097582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00200"/>
            <a:ext cx="55245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677228-250C-4856-9DA0-43818DB5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002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F4B67A-4CF9-4C22-8CBE-9169B4DC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76400"/>
            <a:ext cx="529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Eₛᵀ(R,t) = − e/(cR) ∫_V dr ∫dv ∫dt′ Fₑ(r,v,t′) [ ŝ×((ŝ−β)×β̇)/(1−ŝ·β)³ ]_{t′}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E75B1C-D246-4845-8715-F6D12592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19350"/>
            <a:ext cx="24765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70FC25-65A7-482D-8A82-FFC9A34E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6697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C979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C97918"/>
                </a:solidFill>
                <a:latin typeface="Microsoft YaHei"/>
                <a:ea typeface="Microsoft YaHei"/>
                <a:cs typeface="Microsoft YaHei"/>
              </a:rPr>
              <a:t>单位立体角单位频率功率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191443-6EAE-4D3F-B151-4F8B6F06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19400"/>
            <a:ext cx="55245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905C78-A31A-4B58-9C0B-348B6C4C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1940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3A0DBD-F78A-44E1-BB6C-41831EAF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95600"/>
            <a:ext cx="529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00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Pₛ(R,ωₛ)dΩdωₛ = (cR²dΩ/4π) lim_{T→∞} 1/(πT)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200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× ∫_{ωₛ−dωₛ/2}^{ωₛ+dωₛ/2} dωₛ |∫_{−∞}^{∞} dt Eₛᵀ(t)e^{−iωₛ t}|²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A5CACF-8BF8-4483-B6B3-5A258E79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67150"/>
            <a:ext cx="14859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9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BE0B22-6A38-46F1-962E-D07009CC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14775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274C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74C77"/>
                </a:solidFill>
                <a:latin typeface="Microsoft YaHei"/>
                <a:ea typeface="Microsoft YaHei"/>
                <a:cs typeface="Microsoft YaHei"/>
              </a:rPr>
              <a:t>傅里叶变换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7B8729-C47F-44FC-80A9-C3DEBBD6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67200"/>
            <a:ext cx="5524500" cy="1504950"/>
          </a:xfrm>
          <a:prstGeom xmlns:a="http://schemas.openxmlformats.org/drawingml/2006/main" prst="roundRect">
            <a:avLst>
              <a:gd name="adj" fmla="val 3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2A306E-8556-478C-97AF-AB95CE74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67200"/>
            <a:ext cx="476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4C033B-0F24-490C-83AA-A7430DAA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43400"/>
            <a:ext cx="52959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50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∫_{−∞}^{+∞}dt Eₛᵀ(t)e^{iωₛ t} = −e/(cR)∫dt dt′ dr dv exp(−iωₛ t) Fₑ(r,v,t′)[ ŝ×((ŝ−β)×β̇)/(1−ŝ·β)³ ]_{t′}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50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= −e/(cR)∫dt′drdv exp[−iωₛ(t′−ŝ·r/c+R/c)] [ ŝ×((ŝ−β)×β̇)/(1−ŝ·β)² ]_{t′} f_e(r,v)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39F2F3-CEE3-4D67-AF79-93DD51B3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515100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73808F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73808F"/>
                </a:solidFill>
                <a:latin typeface="Aptos"/>
                <a:ea typeface="Aptos"/>
                <a:cs typeface="Aptos"/>
              </a:rPr>
              <a:t>OTS 原理说明  ·  2/7</a:t>
            </a:r>
          </a:p>
        </p:txBody>
      </p:sp>
    </p:spTree>
    <p:extLst>
      <p:ext uri="{BB962C8B-B14F-4D97-AF65-F5344CB8AC3E}">
        <p14:creationId xmlns:p14="http://schemas.microsoft.com/office/powerpoint/2010/main" val="1554070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7A4C0A-7A42-4ACF-8D71-7D4D601E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410097-7AF5-472D-B74B-DB72FAC5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57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0F7F8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F7F8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2FB947-277B-4726-B867-340876DF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516173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516173"/>
                </a:solidFill>
                <a:latin typeface="Aptos"/>
                <a:ea typeface="Aptos"/>
                <a:cs typeface="Aptos"/>
              </a:rPr>
              <a:t>Optical Thomson Scattering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0CE4A4-01D8-4750-A22C-5712AD0B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245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13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132033"/>
                </a:solidFill>
                <a:latin typeface="Microsoft YaHei"/>
                <a:ea typeface="Microsoft YaHei"/>
                <a:cs typeface="Microsoft YaHei"/>
              </a:rPr>
              <a:t>低温极限下把辐射场写成密度涨落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19D2D2-0067-4A07-9520-C5CD486C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028700"/>
            <a:ext cx="113157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6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A3601-6EF1-4321-903F-9CED3B23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2573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9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ED8491-973E-496A-BF72-8EEE1088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47775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274C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74C77"/>
                </a:solidFill>
                <a:latin typeface="Microsoft YaHei"/>
                <a:ea typeface="Microsoft YaHei"/>
                <a:cs typeface="Microsoft YaHei"/>
              </a:rPr>
              <a:t>v/c &lt;&lt;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059E1B-833A-4890-A588-91DBCF05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521970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6196EE-7230-4C11-B7EA-069B9888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4EAB42-3F0D-41CC-91AB-28433325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499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350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[ ŝ×{(ŝ−β)×β̇}/(1−βₛ)² ]ᵣₑₜ  →  ŝ×(ŝ×v̇/c)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350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and    v̇ = −(e/mₑ)Eᵢ(t),      ∫dv Fₑ = nₑ(r,t).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8F4E6B-C4A6-4EE9-9E83-AABA7E5A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33650"/>
            <a:ext cx="9144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1CDE3A-3EB1-4EE9-91F6-21B23527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81275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C979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C97918"/>
                </a:solidFill>
                <a:latin typeface="Microsoft YaHei"/>
                <a:ea typeface="Microsoft YaHei"/>
                <a:cs typeface="Microsoft YaHei"/>
              </a:rPr>
              <a:t>代入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9DD38F-BFA5-4CC2-9C43-63D5B635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33700"/>
            <a:ext cx="52197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1ADAC5-091A-40B8-A609-907556A1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337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2121DC-0C24-437A-B628-A9BBEC68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4991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88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1088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Pₛ(R,ωₛ)dΩdωₛ = (cdΩ/4π)[ŝ×(ŝ×Êᵢ₀)]² lim_{T→∞} dωₛ/(πT)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88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1088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× |∫_{−∞}^{∞}dt (e²/(mₑc²))Eᵢ₀ ∫_V dr nₑ(r,t)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88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1088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  exp[−iωₛ(t′−ŝ·r/c+R/c)] cos(kᵢ·r−ωᵢ t)|².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3220D3-3838-4729-8368-FBF3A97C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29100"/>
            <a:ext cx="1809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9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59EAA6-3F1F-44F5-BC67-C8418950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767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274C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74C77"/>
                </a:solidFill>
                <a:latin typeface="Microsoft YaHei"/>
                <a:ea typeface="Microsoft YaHei"/>
                <a:cs typeface="Microsoft YaHei"/>
              </a:rPr>
              <a:t>密度 Fourier 展开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96EA4F-8010-4250-B9F9-5F1A7F9A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29150"/>
            <a:ext cx="52197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5E76BE-E9F5-43E6-9836-126D740E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2915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081D87-F103-4034-8495-9C0458A6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499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nₑ(r,t)=∫ dk/(2π)³ ∫ dω/(2π) nₑ(k,ω)e^{−i(k·r−ωt)}.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1D1517-3831-42DB-9D2A-85A4EA81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0"/>
            <a:ext cx="9144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9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539345-EA1C-45C5-8627-2B8170F6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81625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274C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74C77"/>
                </a:solidFill>
                <a:latin typeface="Microsoft YaHei"/>
                <a:ea typeface="Microsoft YaHei"/>
                <a:cs typeface="Microsoft YaHei"/>
              </a:rPr>
              <a:t>得到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8BA0A4-D37F-4897-8886-6A5EC2E9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52197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FC94E6-FFE5-4ECF-AB6A-40351163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E9C9C4-5B57-4104-95CD-6DE0078B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91200"/>
            <a:ext cx="4991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938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938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Pₛ = (cdΩ/4π)[ŝ×(ŝ×Êᵢ₀)]² lim_{T→∞} dωₛ/(πT)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938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938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× | e²Eᵢ₀/(2mₑc²)e^{−iωₛR/c} ∫dk/(2π)³∫dω/(2π)nₑ(k,ω)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938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938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×∫dt e^{−i(ωᵢ+ωₛ−ω)t}∫_Vdr e^{i(kᵢ+kₛ−k)·r}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938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938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+ (ωᵢ→−ωᵢ, kᵢ→−kᵢ) |²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24C841-078D-4969-AF8F-9900E8AE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00150"/>
            <a:ext cx="13525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9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38DE79-0302-4FA4-A106-D6173E0F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47775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274C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74C77"/>
                </a:solidFill>
                <a:latin typeface="Microsoft YaHei"/>
                <a:ea typeface="Microsoft YaHei"/>
                <a:cs typeface="Microsoft YaHei"/>
              </a:rPr>
              <a:t>完成积分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39DEA5-0B63-42FF-8102-D2659DDE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00200"/>
            <a:ext cx="55435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971803-8AEB-452D-A751-07A67B23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0020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64F846-E10F-4568-8A28-462C0F27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76400"/>
            <a:ext cx="5314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163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1163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(cdΩ/4π)[ŝ×(ŝ×Êᵢ₀)]² (e²Eᵢ₀/(2mₑc²))² lim_{T→∞} dωₛ/(πT)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163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1163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× | nₑ(kₛ−kᵢ,ωₛ−ωᵢ) + nₑ(kₛ+kᵢ,ωₛ+ωᵢ) |²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24FA04-3768-4C94-913B-56E726E4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57450"/>
            <a:ext cx="1524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962735-CC34-457D-9FCD-7DBA8C7E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050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C979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C97918"/>
                </a:solidFill>
                <a:latin typeface="Microsoft YaHei"/>
                <a:ea typeface="Microsoft YaHei"/>
                <a:cs typeface="Microsoft YaHei"/>
              </a:rPr>
              <a:t>忽略高频项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59CD5D-D740-44E2-A3A2-A8ED6E05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5543550" cy="9715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0D0E65-426E-4B84-B0C3-A87B86DB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C237B0-93D3-401D-819A-BA1FD5E1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33700"/>
            <a:ext cx="5314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125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Pₛ(R,ωₛ)dΩdωₛ = (cdΩ/4π)[ŝ×(ŝ×Êᵢ₀)]² (e²Eᵢ₀/(2mₑc²))² nₑ₀ V S(k,ω)dωₛ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125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k = kᵢ − kₛ,      ω = ωᵢ − ωₛ,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125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S(k,ω)=lim_{T,V→∞} 1/(nₑ₀VT) ⟨|nₑ(k,ω)|²⟩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E244B2-704C-4703-9B12-19C6829C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38600"/>
            <a:ext cx="23431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9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61D12C-CAA0-4092-BCA6-1A36C8EF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86225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274C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74C77"/>
                </a:solidFill>
                <a:latin typeface="Microsoft YaHei"/>
                <a:ea typeface="Microsoft YaHei"/>
                <a:cs typeface="Microsoft YaHei"/>
              </a:rPr>
              <a:t>Wiener-Khinchin 与 FDT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7ECE1B-1A1E-4673-9CDF-3484D578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38650"/>
            <a:ext cx="55435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4E6205-E3EA-4DA6-AF83-FB1B5C3D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3865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6242173-B88D-4923-8F1E-2A3B0818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14850"/>
            <a:ext cx="531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00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⟨φ_i(x,ω)φ_j(x′,ω′)⟩ = 2πδ(ω+ω′)S_{φ_iφ_j}(x,x′,ω)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200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S_AA(ω)=2/(βω)χ″_AA(ω)=2k_BT/ω·χ″_AA(ω),     (ω≠0)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AE01B5-6BB1-4874-BE3B-E934E239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3340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3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32033"/>
                </a:solidFill>
                <a:latin typeface="Microsoft YaHei"/>
                <a:ea typeface="Microsoft YaHei"/>
                <a:cs typeface="Microsoft YaHei"/>
              </a:rPr>
              <a:t>S 可通过 WK 定理和涨落耗散定理与介电函数虚部联系起来。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35500E5-906B-4D2C-B9A0-78263336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515100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73808F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73808F"/>
                </a:solidFill>
                <a:latin typeface="Aptos"/>
                <a:ea typeface="Aptos"/>
                <a:cs typeface="Aptos"/>
              </a:rPr>
              <a:t>OTS 原理说明  ·  3/7</a:t>
            </a:r>
          </a:p>
        </p:txBody>
      </p:sp>
    </p:spTree>
    <p:extLst>
      <p:ext uri="{BB962C8B-B14F-4D97-AF65-F5344CB8AC3E}">
        <p14:creationId xmlns:p14="http://schemas.microsoft.com/office/powerpoint/2010/main" val="8867709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47B262-76A6-4548-97D3-7EDB0FC2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ED64F2-FD78-483A-83B0-37E9C34C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57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0F7F8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F7F8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17F57B-1E04-4EBD-89FD-4633CD48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516173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516173"/>
                </a:solidFill>
                <a:latin typeface="Aptos"/>
                <a:ea typeface="Aptos"/>
                <a:cs typeface="Aptos"/>
              </a:rPr>
              <a:t>Optical Thomson Scattering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DF9FDA-B1A1-4606-BA81-E1A17672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245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13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132033"/>
                </a:solidFill>
                <a:latin typeface="Microsoft YaHei"/>
                <a:ea typeface="Microsoft YaHei"/>
                <a:cs typeface="Microsoft YaHei"/>
              </a:rPr>
              <a:t>保留一阶速度修正得到前灯效应因子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09DD79-5DAB-4C32-BA5D-4077418C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028700"/>
            <a:ext cx="113157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6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4AE89D-90C4-414A-9D3C-8C6F2B0C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524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9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BEBAC8-6318-48AB-9EB5-AFEE2ADB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477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274C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74C77"/>
                </a:solidFill>
                <a:latin typeface="Microsoft YaHei"/>
                <a:ea typeface="Microsoft YaHei"/>
                <a:cs typeface="Microsoft YaHei"/>
              </a:rPr>
              <a:t>较低温展开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4B26C1-3A4C-4D8C-A60B-1CC5B762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52197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E35D6A-3B92-4221-9D30-BF5E2880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CABAA8-6474-45AA-A5BC-5C9B7B6F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499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650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β̇ = − eEᵢ/(cmₑ) [ Ê_i + β_E î − βᵢ Ê_i 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B6DD08-9907-4769-A71C-A5357BFF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66950"/>
            <a:ext cx="52197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567539-A223-4236-BFCA-D2B210EF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66950"/>
            <a:ext cx="47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D0F067-3C2B-4774-B5C6-487143FF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350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设   β_E = Ê_i·β      cosη = ŝ·Ê_i      cosθ = ŝ·î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18BB5D-7776-4AFE-851C-0E8692ED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95600"/>
            <a:ext cx="52197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B61560-A91E-4EB5-AC37-B1F8915F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956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F2710F-AFD1-4F48-979A-2D8D8228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71800"/>
            <a:ext cx="4991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88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1088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ŝ×{(ŝ−β)×β̇}/(1−βₛ)²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88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1088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= eEᵢ/(cmₑ)[(1−βᵢ+βₛ)Êᵢ₀ − {(1−βᵢ+2βₛ)cosη + β_E cosθ}ŝ + β_E î + cosη β]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CD693B-0B34-4132-A652-CC91DDD2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67150"/>
            <a:ext cx="13335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C1C254-CC96-4BB5-A3E5-BA9E9E38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147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C979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C97918"/>
                </a:solidFill>
                <a:latin typeface="Microsoft YaHei"/>
                <a:ea typeface="Microsoft YaHei"/>
                <a:cs typeface="Microsoft YaHei"/>
              </a:rPr>
              <a:t>偏振条件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7272E4-DC7E-49A1-9F5E-02427044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52197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D55173-9138-4888-88D9-36CD9149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E93DCC-7FFE-48F0-9248-1FE5DE21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43400"/>
            <a:ext cx="4991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350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若  Eᵢ₀·ŝ = 0  and  Eₛ || Eᵢ₀,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350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[(1−βᵢ+βₛ)Êᵢ₀ − β_E cosθ ŝ + β_E î]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704847-597B-44A7-AE2B-9A6AD940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67300"/>
            <a:ext cx="52197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218373-7D97-44DD-B6D0-4828C034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673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B6DE25-D632-4C14-992F-971EC52F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0"/>
            <a:ext cx="499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650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平方后一阶小量仅剩      (1−β̄_i+β̄_s)²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0B5EC0-9AFC-4757-A379-3C828151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00150"/>
            <a:ext cx="1524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9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97FF51-F880-49C8-A7C0-D80CB431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477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274C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74C77"/>
                </a:solidFill>
                <a:latin typeface="Microsoft YaHei"/>
                <a:ea typeface="Microsoft YaHei"/>
                <a:cs typeface="Microsoft YaHei"/>
              </a:rPr>
              <a:t>散射峰附近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A95F17-6895-4D93-9A7A-41DB37B7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00200"/>
            <a:ext cx="55435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A1A6AB-16EE-45C6-B71F-678C6A67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0020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573AA1-3B76-4CF4-8C27-2A98A434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76400"/>
            <a:ext cx="531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650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[(1−βᵢ)/(1−βₛ)] Eᵢ₀ ≡ (ωₛ/ωᵢ) Eᵢ₀.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0A807D-8DBE-4D37-9FB4-3C11ECAC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812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51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16173"/>
                </a:solidFill>
                <a:latin typeface="Microsoft YaHei"/>
                <a:ea typeface="Microsoft YaHei"/>
                <a:cs typeface="Microsoft YaHei"/>
              </a:rPr>
              <a:t>此处 β 以积分变量的平均值理解；ω_s/ω_i 以强度峰所处频率理解。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38AA41-F1F1-43FA-AF55-79880FD9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28950"/>
            <a:ext cx="1809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C16B9E-5B9E-42E3-B259-5F56206C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765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C979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C97918"/>
                </a:solidFill>
                <a:latin typeface="Microsoft YaHei"/>
                <a:ea typeface="Microsoft YaHei"/>
                <a:cs typeface="Microsoft YaHei"/>
              </a:rPr>
              <a:t>额外乘以一项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E1DB9B-28B2-48B3-8FEA-88602B9A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55435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A6F17B-3442-4CB2-84A9-AAFD8E21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78378C-DD53-4D73-A1EA-FD71E698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05200"/>
            <a:ext cx="531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163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1163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Pₛ(R,ωₛ)dΩdωₛ = (cdΩ/4π)[ŝ×(ŝ×Êᵢ₀)]²(e²Eᵢ₀/(2mₑc²))²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163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1163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× (1+2ω/ωᵢ)nₑ₀ V S(k,ω)dωₛ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A202EA-DE9B-4969-BD61-A9DE9050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33900"/>
            <a:ext cx="51054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3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32033"/>
                </a:solidFill>
                <a:latin typeface="Microsoft YaHei"/>
                <a:ea typeface="Microsoft YaHei"/>
                <a:cs typeface="Microsoft YaHei"/>
              </a:rPr>
              <a:t>1−β_i：电子向光源移动时，电子系内看到光源发生前灯效应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3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32033"/>
                </a:solidFill>
                <a:latin typeface="Microsoft YaHei"/>
                <a:ea typeface="Microsoft YaHei"/>
                <a:cs typeface="Microsoft YaHei"/>
              </a:rPr>
              <a:t>1−β_s：电子向接收源移动时，实验室系内看到电子发生前灯效应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3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32033"/>
                </a:solidFill>
                <a:latin typeface="Microsoft YaHei"/>
                <a:ea typeface="Microsoft YaHei"/>
                <a:cs typeface="Microsoft YaHei"/>
              </a:rPr>
              <a:t>电子系内的前灯效应等价于实验室系内磁场力与电场力平行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7418C0-7D3A-4627-B701-74DCE109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515100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73808F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73808F"/>
                </a:solidFill>
                <a:latin typeface="Aptos"/>
                <a:ea typeface="Aptos"/>
                <a:cs typeface="Aptos"/>
              </a:rPr>
              <a:t>OTS 原理说明  ·  4/7</a:t>
            </a:r>
          </a:p>
        </p:txBody>
      </p:sp>
    </p:spTree>
    <p:extLst>
      <p:ext uri="{BB962C8B-B14F-4D97-AF65-F5344CB8AC3E}">
        <p14:creationId xmlns:p14="http://schemas.microsoft.com/office/powerpoint/2010/main" val="14434631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B2E76B-9946-41A4-B9FC-3001C054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9F37C8-3998-4590-8A42-205EFA57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57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0F7F8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F7F8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D388CB-826E-4C35-BABB-15BA0852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516173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516173"/>
                </a:solidFill>
                <a:latin typeface="Aptos"/>
                <a:ea typeface="Aptos"/>
                <a:cs typeface="Aptos"/>
              </a:rPr>
              <a:t>Optical Thomson Scattering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D7B077-1810-4CE9-B411-E84FA0D3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245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13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132033"/>
                </a:solidFill>
                <a:latin typeface="Microsoft YaHei"/>
                <a:ea typeface="Microsoft YaHei"/>
                <a:cs typeface="Microsoft YaHei"/>
              </a:rPr>
              <a:t>Fourier-Laplace 响应给出密度涨落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2A725A-E966-4D97-8563-C2DCEB7E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028700"/>
            <a:ext cx="113157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6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B08456-F692-4758-89E5-660BBBE8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2573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9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358F1D-D811-4100-9D5D-DF9CADFB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47775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274C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74C77"/>
                </a:solidFill>
                <a:latin typeface="Microsoft YaHei"/>
                <a:ea typeface="Microsoft YaHei"/>
                <a:cs typeface="Microsoft YaHei"/>
              </a:rPr>
              <a:t>F-L 变换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83C8C7-B31B-445F-9F9C-FAD5A23D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54673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36EC1B-C2E2-4AE4-969E-A87E1706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41E3F7-0EDA-4382-83E4-47018634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38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1238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F₁q(k,v,ω)=∫_0^∞dt e^{−(iω+γ)t} ∫_{−∞}^{+∞}dr F₁q(r,v,t)e^{ik·r}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567836-82F4-42D7-A43A-0FB4FE12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3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51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16173"/>
                </a:solidFill>
                <a:latin typeface="Microsoft YaHei"/>
                <a:ea typeface="Microsoft YaHei"/>
                <a:cs typeface="Microsoft YaHei"/>
              </a:rPr>
              <a:t>其中 γ &gt; 0，表示朗道规则。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CF03D8-8539-4AE3-8065-F2D6019C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54673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22225E-D833-44C3-BDE4-B8A50BE7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47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6A2428-5590-483F-916E-09A76540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795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E_1(r,t)=−∇φ = −(4πi/(2π)³)∫(dk/k²) kρ₁(k,t)e^{−ik·r}.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9E0010-FE08-4AB7-A141-4E301BB3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19450"/>
            <a:ext cx="20955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7663F9-5BB4-412B-97AD-3BEB012B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6707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C979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C97918"/>
                </a:solidFill>
                <a:latin typeface="Microsoft YaHei"/>
                <a:ea typeface="Microsoft YaHei"/>
                <a:cs typeface="Microsoft YaHei"/>
              </a:rPr>
              <a:t>Vlasov 方程 F-L 形式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2EB64C-B1B4-4A23-9B41-B21303EA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54673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02BE60-F01D-458B-88B7-B4311782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AEA325-F93D-42BF-8C39-196C82CE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95700"/>
            <a:ext cx="523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140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1140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−F₁q(k,v,0)+[iω+γ−ik·v]F₁q(k,v,ω)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140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1140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= −(q/m)·1/(k′)²·4πiρ₁(k′,ω) k′·∂F₀q/∂v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4260AC-1591-4641-80F9-38B96B19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76750"/>
            <a:ext cx="17145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9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DE7B36-5F66-452D-970A-FCC63989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243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274C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74C77"/>
                </a:solidFill>
                <a:latin typeface="Microsoft YaHei"/>
                <a:ea typeface="Microsoft YaHei"/>
                <a:cs typeface="Microsoft YaHei"/>
              </a:rPr>
              <a:t>代入速度分布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823F13-30F4-4A18-96F4-5434E67B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76800"/>
            <a:ext cx="546735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99EBDF-E55F-4A7F-920D-FCF13B44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768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2C6698-5836-4B1F-B353-FB832543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0"/>
            <a:ext cx="5238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35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1035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n₁ₑ(k,ω−iγ)=−iΣ_{j=1}^N e^{ik·rⱼ(0)}/(ω−k·vⱼ(0)−iγ) + χₑ(k,ω)ρ₁(k,ω)/e        (3.3.7)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35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1035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n₁ᵢ(k,ω−iγ)=−iΣ_{l=1}^{N/Z} e^{ik·rₗ(0)}/(ω−k·vₗ(0)−iγ) − χᵢ(k,ω)ρ₁(k,ω)/(Ze)    (3.3.8)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A34E85-3FE1-417C-8678-E0F13820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200150"/>
            <a:ext cx="12573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9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AD2F39-E851-4194-A6F5-E51ABE6D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247775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274C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74C77"/>
                </a:solidFill>
                <a:latin typeface="Microsoft YaHei"/>
                <a:ea typeface="Microsoft YaHei"/>
                <a:cs typeface="Microsoft YaHei"/>
              </a:rPr>
              <a:t>介电函数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2CC4C9-6EA9-48B1-86F9-C22495D4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00200"/>
            <a:ext cx="53911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487099-486C-4D51-A74C-0D4223C9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00200"/>
            <a:ext cx="476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9BEC8E-8252-4CF1-863D-6C3BBB64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76400"/>
            <a:ext cx="51625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73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1073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χₑ(k,ω)=∫_{−∞}^{+∞}dv [4πe²nₑ₀/(mₑk²)] · [k·∂fₑ₀/∂v]/(ω−k·v−iγ)        (3.3.9)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73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1073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χᵢ(k,ω)=∫_{−∞}^{+∞}dv [4πZ²e²nᵢ₀/(mᵢk²)] · [k·∂fᵢ₀/∂v]/(ω−k·v−iγ)       (3.3.10)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73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1073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ε(k,ω)=1+χₑ(k,ω)+χᵢ(k,ω).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1AE8D8-2CF9-4A42-A4A5-38915309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24200"/>
            <a:ext cx="9144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923E0A-3DEE-4D24-A80F-AF17AA64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71825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C979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C97918"/>
                </a:solidFill>
                <a:latin typeface="Microsoft YaHei"/>
                <a:ea typeface="Microsoft YaHei"/>
                <a:cs typeface="Microsoft YaHei"/>
              </a:rPr>
              <a:t>解得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3D58DD-771A-4D58-A5AD-F9F8022B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24250"/>
            <a:ext cx="5391150" cy="12192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4C42F9-7220-4F7F-8545-FA662E21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2425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7E573E-D6B9-4B35-9110-109C273A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00450"/>
            <a:ext cx="5162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28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1028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n₁ₑ(k,ω−iγ)=−i[ Σ_{j=1}^N e^{ik·rⱼ(0)}/(ω−k·vⱼ(0)−iγ)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28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1028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− (χₑ/ε)Σ_{j=1}^N e^{ik·rⱼ(0)}/(ω−k·vⱼ(0)−iγ)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028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1028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+ (Zχₑ/ε)Σ_{l=1}^{N/Z} e^{ik·rₗ(0)}/(ω−k·vₗ(0)−iγ) ].       (3.3.11)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F4B79C-389B-4A1E-8801-179D0FEE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6730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3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32033"/>
                </a:solidFill>
                <a:latin typeface="Microsoft YaHei"/>
                <a:ea typeface="Microsoft YaHei"/>
                <a:cs typeface="Microsoft YaHei"/>
              </a:rPr>
              <a:t>第一项：匀速直线电子；第二项：电子相互作用；第三项：离子相互作用。三项均为一阶修正。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63D7B9-967E-47A8-83F0-8297F5E4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515100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73808F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73808F"/>
                </a:solidFill>
                <a:latin typeface="Aptos"/>
                <a:ea typeface="Aptos"/>
                <a:cs typeface="Aptos"/>
              </a:rPr>
              <a:t>OTS 原理说明  ·  5/7</a:t>
            </a:r>
          </a:p>
        </p:txBody>
      </p:sp>
    </p:spTree>
    <p:extLst>
      <p:ext uri="{BB962C8B-B14F-4D97-AF65-F5344CB8AC3E}">
        <p14:creationId xmlns:p14="http://schemas.microsoft.com/office/powerpoint/2010/main" val="10531816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D6724B-8D1B-4249-9BA4-2BEA56C9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9F8BB9-5D79-4872-8515-F1E97F29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57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0F7F8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F7F8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0D41CA-EFD0-4D5A-ADFF-E1756493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516173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516173"/>
                </a:solidFill>
                <a:latin typeface="Aptos"/>
                <a:ea typeface="Aptos"/>
                <a:cs typeface="Aptos"/>
              </a:rPr>
              <a:t>Optical Thomson Scattering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006077-331E-4A6F-829B-1EABB92D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245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13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132033"/>
                </a:solidFill>
                <a:latin typeface="Microsoft YaHei"/>
                <a:ea typeface="Microsoft YaHei"/>
                <a:cs typeface="Microsoft YaHei"/>
              </a:rPr>
              <a:t>谱密度是多粒子系综平均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54D694-E880-48D6-A5B2-E2D94E15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028700"/>
            <a:ext cx="113157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6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D50277-C41D-4B58-BC8C-5E76C9BA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6002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9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9F44B0-2336-47D5-97C1-8375C93F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47775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274C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74C77"/>
                </a:solidFill>
                <a:latin typeface="Microsoft YaHei"/>
                <a:ea typeface="Microsoft YaHei"/>
                <a:cs typeface="Microsoft YaHei"/>
              </a:rPr>
              <a:t>Laplace 平均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679C4A-BE8D-43FB-A593-1708A8E6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525780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D47C80-1141-4E99-AFF9-C98134C9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727F8E-8DE0-4284-9113-60426422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5029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110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1110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nₑ(k,ω−iγ)=∫_{−∞}^{+∞}dr e^{+ik·r}∫_{−∞}^{+∞}dt e^{−i(ω−iγ)t}nₑ(r,t)        (2.3.18)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110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1110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S(k,ω)=lim_{γ→0}(2γ/V)⟨|nₑ(k,ω−iγ)|²/nₑ₀⟩.        (2.3.19)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544081-02EB-4029-A2D2-5D0B3BE7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3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32033"/>
                </a:solidFill>
                <a:latin typeface="Microsoft YaHei"/>
                <a:ea typeface="Microsoft YaHei"/>
                <a:cs typeface="Microsoft YaHei"/>
              </a:rPr>
              <a:t>对于 Laplace 变换，时间平均由 1/T 变为 2γ；S 为多粒子系综的平均。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487C4E-2424-4BF6-9493-F591EE3D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19450"/>
            <a:ext cx="22479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02A593-2CFF-4920-91A6-8D2FE6A5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67075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C979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C97918"/>
                </a:solidFill>
                <a:latin typeface="Microsoft YaHei"/>
                <a:ea typeface="Microsoft YaHei"/>
                <a:cs typeface="Microsoft YaHei"/>
              </a:rPr>
              <a:t>由 n₁e 代入得到 3.4.1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EAE70E-56F2-4510-8029-61B99CCF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5257800" cy="2571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062F81-014E-4887-AC18-E5C4BA7D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47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9C27E8-838E-4CA8-8469-5367D634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95700"/>
            <a:ext cx="502920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818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818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S(k,ω)=lim_{γ→0,V→∞}(2γ/V)⟨|nₑ(k,ω−iγ)|²/nₑ₀⟩</a:t>
            </a:r>
          </a:p>
          <a:p xmlns:a="http://schemas.openxmlformats.org/drawingml/2006/main">
            <a:pPr algn="l">
              <a:lnSpc>
                <a:spcPct val="86000"/>
              </a:lnSpc>
              <a:buNone/>
              <a:defRPr sz="818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818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=lim_{γ→0,V→∞}2γ/(Vnₑ₀){ |1−χₑ/ε|²⟨Σ_j e^{ik·rⱼ}/(ω−k·vⱼ−iγ) · Σ_m e^{−ik·rₘ}/(ω−k·vₘ+iγ)⟩</a:t>
            </a:r>
          </a:p>
          <a:p xmlns:a="http://schemas.openxmlformats.org/drawingml/2006/main">
            <a:pPr algn="l">
              <a:lnSpc>
                <a:spcPct val="86000"/>
              </a:lnSpc>
              <a:buNone/>
              <a:defRPr sz="818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818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+ Z |(1−χₑ/ε)(χₑ/ε)^*|⟨Σ_j e^{ik·rⱼ}/(ω−k·vⱼ−iγ) · Σ_l^{N/Z} e^{−ik·rₗ}/(ω−k·vₗ+iγ)⟩</a:t>
            </a:r>
          </a:p>
          <a:p xmlns:a="http://schemas.openxmlformats.org/drawingml/2006/main">
            <a:pPr algn="l">
              <a:lnSpc>
                <a:spcPct val="86000"/>
              </a:lnSpc>
              <a:buNone/>
              <a:defRPr sz="818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818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+ Z |(1−χₑ/ε)^*(χₑ/ε)|⟨Σ_m e^{−ik·rₘ}/(ω−k·vₘ+iγ) · Σ_s^{N/Z} e^{ik·rₛ}/(ω−k·vₛ−iγ)⟩</a:t>
            </a:r>
          </a:p>
          <a:p xmlns:a="http://schemas.openxmlformats.org/drawingml/2006/main">
            <a:pPr algn="l">
              <a:lnSpc>
                <a:spcPct val="86000"/>
              </a:lnSpc>
              <a:buNone/>
              <a:defRPr sz="818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818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+ |Zχₑ/ε|²⟨Σ_l^{N/Z} e^{ik·rₗ}/(ω−k·vₗ−iγ) · Σ_s^{N/Z} e^{−ik·rₛ}/(ω−k·vₛ+iγ)⟩ }.        (3.4.1)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44D75A-48DA-45F4-BB3F-799CBBB1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00150"/>
            <a:ext cx="2190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9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57C441-5997-46B9-86D1-81294ABF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477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274C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74C77"/>
                </a:solidFill>
                <a:latin typeface="Microsoft YaHei"/>
                <a:ea typeface="Microsoft YaHei"/>
                <a:cs typeface="Microsoft YaHei"/>
              </a:rPr>
              <a:t>第一项的系综平均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919A30-D695-4B06-AD40-2A6D592A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00200"/>
            <a:ext cx="5543550" cy="2209800"/>
          </a:xfrm>
          <a:prstGeom xmlns:a="http://schemas.openxmlformats.org/drawingml/2006/main" prst="roundRect">
            <a:avLst>
              <a:gd name="adj" fmla="val 2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2DD67A-599A-4800-9C56-D0F1108F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00200"/>
            <a:ext cx="47625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F8E733-46D6-418E-B330-7531990B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76400"/>
            <a:ext cx="531495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870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870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lim_{γ→0} γ⟨(Σ_{j=1}^N e^{ik·rⱼ}/(ω−k·vⱼ−iγ))(Σ_{m=1}^N e^{ik·rₘ}/(ω−k·vₘ−iγ))^*⟩</a:t>
            </a:r>
          </a:p>
          <a:p xmlns:a="http://schemas.openxmlformats.org/drawingml/2006/main">
            <a:pPr algn="l">
              <a:lnSpc>
                <a:spcPct val="86000"/>
              </a:lnSpc>
              <a:buNone/>
              <a:defRPr sz="870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870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=lim_{γ→0}γN∫_{−∞}^{+∞}dv fₑ₀(v)/[(ω−k·v)²+γ²]      [see Eqn (A.1.15)]</a:t>
            </a:r>
          </a:p>
          <a:p xmlns:a="http://schemas.openxmlformats.org/drawingml/2006/main">
            <a:pPr algn="l">
              <a:lnSpc>
                <a:spcPct val="86000"/>
              </a:lnSpc>
              <a:buNone/>
              <a:defRPr sz="870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870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+lim_{γ→0}γN(N−1)∬_{j≠m} dvⱼdvₘ fₑ₀(vⱼ)fₑ₀(vₘ)⟨e^{ik·(rⱼ−rₘ)}⟩_{j≠m}/[(ω−k·vⱼ−iγ)(ω−k·vₘ+iγ)]</a:t>
            </a:r>
          </a:p>
          <a:p xmlns:a="http://schemas.openxmlformats.org/drawingml/2006/main">
            <a:pPr algn="l">
              <a:lnSpc>
                <a:spcPct val="86000"/>
              </a:lnSpc>
              <a:buNone/>
              <a:defRPr sz="870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870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=πN/k fₑ₀(ω/k) + lim_{γ→0}γN(N−1)∬_{j≠m} dvⱼdvₘ fₑ₀(vⱼ)fₑ₀(vₘ)⟨e^{ik·(rⱼ−rₘ)}⟩_{j≠m}/[(ω−k·vⱼ−iγ)(ω−k·vₘ+iγ)]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EB5032-4E90-4BDB-8E8F-C4BE5C30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576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3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32033"/>
                </a:solidFill>
                <a:latin typeface="Microsoft YaHei"/>
                <a:ea typeface="Microsoft YaHei"/>
                <a:cs typeface="Microsoft YaHei"/>
              </a:rPr>
              <a:t>两粒子系综平均为 0，仅保留第一项。同理，3.4.1 中交叉项为 0，仅余电子和离子自关联。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FBFAF0-E4CB-47E9-B5CE-E8654D74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53000"/>
            <a:ext cx="55435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DC6001-F71A-4175-BF04-007D5391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530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C606F0-4C44-4C5F-B865-14F22A1A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29200"/>
            <a:ext cx="531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425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⟨exp(ik·[rⱼ(0)−rₘ(0)])⟩_{j≠m}=0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1E2C37-307E-4510-BD3F-58911917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515100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73808F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73808F"/>
                </a:solidFill>
                <a:latin typeface="Aptos"/>
                <a:ea typeface="Aptos"/>
                <a:cs typeface="Aptos"/>
              </a:rPr>
              <a:t>OTS 原理说明  ·  6/7</a:t>
            </a:r>
          </a:p>
        </p:txBody>
      </p:sp>
    </p:spTree>
    <p:extLst>
      <p:ext uri="{BB962C8B-B14F-4D97-AF65-F5344CB8AC3E}">
        <p14:creationId xmlns:p14="http://schemas.microsoft.com/office/powerpoint/2010/main" val="1895136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BB47B0-7F17-44EE-B9DF-D56B7384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A63BD3-BE1D-4871-AB8A-712EDB0C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81050"/>
            <a:ext cx="571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12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125" b="1" i="0">
                <a:solidFill>
                  <a:srgbClr val="13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 i="0">
                <a:solidFill>
                  <a:srgbClr val="132033"/>
                </a:solidFill>
                <a:latin typeface="Microsoft YaHei"/>
                <a:ea typeface="Microsoft YaHei"/>
                <a:cs typeface="Microsoft YaHei"/>
              </a:rPr>
              <a:t>最终结果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9BF1BA-957E-4607-AD29-6345E64A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049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51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516173"/>
                </a:solidFill>
                <a:latin typeface="Microsoft YaHei"/>
                <a:ea typeface="Microsoft YaHei"/>
                <a:cs typeface="Microsoft YaHei"/>
              </a:rPr>
              <a:t>从密度涨落到可观测散射功率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65A41-3088-4ED7-8B68-B234214B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05100"/>
            <a:ext cx="883920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653DDE-1D99-4286-882A-2D5A33C5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051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F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4A9135-AF05-42CE-AF93-CED6D8B4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81300"/>
            <a:ext cx="861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175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S(k,ω)= 2π/k |1−χₑ/ε|² fₑ₀(ω/k) + 2πZ/k |χₑ/ε|² fᵢ₀(ω/k).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AA83CD-CDB7-43D2-8F17-6F826B08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05250"/>
            <a:ext cx="97917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738C37-20ED-4806-B675-2E621C22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052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E6A3CF-A36C-4A1A-ACA7-B8059962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81450"/>
            <a:ext cx="9563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950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 i="0">
                <a:solidFill>
                  <a:srgbClr val="0D1B2A"/>
                </a:solidFill>
                <a:latin typeface="Cambria Math"/>
                <a:ea typeface="Cambria Math"/>
                <a:cs typeface="Cambria Math"/>
              </a:rPr>
              <a:t>Pₛ(R,ωₛ)dΩdωₛ = (cdΩ/4π)[ŝ×(ŝ×Êᵢ₀)]² (e²Eᵢ₀/(2mₑc²))² nₑ₀ V S(k,ω)dωₛ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442AFA-570C-4E25-A02B-9F40F8D6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21970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 i="0">
                <a:solidFill>
                  <a:srgbClr val="13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132033"/>
                </a:solidFill>
                <a:latin typeface="Microsoft YaHei"/>
                <a:ea typeface="Microsoft YaHei"/>
                <a:cs typeface="Microsoft YaHei"/>
              </a:rPr>
              <a:t>谱函数由电子自关联与离子自关联两部分组成；散射功率再由几何偏振因子与入射场幅度加权。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9004C5-08F2-4E7F-B50B-AA7028F5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515100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73808F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73808F"/>
                </a:solidFill>
                <a:latin typeface="Aptos"/>
                <a:ea typeface="Aptos"/>
                <a:cs typeface="Aptos"/>
              </a:rPr>
              <a:t>OTS 原理说明  ·  7/7</a:t>
            </a:r>
          </a:p>
        </p:txBody>
      </p:sp>
    </p:spTree>
    <p:extLst>
      <p:ext uri="{BB962C8B-B14F-4D97-AF65-F5344CB8AC3E}">
        <p14:creationId xmlns:p14="http://schemas.microsoft.com/office/powerpoint/2010/main" val="17449729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2026-07-05T12:09:29.7090000Z</dcterms:created>
  <dcterms:modified xsi:type="dcterms:W3CDTF">2026-07-05T12:09:29.7090000Z</dcterms:modified>
</coreProperties>
</file>