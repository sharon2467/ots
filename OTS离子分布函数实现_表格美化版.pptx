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OTS文章复现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65225"/>
            <a:ext cx="10515600" cy="4351338"/>
          </a:xfrm>
        </p:spPr>
        <p:txBody>
          <a:bodyPr>
            <a:normAutofit fontScale="70000"/>
          </a:bodyPr>
          <a:lstStyle/>
          <a:p>
            <a:r>
              <a:t>论文基准生成合同：</a:t>
            </a:r>
          </a:p>
          <a:p/>
          <a:p>
            <a:r>
              <a:t>- </a:t>
            </a:r>
            <a:r>
              <a:t>每条</a:t>
            </a:r>
            <a:r>
              <a:t> EVDF </a:t>
            </a:r>
            <a:r>
              <a:t>为</a:t>
            </a:r>
            <a:r>
              <a:t> 10 </a:t>
            </a:r>
            <a:r>
              <a:t>个</a:t>
            </a:r>
            <a:r>
              <a:t> Gaussian </a:t>
            </a:r>
            <a:r>
              <a:t>之和；</a:t>
            </a:r>
          </a:p>
          <a:p>
            <a:r>
              <a:t>- </a:t>
            </a:r>
            <a:r>
              <a:t>中心均匀采样于</a:t>
            </a:r>
            <a:r>
              <a:t> `[-0.2c, 0.2c]`</a:t>
            </a:r>
            <a:r>
              <a:t>；</a:t>
            </a:r>
          </a:p>
          <a:p>
            <a:r>
              <a:t>- </a:t>
            </a:r>
            <a:r>
              <a:t>宽度按</a:t>
            </a:r>
            <a:r>
              <a:t> Gaussian </a:t>
            </a:r>
            <a:r>
              <a:t>标准差解释，均匀采样于</a:t>
            </a:r>
            <a:r>
              <a:t> `[0.02c, 0.08c]`</a:t>
            </a:r>
            <a:r>
              <a:t>；</a:t>
            </a:r>
          </a:p>
          <a:p>
            <a:r>
              <a:t>- </a:t>
            </a:r>
            <a:r>
              <a:t>振幅均匀采样于</a:t>
            </a:r>
            <a:r>
              <a:t> `[0.5, 1.5]`</a:t>
            </a:r>
            <a:r>
              <a:t>，最后按速度积分归一化；</a:t>
            </a:r>
          </a:p>
          <a:p>
            <a:r>
              <a:t>- </a:t>
            </a:r>
            <a:r>
              <a:t>训练</a:t>
            </a:r>
            <a:r>
              <a:t>/</a:t>
            </a:r>
            <a:r>
              <a:t>测试物理样本为</a:t>
            </a:r>
            <a:r>
              <a:t> 5000/100</a:t>
            </a:r>
            <a:r>
              <a:t>，</a:t>
            </a:r>
            <a:r>
              <a:t>seed </a:t>
            </a:r>
            <a:r>
              <a:t>为</a:t>
            </a:r>
            <a:r>
              <a:t> `20260715`/`20260716`</a:t>
            </a:r>
            <a:r>
              <a:t>；</a:t>
            </a:r>
          </a:p>
          <a:p>
            <a:r>
              <a:t>- </a:t>
            </a:r>
            <a:r>
              <a:t>波段为</a:t>
            </a:r>
            <a:r>
              <a:t> 349–353 nm</a:t>
            </a:r>
            <a:r>
              <a:t>（</a:t>
            </a:r>
            <a:r>
              <a:t>579 </a:t>
            </a:r>
            <a:r>
              <a:t>点）、</a:t>
            </a:r>
            <a:r>
              <a:t>375–500 nm</a:t>
            </a:r>
            <a:r>
              <a:t>（</a:t>
            </a:r>
            <a:r>
              <a:t>304 </a:t>
            </a:r>
            <a:r>
              <a:t>点）、</a:t>
            </a:r>
            <a:r>
              <a:t>200–340 nm</a:t>
            </a:r>
            <a:r>
              <a:t>（</a:t>
            </a:r>
            <a:r>
              <a:t>341 </a:t>
            </a:r>
            <a:r>
              <a:t>点）；</a:t>
            </a:r>
          </a:p>
          <a:p>
            <a:r>
              <a:t>- </a:t>
            </a:r>
            <a:r>
              <a:t>保留</a:t>
            </a:r>
            <a:r>
              <a:t> 80 </a:t>
            </a:r>
            <a:r>
              <a:t>个复</a:t>
            </a:r>
            <a:r>
              <a:t> Fourier </a:t>
            </a:r>
            <a:r>
              <a:t>模式，</a:t>
            </a:r>
            <a:r>
              <a:t>Parquet </a:t>
            </a:r>
            <a:r>
              <a:t>仍使用第</a:t>
            </a:r>
            <a:r>
              <a:t> 0 </a:t>
            </a:r>
            <a:r>
              <a:t>行</a:t>
            </a:r>
            <a:r>
              <a:t> metadata </a:t>
            </a:r>
            <a:r>
              <a:t>与</a:t>
            </a:r>
            <a:r>
              <a:t> 1384 </a:t>
            </a:r>
            <a:r>
              <a:t>列合同；</a:t>
            </a:r>
          </a:p>
          <a:p>
            <a:r>
              <a:t>- </a:t>
            </a:r>
            <a:r>
              <a:t>论文没有给出</a:t>
            </a:r>
            <a:r>
              <a:t> Fig. 3 </a:t>
            </a:r>
            <a:r>
              <a:t>的</a:t>
            </a:r>
            <a:r>
              <a:t> seed</a:t>
            </a:r>
            <a:r>
              <a:t>、测试行号及全部随机物理参数实现。本次保持现有源码的等离子体参数固定，并将宽度明确解释为标准差。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1610" y="1047750"/>
            <a:ext cx="69621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Figure 3 面板重建指标表"/>
          <p:cNvGraphicFramePr/>
          <p:nvPr/>
        </p:nvGraphicFramePr>
        <p:xfrm>
          <a:off x="571500" y="819150"/>
          <a:ext cx="11049000" cy="5219700"/>
        </p:xfrm>
        <a:graphic>
          <a:graphicData uri="http://schemas.openxmlformats.org/drawingml/2006/table">
            <a:tbl>
              <a:tblPr/>
              <a:tblGrid>
                <a:gridCol w="666750"/>
                <a:gridCol w="2305050"/>
                <a:gridCol w="1123950"/>
                <a:gridCol w="1333500"/>
                <a:gridCol w="1257300"/>
                <a:gridCol w="4362450"/>
              </a:tblGrid>
              <a:tr h="552450">
                <a:tc gridSpan="6"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Figure 3 面板重建指标</a:t>
                      </a:r>
                      <a:endParaRPr sz="210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面板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内容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R²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relative L2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负质量比例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视觉结论</a:t>
                      </a:r>
                      <a:endParaRPr sz="142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2F559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(a)</a:t>
                      </a:r>
                      <a:endParaRPr sz="1425" b="1">
                        <a:solidFill>
                          <a:srgbClr val="2F559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测试集 EVDF，index 0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0.9660485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0.153262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0.003498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主峰与多峰结构正确，峰值有偏高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2F559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(b)</a:t>
                      </a:r>
                      <a:endParaRPr sz="1425" b="1">
                        <a:solidFill>
                          <a:srgbClr val="2F559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测试集 EVDF，index 1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857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0.9940158</a:t>
                      </a:r>
                      <a:endParaRPr sz="1350" b="1">
                        <a:solidFill>
                          <a:srgbClr val="385723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857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0.066086</a:t>
                      </a:r>
                      <a:endParaRPr sz="1350" b="1">
                        <a:solidFill>
                          <a:srgbClr val="385723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85723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0.005787</a:t>
                      </a:r>
                      <a:endParaRPr sz="1350" b="1">
                        <a:solidFill>
                          <a:srgbClr val="385723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曲线高度重合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2F559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(c)</a:t>
                      </a:r>
                      <a:endParaRPr sz="1425" b="1">
                        <a:solidFill>
                          <a:srgbClr val="2F559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超高斯 m = 3.5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0.8891900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0.312564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0.026534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中心峰低估，出现左右旁瓣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2F559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(d)</a:t>
                      </a:r>
                      <a:endParaRPr sz="1425" b="1">
                        <a:solidFill>
                          <a:srgbClr val="2F559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超高斯 m = 5</a:t>
                      </a:r>
                      <a:endParaRPr sz="135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43C0C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0.8033152</a:t>
                      </a:r>
                      <a:endParaRPr sz="1350" b="0">
                        <a:solidFill>
                          <a:srgbClr val="843C0C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43C0C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0.416164</a:t>
                      </a:r>
                      <a:endParaRPr sz="1350" b="0">
                        <a:solidFill>
                          <a:srgbClr val="843C0C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43C0C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0.029565</a:t>
                      </a:r>
                      <a:endParaRPr sz="1350" b="0">
                        <a:solidFill>
                          <a:srgbClr val="843C0C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43C0C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平顶/陡边未充分恢复，旁瓣更明显</a:t>
                      </a:r>
                      <a:endParaRPr sz="1350" b="0">
                        <a:solidFill>
                          <a:srgbClr val="843C0C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3070" y="128905"/>
            <a:ext cx="7464425" cy="5885815"/>
          </a:xfrm>
          <a:prstGeom prst="rect">
            <a:avLst/>
          </a:prstGeom>
        </p:spPr>
      </p:pic>
      <p:sp>
        <p:nvSpPr>
          <p:cNvPr id="5" name="文本框 4"/>
          <p:cNvSpPr>
            <a:spLocks noGrp="1"/>
          </p:cNvSpPr>
          <p:nvPr/>
        </p:nvSpPr>
        <p:spPr>
          <a:xfrm>
            <a:off x="2874645" y="601472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超高斯效果</a:t>
            </a:r>
            <a:r>
              <a:t>不好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625840" y="365950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同步最新</a:t>
            </a:r>
            <a:r>
              <a:rPr lang="zh-CN" altLang="en-US"/>
              <a:t>策略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超高斯分布腰宽</a:t>
            </a:r>
            <a:r>
              <a:rPr lang="zh-CN" altLang="en-US"/>
              <a:t>太窄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离子分布最差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zh-CN" altLang="en-US"/>
              <a:t>光谱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无约束</a:t>
            </a:r>
            <a:r>
              <a:rPr lang="zh-CN" altLang="en-US"/>
              <a:t>光谱</a:t>
            </a:r>
            <a:endParaRPr lang="zh-CN" altLang="en-US"/>
          </a:p>
          <a:p>
            <a:r>
              <a:rPr lang="zh-CN" altLang="en-US"/>
              <a:t>实验策略选择，</a:t>
            </a:r>
            <a:r>
              <a:rPr lang="zh-CN" altLang="en-US">
                <a:sym typeface="+mn-ea"/>
              </a:rPr>
              <a:t>调查物理分布</a:t>
            </a:r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多离子组分</a:t>
            </a:r>
            <a:r>
              <a:rPr lang="zh-CN" altLang="en-US">
                <a:sym typeface="+mn-ea"/>
              </a:rPr>
              <a:t>和单离子组分区别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OTS任意离子分布函数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2330" y="636905"/>
            <a:ext cx="7444105" cy="2572385"/>
          </a:xfrm>
          <a:prstGeom prst="rect">
            <a:avLst/>
          </a:prstGeom>
        </p:spPr>
      </p:pic>
      <p:pic>
        <p:nvPicPr>
          <p:cNvPr id="10" name="图片 4"/>
          <p:cNvPicPr>
            <a:picLocks noChangeAspect="1"/>
          </p:cNvPicPr>
          <p:nvPr/>
        </p:nvPicPr>
        <p:blipFill>
          <a:blip r:embed="rId2"/>
          <a:srcRect l="4169"/>
          <a:stretch>
            <a:fillRect/>
          </a:stretch>
        </p:blipFill>
        <p:spPr>
          <a:xfrm>
            <a:off x="2372360" y="3642995"/>
            <a:ext cx="7138035" cy="133350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3207385" y="5198110"/>
            <a:ext cx="709485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离子分布对电子谱的影响仅体现于密度谱表达式中</a:t>
            </a:r>
            <a:r>
              <a:t>ε</a:t>
            </a:r>
            <a:r>
              <a:t>和</a:t>
            </a:r>
            <a:r>
              <a:t>fj</a:t>
            </a:r>
          </a:p>
          <a:p>
            <a:r>
              <a:t>用</a:t>
            </a:r>
            <a:r>
              <a:t>K</a:t>
            </a:r>
            <a:r>
              <a:t>空间积分式代替等离子体色散函数</a:t>
            </a:r>
            <a:r>
              <a:t>即可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1512570" y="922020"/>
            <a:ext cx="9344660" cy="374904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固定物理量：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探针 </a:t>
            </a:r>
            <a:r>
              <a:rPr sz="2000" b="1">
                <a:solidFill>
                  <a:schemeClr val="tx1"/>
                </a:solidFill>
              </a:rPr>
              <a:t>351 nm</a:t>
            </a:r>
            <a:r>
              <a:rPr sz="2000" b="1">
                <a:solidFill>
                  <a:schemeClr val="tx1"/>
                </a:solidFill>
              </a:rPr>
              <a:t>、散射角 </a:t>
            </a:r>
            <a:r>
              <a:rPr sz="2000" b="1">
                <a:solidFill>
                  <a:schemeClr val="tx1"/>
                </a:solidFill>
              </a:rPr>
              <a:t>123°</a:t>
            </a:r>
            <a:r>
              <a:rPr sz="2000" b="1">
                <a:solidFill>
                  <a:schemeClr val="tx1"/>
                </a:solidFill>
              </a:rPr>
              <a:t>、电子密度 </a:t>
            </a:r>
            <a:r>
              <a:rPr sz="2000" b="1">
                <a:solidFill>
                  <a:schemeClr val="tx1"/>
                </a:solidFill>
              </a:rPr>
              <a:t>`1.81e26 m^-3`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H/C 数量比例 </a:t>
            </a:r>
            <a:r>
              <a:rPr sz="2000" b="1">
                <a:solidFill>
                  <a:schemeClr val="tx1"/>
                </a:solidFill>
                <a:highlight>
                  <a:srgbClr val="FFFF00"/>
                </a:highlight>
              </a:rPr>
              <a:t>`0.55/0.45</a:t>
            </a:r>
            <a:r>
              <a:rPr sz="2000" b="1">
                <a:solidFill>
                  <a:schemeClr val="tx1"/>
                </a:solidFill>
              </a:rPr>
              <a:t>`</a:t>
            </a:r>
            <a:r>
              <a:rPr sz="2000" b="1">
                <a:solidFill>
                  <a:schemeClr val="tx1"/>
                </a:solidFill>
              </a:rPr>
              <a:t>，</a:t>
            </a:r>
            <a:r>
              <a:rPr sz="2000" b="1">
                <a:solidFill>
                  <a:schemeClr val="tx1"/>
                </a:solidFill>
              </a:rPr>
              <a:t>`Z=1/6`</a:t>
            </a:r>
            <a:r>
              <a:rPr sz="2000" b="1">
                <a:solidFill>
                  <a:schemeClr val="tx1"/>
                </a:solidFill>
              </a:rPr>
              <a:t>，质量 </a:t>
            </a:r>
            <a:r>
              <a:rPr sz="2000" b="1">
                <a:solidFill>
                  <a:schemeClr val="tx1"/>
                </a:solidFill>
              </a:rPr>
              <a:t>`m_p/12m_p`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电子固定 </a:t>
            </a:r>
            <a:r>
              <a:rPr sz="2000" b="1">
                <a:solidFill>
                  <a:schemeClr val="tx1"/>
                </a:solidFill>
              </a:rPr>
              <a:t>1370 eV Maxwellian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离子</a:t>
            </a:r>
            <a:r>
              <a:rPr sz="2000" b="1">
                <a:solidFill>
                  <a:schemeClr val="tx1"/>
                </a:solidFill>
              </a:rPr>
              <a:t>2</a:t>
            </a:r>
            <a:r>
              <a:rPr sz="2000" b="1">
                <a:solidFill>
                  <a:schemeClr val="tx1"/>
                </a:solidFill>
              </a:rPr>
              <a:t>固定 </a:t>
            </a:r>
            <a:r>
              <a:rPr sz="2000" b="1">
                <a:solidFill>
                  <a:schemeClr val="tx1"/>
                </a:solidFill>
              </a:rPr>
              <a:t>171.3 eV Maxwellian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三物种漂移均为零；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三个波段仍为 </a:t>
            </a:r>
            <a:r>
              <a:rPr sz="2000" b="1">
                <a:solidFill>
                  <a:schemeClr val="tx1"/>
                </a:solidFill>
              </a:rPr>
              <a:t>349–353 nm</a:t>
            </a:r>
            <a:r>
              <a:rPr sz="2000" b="1">
                <a:solidFill>
                  <a:schemeClr val="tx1"/>
                </a:solidFill>
              </a:rPr>
              <a:t>（</a:t>
            </a:r>
            <a:r>
              <a:rPr sz="2000" b="1">
                <a:solidFill>
                  <a:schemeClr val="tx1"/>
                </a:solidFill>
              </a:rPr>
              <a:t>579 </a:t>
            </a:r>
            <a:r>
              <a:rPr sz="2000" b="1">
                <a:solidFill>
                  <a:schemeClr val="tx1"/>
                </a:solidFill>
              </a:rPr>
              <a:t>点）、</a:t>
            </a:r>
            <a:r>
              <a:rPr sz="2000" b="1">
                <a:solidFill>
                  <a:schemeClr val="tx1"/>
                </a:solidFill>
              </a:rPr>
              <a:t>375.3552–599.7064 nm</a:t>
            </a:r>
            <a:r>
              <a:rPr sz="2000" b="1">
                <a:solidFill>
                  <a:schemeClr val="tx1"/>
                </a:solidFill>
              </a:rPr>
              <a:t>（</a:t>
            </a:r>
            <a:r>
              <a:rPr sz="2000" b="1">
                <a:solidFill>
                  <a:schemeClr val="tx1"/>
                </a:solidFill>
              </a:rPr>
              <a:t>304 </a:t>
            </a:r>
            <a:r>
              <a:rPr sz="2000" b="1">
                <a:solidFill>
                  <a:schemeClr val="tx1"/>
                </a:solidFill>
              </a:rPr>
              <a:t>点）、</a:t>
            </a:r>
            <a:r>
              <a:rPr sz="2000" b="1">
                <a:solidFill>
                  <a:schemeClr val="tx1"/>
                </a:solidFill>
              </a:rPr>
              <a:t>100.1144–339.6504 nm</a:t>
            </a:r>
            <a:r>
              <a:rPr sz="2000" b="1">
                <a:solidFill>
                  <a:schemeClr val="tx1"/>
                </a:solidFill>
              </a:rPr>
              <a:t>（</a:t>
            </a:r>
            <a:r>
              <a:rPr sz="2000" b="1">
                <a:solidFill>
                  <a:schemeClr val="tx1"/>
                </a:solidFill>
              </a:rPr>
              <a:t>341 </a:t>
            </a:r>
            <a:r>
              <a:rPr sz="2000" b="1">
                <a:solidFill>
                  <a:schemeClr val="tx1"/>
                </a:solidFill>
              </a:rPr>
              <a:t>点），各段独立归一化。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离子1在[-12,12]</a:t>
            </a:r>
            <a:r>
              <a:rPr lang="en-US" sz="2000" b="1">
                <a:solidFill>
                  <a:schemeClr val="tx1"/>
                </a:solidFill>
              </a:rPr>
              <a:t>*sqrt</a:t>
            </a: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sz="2000" b="1">
                <a:solidFill>
                  <a:schemeClr val="tx1"/>
                </a:solidFill>
              </a:rPr>
              <a:t>171.3eV</a:t>
            </a:r>
            <a:r>
              <a:rPr lang="zh-CN" sz="2000" b="1">
                <a:solidFill>
                  <a:schemeClr val="tx1"/>
                </a:solidFill>
              </a:rPr>
              <a:t>）</a:t>
            </a:r>
            <a:r>
              <a:rPr sz="2000" b="1">
                <a:solidFill>
                  <a:schemeClr val="tx1"/>
                </a:solidFill>
              </a:rPr>
              <a:t>参考热速度的 </a:t>
            </a:r>
            <a:r>
              <a:rPr sz="2000" b="1">
                <a:solidFill>
                  <a:schemeClr val="tx1"/>
                </a:solidFill>
              </a:rPr>
              <a:t>1000 </a:t>
            </a:r>
            <a:r>
              <a:rPr sz="2000" b="1">
                <a:solidFill>
                  <a:schemeClr val="tx1"/>
                </a:solidFill>
              </a:rPr>
              <a:t>点网格上采样：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- 3 </a:t>
            </a:r>
            <a:r>
              <a:rPr sz="2000" b="1">
                <a:solidFill>
                  <a:schemeClr val="tx1"/>
                </a:solidFill>
              </a:rPr>
              <a:t>个核心 </a:t>
            </a:r>
            <a:r>
              <a:rPr sz="2000" b="1">
                <a:solidFill>
                  <a:schemeClr val="tx1"/>
                </a:solidFill>
              </a:rPr>
              <a:t>Gaussian</a:t>
            </a:r>
            <a:r>
              <a:rPr sz="2000" b="1">
                <a:solidFill>
                  <a:schemeClr val="tx1"/>
                </a:solidFill>
              </a:rPr>
              <a:t>：中心 </a:t>
            </a:r>
            <a:r>
              <a:rPr sz="2000" b="1">
                <a:solidFill>
                  <a:schemeClr val="tx1"/>
                </a:solidFill>
              </a:rPr>
              <a:t>`[-2,2]`</a:t>
            </a:r>
            <a:r>
              <a:rPr sz="2000" b="1">
                <a:solidFill>
                  <a:schemeClr val="tx1"/>
                </a:solidFill>
              </a:rPr>
              <a:t>、</a:t>
            </a:r>
            <a:r>
              <a:rPr sz="2000" b="1">
                <a:solidFill>
                  <a:schemeClr val="tx1"/>
                </a:solidFill>
              </a:rPr>
              <a:t>sigma `[0.35,1.50]`</a:t>
            </a:r>
            <a:r>
              <a:rPr sz="2000" b="1">
                <a:solidFill>
                  <a:schemeClr val="tx1"/>
                </a:solidFill>
              </a:rPr>
              <a:t>、幅度 </a:t>
            </a:r>
            <a:r>
              <a:rPr sz="2000" b="1">
                <a:solidFill>
                  <a:schemeClr val="tx1"/>
                </a:solidFill>
              </a:rPr>
              <a:t>`[0.2,2.5]`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- 1 </a:t>
            </a:r>
            <a:r>
              <a:rPr sz="2000" b="1">
                <a:solidFill>
                  <a:schemeClr val="tx1"/>
                </a:solidFill>
              </a:rPr>
              <a:t>个卫星 </a:t>
            </a:r>
            <a:r>
              <a:rPr sz="2000" b="1">
                <a:solidFill>
                  <a:schemeClr val="tx1"/>
                </a:solidFill>
              </a:rPr>
              <a:t>Gaussian</a:t>
            </a:r>
            <a:r>
              <a:rPr sz="2000" b="1">
                <a:solidFill>
                  <a:schemeClr val="tx1"/>
                </a:solidFill>
              </a:rPr>
              <a:t>：中心 </a:t>
            </a:r>
            <a:r>
              <a:rPr sz="2000" b="1">
                <a:solidFill>
                  <a:schemeClr val="tx1"/>
                </a:solidFill>
              </a:rPr>
              <a:t>`[-7,7]`</a:t>
            </a:r>
            <a:r>
              <a:rPr sz="2000" b="1">
                <a:solidFill>
                  <a:schemeClr val="tx1"/>
                </a:solidFill>
              </a:rPr>
              <a:t>、</a:t>
            </a:r>
            <a:r>
              <a:rPr sz="2000" b="1">
                <a:solidFill>
                  <a:schemeClr val="tx1"/>
                </a:solidFill>
              </a:rPr>
              <a:t>sigma `[0.25,1.00]`</a:t>
            </a:r>
            <a:r>
              <a:rPr sz="2000" b="1">
                <a:solidFill>
                  <a:schemeClr val="tx1"/>
                </a:solidFill>
              </a:rPr>
              <a:t>、幅度 </a:t>
            </a:r>
            <a:r>
              <a:rPr sz="2000" b="1">
                <a:solidFill>
                  <a:schemeClr val="tx1"/>
                </a:solidFill>
              </a:rPr>
              <a:t>`[0.02,0.50]`</a:t>
            </a:r>
            <a:r>
              <a:rPr sz="2000" b="1">
                <a:solidFill>
                  <a:schemeClr val="tx1"/>
                </a:solidFill>
              </a:rPr>
              <a:t>；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- </a:t>
            </a:r>
            <a:r>
              <a:rPr sz="2000" b="1">
                <a:solidFill>
                  <a:schemeClr val="tx1"/>
                </a:solidFill>
              </a:rPr>
              <a:t>最后按速度积分归一化，并保留 </a:t>
            </a:r>
            <a:r>
              <a:rPr sz="2000" b="1">
                <a:solidFill>
                  <a:schemeClr val="tx1"/>
                </a:solidFill>
              </a:rPr>
              <a:t>80 </a:t>
            </a:r>
            <a:r>
              <a:rPr sz="2000" b="1">
                <a:solidFill>
                  <a:schemeClr val="tx1"/>
                </a:solidFill>
              </a:rPr>
              <a:t>个复 </a:t>
            </a:r>
            <a:r>
              <a:rPr sz="2000" b="1">
                <a:solidFill>
                  <a:schemeClr val="tx1"/>
                </a:solidFill>
              </a:rPr>
              <a:t>Fourier </a:t>
            </a:r>
            <a:r>
              <a:rPr sz="2000" b="1">
                <a:solidFill>
                  <a:schemeClr val="tx1"/>
                </a:solidFill>
              </a:rPr>
              <a:t>模式。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Parquet </a:t>
            </a:r>
            <a:r>
              <a:rPr sz="2000" b="1">
                <a:solidFill>
                  <a:schemeClr val="tx1"/>
                </a:solidFill>
              </a:rPr>
              <a:t>仍为 </a:t>
            </a:r>
            <a:r>
              <a:rPr sz="2000" b="1">
                <a:solidFill>
                  <a:schemeClr val="tx1"/>
                </a:solidFill>
              </a:rPr>
              <a:t>1384 </a:t>
            </a:r>
            <a:r>
              <a:rPr sz="2000" b="1">
                <a:solidFill>
                  <a:schemeClr val="tx1"/>
                </a:solidFill>
              </a:rPr>
              <a:t>列 </a:t>
            </a:r>
            <a:r>
              <a:rPr sz="2000" b="1">
                <a:solidFill>
                  <a:schemeClr val="tx1"/>
                </a:solidFill>
              </a:rPr>
              <a:t>metadata-first </a:t>
            </a:r>
            <a:r>
              <a:rPr sz="2000" b="1">
                <a:solidFill>
                  <a:schemeClr val="tx1"/>
                </a:solidFill>
              </a:rPr>
              <a:t>合同，但标签是离子</a:t>
            </a:r>
            <a:r>
              <a:rPr sz="2000" b="1">
                <a:solidFill>
                  <a:schemeClr val="tx1"/>
                </a:solidFill>
              </a:rPr>
              <a:t>1</a:t>
            </a:r>
            <a:r>
              <a:rPr sz="2000" b="1">
                <a:solidFill>
                  <a:schemeClr val="tx1"/>
                </a:solidFill>
              </a:rPr>
              <a:t>：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0:1224      OTS </a:t>
            </a:r>
            <a:r>
              <a:rPr sz="2000" b="1">
                <a:solidFill>
                  <a:schemeClr val="tx1"/>
                </a:solidFill>
              </a:rPr>
              <a:t>光谱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1224:1304   Re(F_i1)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1">
                <a:solidFill>
                  <a:schemeClr val="tx1"/>
                </a:solidFill>
              </a:rPr>
              <a:t>1304:1384   Im(F_i1)</a:t>
            </a:r>
            <a:endParaRPr sz="2000" b="1">
              <a:solidFill>
                <a:schemeClr val="tx1"/>
              </a:solidFill>
            </a:endParaRPr>
          </a:p>
          <a:p>
            <a:pPr indent="0">
              <a:lnSpc>
                <a:spcPct val="100000"/>
              </a:lnSpc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5810" y="1383030"/>
            <a:ext cx="105156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总体测试指标表"/>
          <p:cNvGraphicFramePr/>
          <p:nvPr/>
        </p:nvGraphicFramePr>
        <p:xfrm>
          <a:off x="552450" y="647700"/>
          <a:ext cx="5391150" cy="5562600"/>
        </p:xfrm>
        <a:graphic>
          <a:graphicData uri="http://schemas.openxmlformats.org/drawingml/2006/table">
            <a:tbl>
              <a:tblPr/>
              <a:tblGrid>
                <a:gridCol w="3371850"/>
                <a:gridCol w="2019300"/>
              </a:tblGrid>
              <a:tr h="514350">
                <a:tc gridSpan="2"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总体测试指标</a:t>
                      </a:r>
                      <a:endParaRPr sz="187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44546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数值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4874CB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Fourier coefficient MAE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0.0073790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Fourier coefficient RMSE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0.0194694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Fourier coefficient R²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0.9874143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Hermitian symmetry MAE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离子1 VDF MAE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2.5714e-8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离子1 VDF RMSE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8.0532e-8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离子1 VDF R²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0.9848470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1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VDF relative L2 mean</a:t>
                      </a:r>
                      <a:endParaRPr sz="1240" b="1">
                        <a:solidFill>
                          <a:srgbClr val="7F6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1">
                          <a:solidFill>
                            <a:srgbClr val="7F6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0.0735231</a:t>
                      </a:r>
                      <a:endParaRPr sz="1240" b="1">
                        <a:solidFill>
                          <a:srgbClr val="7F6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2C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VDF relative L2 median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0.0464640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负质量比例均值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0.0033618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逐样本诊断表"/>
          <p:cNvGraphicFramePr/>
          <p:nvPr/>
        </p:nvGraphicFramePr>
        <p:xfrm>
          <a:off x="6248400" y="1219200"/>
          <a:ext cx="5391150" cy="4419600"/>
        </p:xfrm>
        <a:graphic>
          <a:graphicData uri="http://schemas.openxmlformats.org/drawingml/2006/table">
            <a:tbl>
              <a:tblPr/>
              <a:tblGrid>
                <a:gridCol w="2800350"/>
                <a:gridCol w="2590800"/>
              </a:tblGrid>
              <a:tr h="514350">
                <a:tc gridSpan="2"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逐样本诊断</a:t>
                      </a:r>
                      <a:endParaRPr sz="1875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EE822F"/>
                    </a:solidFill>
                  </a:tcPr>
                </a:tc>
                <a:tc hMerge="1">
                  <a:tcPr marL="76200" marR="76200" marT="57150" marB="57150" anchor="ctr" horzOverflow="clip">
                    <a:solidFill>
                      <a:srgbClr val="EE82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D86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数值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D86A1C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relative L2 p90 / p95 / max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0.12055 / 0.24996 / 0.45368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sample R² mean / median / min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0.98500 / 0.99727 / 0.75611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负质量比例 mean / max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0.003362 / 0.02113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重建积分 mean ± std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0.999871 ± 0.000898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重建积分 min / max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40" b="0">
                          <a:solidFill>
                            <a:srgbClr val="1F2937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0.997112 / 1.002005</a:t>
                      </a:r>
                      <a:endParaRPr sz="1240" b="0">
                        <a:solidFill>
                          <a:srgbClr val="1F2937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6200" marR="76200" marT="57150" marB="57150" anchor="ctr" horzOverflow="clip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1050" y="325120"/>
            <a:ext cx="7064375" cy="6165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2475" y="405130"/>
            <a:ext cx="6727190" cy="61156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993505" y="4265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1893</Words>
  <Application>WPS 演示</Application>
  <PresentationFormat>Converted Presentation</PresentationFormat>
  <Paragraphs>195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</vt:lpstr>
      <vt:lpstr>WPS</vt:lpstr>
      <vt:lpstr>OTS文章复现</vt:lpstr>
      <vt:lpstr>PowerPoint 演示文稿</vt:lpstr>
      <vt:lpstr>PowerPoint 演示文稿</vt:lpstr>
      <vt:lpstr>PowerPoint 演示文稿</vt:lpstr>
      <vt:lpstr>PowerPoint 演示文稿</vt:lpstr>
      <vt:lpstr>OTS任意离子分布函数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OTS文章复现</dc:title>
  <dc:creator>Walnut Exporter</dc:creator>
  <cp:lastModifiedBy>Iris wu</cp:lastModifiedBy>
  <cp:revision>2</cp:revision>
  <dcterms:created xsi:type="dcterms:W3CDTF">2026-07-19T13:07:00Z</dcterms:created>
  <dcterms:modified xsi:type="dcterms:W3CDTF">2026-07-20T16:06:05Z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6669D77C077F40BD9C181039F1AB3D96_12</vt:lpwstr>
  </property>
  <property fmtid="{D5CDD505-2E9C-101B-9397-08002B2CF9AE}" pid="3" name="KSOProductBuildVer">
    <vt:lpwstr>2052-12.1.0.23542</vt:lpwstr>
  </property>
</Properties>
</file>