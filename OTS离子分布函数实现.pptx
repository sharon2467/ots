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64" r:id="rId4"/>
    <p:sldId id="265" r:id="rId5"/>
    <p:sldId id="268" r:id="rId6"/>
    <p:sldId id="266" r:id="rId7"/>
    <p:sldId id="256" r:id="rId8"/>
    <p:sldId id="257" r:id="rId9"/>
    <p:sldId id="258" r:id="rId10"/>
    <p:sldId id="262" r:id="rId11"/>
    <p:sldId id="259" r:id="rId12"/>
    <p:sldId id="260" r:id="rId13"/>
    <p:sldId id="26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OTS</a:t>
            </a:r>
            <a:r>
              <a:rPr lang="zh-CN" altLang="en-US"/>
              <a:t>文章</a:t>
            </a:r>
            <a:r>
              <a:rPr lang="zh-CN" altLang="en-US"/>
              <a:t>复现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65225"/>
            <a:ext cx="10515600" cy="4351338"/>
          </a:xfrm>
        </p:spPr>
        <p:txBody>
          <a:bodyPr>
            <a:normAutofit fontScale="70000"/>
          </a:bodyPr>
          <a:p>
            <a:r>
              <a:rPr lang="zh-CN" altLang="en-US"/>
              <a:t>论文基准生成合同：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每条</a:t>
            </a:r>
            <a:r>
              <a:rPr lang="en-US" altLang="zh-CN"/>
              <a:t> EVDF </a:t>
            </a:r>
            <a:r>
              <a:rPr lang="zh-CN" altLang="en-US"/>
              <a:t>为</a:t>
            </a:r>
            <a:r>
              <a:rPr lang="en-US" altLang="zh-CN"/>
              <a:t> 10 </a:t>
            </a:r>
            <a:r>
              <a:rPr lang="zh-CN" altLang="en-US"/>
              <a:t>个</a:t>
            </a:r>
            <a:r>
              <a:rPr lang="en-US" altLang="zh-CN"/>
              <a:t> Gaussian </a:t>
            </a:r>
            <a:r>
              <a:rPr lang="zh-CN" altLang="en-US"/>
              <a:t>之和；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中心均匀采样于</a:t>
            </a:r>
            <a:r>
              <a:rPr lang="en-US" altLang="zh-CN"/>
              <a:t> `[-0.2c, 0.2c]`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宽度按</a:t>
            </a:r>
            <a:r>
              <a:rPr lang="en-US" altLang="zh-CN"/>
              <a:t> Gaussian </a:t>
            </a:r>
            <a:r>
              <a:rPr lang="zh-CN" altLang="en-US"/>
              <a:t>标准差解释，均匀采样于</a:t>
            </a:r>
            <a:r>
              <a:rPr lang="en-US" altLang="zh-CN"/>
              <a:t> `[0.02c, 0.08c]`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振幅均匀采样于</a:t>
            </a:r>
            <a:r>
              <a:rPr lang="en-US" altLang="zh-CN"/>
              <a:t> `[0.5, 1.5]`</a:t>
            </a:r>
            <a:r>
              <a:rPr lang="zh-CN" altLang="en-US"/>
              <a:t>，最后按速度积分归一化；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训练</a:t>
            </a:r>
            <a:r>
              <a:rPr lang="en-US" altLang="zh-CN"/>
              <a:t>/</a:t>
            </a:r>
            <a:r>
              <a:rPr lang="zh-CN" altLang="en-US"/>
              <a:t>测试物理样本为</a:t>
            </a:r>
            <a:r>
              <a:rPr lang="en-US" altLang="zh-CN"/>
              <a:t> 5000/100</a:t>
            </a:r>
            <a:r>
              <a:rPr lang="zh-CN" altLang="en-US"/>
              <a:t>，</a:t>
            </a:r>
            <a:r>
              <a:rPr lang="en-US" altLang="zh-CN"/>
              <a:t>seed </a:t>
            </a:r>
            <a:r>
              <a:rPr lang="zh-CN" altLang="en-US"/>
              <a:t>为</a:t>
            </a:r>
            <a:r>
              <a:rPr lang="en-US" altLang="zh-CN"/>
              <a:t> `20260715`/`20260716`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波段为</a:t>
            </a:r>
            <a:r>
              <a:rPr lang="en-US" altLang="zh-CN"/>
              <a:t> 349–353 nm</a:t>
            </a:r>
            <a:r>
              <a:rPr lang="zh-CN" altLang="en-US"/>
              <a:t>（</a:t>
            </a:r>
            <a:r>
              <a:rPr lang="en-US" altLang="zh-CN"/>
              <a:t>579 </a:t>
            </a:r>
            <a:r>
              <a:rPr lang="zh-CN" altLang="en-US"/>
              <a:t>点）、</a:t>
            </a:r>
            <a:r>
              <a:rPr lang="en-US" altLang="zh-CN"/>
              <a:t>375–500 nm</a:t>
            </a:r>
            <a:r>
              <a:rPr lang="zh-CN" altLang="en-US"/>
              <a:t>（</a:t>
            </a:r>
            <a:r>
              <a:rPr lang="en-US" altLang="zh-CN"/>
              <a:t>304 </a:t>
            </a:r>
            <a:r>
              <a:rPr lang="zh-CN" altLang="en-US"/>
              <a:t>点）、</a:t>
            </a:r>
            <a:r>
              <a:rPr lang="en-US" altLang="zh-CN"/>
              <a:t>200–340 nm</a:t>
            </a:r>
            <a:r>
              <a:rPr lang="zh-CN" altLang="en-US"/>
              <a:t>（</a:t>
            </a:r>
            <a:r>
              <a:rPr lang="en-US" altLang="zh-CN"/>
              <a:t>341 </a:t>
            </a:r>
            <a:r>
              <a:rPr lang="zh-CN" altLang="en-US"/>
              <a:t>点）；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保留</a:t>
            </a:r>
            <a:r>
              <a:rPr lang="en-US" altLang="zh-CN"/>
              <a:t> 80 </a:t>
            </a:r>
            <a:r>
              <a:rPr lang="zh-CN" altLang="en-US"/>
              <a:t>个复</a:t>
            </a:r>
            <a:r>
              <a:rPr lang="en-US" altLang="zh-CN"/>
              <a:t> Fourier </a:t>
            </a:r>
            <a:r>
              <a:rPr lang="zh-CN" altLang="en-US"/>
              <a:t>模式，</a:t>
            </a:r>
            <a:r>
              <a:rPr lang="en-US" altLang="zh-CN"/>
              <a:t>Parquet </a:t>
            </a:r>
            <a:r>
              <a:rPr lang="zh-CN" altLang="en-US"/>
              <a:t>仍使用第</a:t>
            </a:r>
            <a:r>
              <a:rPr lang="en-US" altLang="zh-CN"/>
              <a:t> 0 </a:t>
            </a:r>
            <a:r>
              <a:rPr lang="zh-CN" altLang="en-US"/>
              <a:t>行</a:t>
            </a:r>
            <a:r>
              <a:rPr lang="en-US" altLang="zh-CN"/>
              <a:t> metadata </a:t>
            </a:r>
            <a:r>
              <a:rPr lang="zh-CN" altLang="en-US"/>
              <a:t>与</a:t>
            </a:r>
            <a:r>
              <a:rPr lang="en-US" altLang="zh-CN"/>
              <a:t> 1384 </a:t>
            </a:r>
            <a:r>
              <a:rPr lang="zh-CN" altLang="en-US"/>
              <a:t>列合同；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论文没有给出</a:t>
            </a:r>
            <a:r>
              <a:rPr lang="en-US" altLang="zh-CN"/>
              <a:t> Fig. 3 </a:t>
            </a:r>
            <a:r>
              <a:rPr lang="zh-CN" altLang="en-US"/>
              <a:t>的</a:t>
            </a:r>
            <a:r>
              <a:rPr lang="en-US" altLang="zh-CN"/>
              <a:t> seed</a:t>
            </a:r>
            <a:r>
              <a:rPr lang="zh-CN" altLang="en-US"/>
              <a:t>、测试行号及全部随机物理参数实现。本次保持现有源码的等离子体参数固定，并将宽度明确解释为标准差。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14295" y="1047750"/>
            <a:ext cx="69621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864485" y="2449195"/>
            <a:ext cx="5873750" cy="404495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面板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内容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 R2 | relative L2 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负质量比例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视觉结论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</a:t>
            </a:r>
            <a:endParaRPr lang="en-US" altLang="zh-CN" sz="1600" b="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|---|---|---:|---:|---:|---|</a:t>
            </a:r>
            <a:endParaRPr lang="en-US" altLang="zh-CN" sz="1600" b="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 (a) 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测试集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EVDF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，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index 0 | 0.9660485 | 0.153262 | 0.003498 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主峰与多峰结构正确，峰值有偏高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</a:t>
            </a:r>
            <a:endParaRPr lang="en-US" altLang="zh-CN" sz="1600" b="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 (b) 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测试集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EVDF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，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index 1 | 0.9940158 | 0.066086 | 0.005787 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曲线高度重合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</a:t>
            </a:r>
            <a:endParaRPr lang="en-US" altLang="zh-CN" sz="1600" b="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 (c) 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超高斯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`m=3.5` | 0.8891900 | 0.312564 | 0.026534 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中心峰低估，出现左右旁瓣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</a:t>
            </a:r>
            <a:endParaRPr lang="en-US" altLang="zh-CN" sz="1600" b="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 (d) 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超高斯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`m=5` | 0.8033152 | 0.416164 | 0.029565 | 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平顶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/</a:t>
            </a:r>
            <a:r>
              <a:rPr lang="zh-CN" altLang="en-US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陡边未充分恢复，旁瓣更明显 </a:t>
            </a:r>
            <a:r>
              <a:rPr lang="en-US" altLang="zh-CN" sz="1600" b="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|</a:t>
            </a:r>
            <a:endParaRPr lang="en-US" altLang="zh-CN" sz="1600" b="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25650" y="179705"/>
            <a:ext cx="7464425" cy="58858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66640" y="62572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超高斯效果</a:t>
            </a:r>
            <a:r>
              <a:rPr lang="zh-CN" altLang="en-US"/>
              <a:t>不好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OTS</a:t>
            </a:r>
            <a:r>
              <a:rPr lang="zh-CN" altLang="en-US"/>
              <a:t>任意离子分布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06295" y="523240"/>
            <a:ext cx="7772400" cy="2686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345" y="3586480"/>
            <a:ext cx="7448550" cy="13335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07385" y="5198110"/>
            <a:ext cx="7094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离子分布对电子谱的影响仅体现于密度谱表达式中</a:t>
            </a:r>
            <a:r>
              <a:rPr lang="en-US" altLang="zh-CN"/>
              <a:t>ε</a:t>
            </a:r>
            <a:r>
              <a:rPr lang="zh-CN" altLang="en-US"/>
              <a:t>和</a:t>
            </a:r>
            <a:r>
              <a:rPr lang="en-US" altLang="zh-CN"/>
              <a:t>fj</a:t>
            </a:r>
            <a:endParaRPr lang="en-US" altLang="zh-CN"/>
          </a:p>
          <a:p>
            <a:r>
              <a:rPr lang="zh-CN" altLang="en-US"/>
              <a:t>用</a:t>
            </a:r>
            <a:r>
              <a:rPr lang="en-US" altLang="zh-CN"/>
              <a:t>K</a:t>
            </a:r>
            <a:r>
              <a:rPr lang="zh-CN" altLang="en-US"/>
              <a:t>空间积分式代替等离子体色散函数</a:t>
            </a:r>
            <a:r>
              <a:rPr lang="zh-CN" altLang="en-US"/>
              <a:t>即可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12570" y="922020"/>
            <a:ext cx="9344660" cy="374904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00000"/>
              </a:lnSpc>
            </a:pP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固定物理量：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-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探针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351 nm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、散射角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123°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、电子密度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`1.81e26 m^-3`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；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- H/C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数量比例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`0.55/0.45`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，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`Z=1/6`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，质量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`m_p/12m_p`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；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-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电子固定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1370 eV Maxwellian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；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-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离子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固定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171.3 eV Maxwellian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；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-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三物种漂移均为零；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-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三个波段仍为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349–353 nm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579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点）、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375.3552–599.7064 nm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304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点）、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100.1144–339.6504 nm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341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点），各段独立归一化。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离子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在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[-12,12]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个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171.3eV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参考热速度的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1000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点网格上采样：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- 3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个核心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Gaussian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：中心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`[-2,2]`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sigma `[0.35,1.50]`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、幅度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`[0.2,2.5]`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；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- 1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个卫星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Gaussian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：中心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`[-7,7]`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sigma `[0.25,1.00]`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、幅度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`[0.02,0.50]`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；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-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最后按速度积分归一化，并保留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80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个复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Fourier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模式。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Parquet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仍为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1384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列 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metadata-first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合同，但标签是离子</a:t>
            </a: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：</a:t>
            </a:r>
            <a:endParaRPr lang="en-US" altLang="zh-CN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0:1224      OTS </a:t>
            </a:r>
            <a:r>
              <a:rPr lang="zh-CN" altLang="en-US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光谱</a:t>
            </a:r>
            <a:endParaRPr lang="zh-CN" altLang="en-US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1224:1304   Re(F_i1)</a:t>
            </a:r>
            <a:endParaRPr lang="en-US" altLang="zh-CN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2000" b="1">
                <a:solidFill>
                  <a:schemeClr val="tx1"/>
                </a:solidFill>
                <a:ea typeface="Consolas" panose="020B0609020204030204"/>
                <a:cs typeface="+mn-lt"/>
              </a:rPr>
              <a:t>1304:1384   Im(F_i1)</a:t>
            </a:r>
            <a:endParaRPr lang="en-US" altLang="zh-CN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  <a:p>
            <a:pPr indent="0" fontAlgn="auto">
              <a:lnSpc>
                <a:spcPct val="100000"/>
              </a:lnSpc>
            </a:pPr>
            <a:endParaRPr lang="en-US" altLang="zh-CN" sz="2000" b="1">
              <a:solidFill>
                <a:schemeClr val="tx1"/>
              </a:solidFill>
              <a:ea typeface="Consolas" panose="020B0609020204030204"/>
              <a:cs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5810" y="1383030"/>
            <a:ext cx="1051560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816350" y="455295"/>
            <a:ext cx="5080000" cy="5754370"/>
          </a:xfrm>
          <a:prstGeom prst="rect">
            <a:avLst/>
          </a:prstGeom>
        </p:spPr>
        <p:txBody>
          <a:bodyPr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zh-CN" sz="1600" b="1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## </a:t>
            </a:r>
            <a:r>
              <a:rPr lang="zh-CN" altLang="en-US" sz="1600" b="1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测试指标</a:t>
            </a:r>
            <a:endParaRPr lang="zh-CN" altLang="en-US" sz="1600" b="1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指标 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数值 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|---|---:|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Fourier coefficient MAE | `0.0073790`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Fourier coefficient RMSE | `0.0194694`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Fourier coefficient R2 | `0.9874143`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Hermitian symmetry MAE | `0`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离子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1 VDF MAE | `2.5714e-8`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离子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1 VDF RMSE | `8.0532e-8`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离子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1 VDF R2 | `0.9848470`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Consolas" panose="020B0609020204030204"/>
                <a:cs typeface="+mj-lt"/>
              </a:rPr>
              <a:t>| VDF relative L2 mean | `0.0735231` |</a:t>
            </a:r>
            <a:endParaRPr lang="en-US" altLang="zh-CN" sz="1600" b="0">
              <a:solidFill>
                <a:schemeClr val="tx1"/>
              </a:solidFill>
              <a:highlight>
                <a:srgbClr val="FFFF00"/>
              </a:highlight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VDF relative L2 median | `0.0464640`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负质量比例均值 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`0.0033618`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逐样本诊断：</a:t>
            </a:r>
            <a:endParaRPr lang="zh-CN" altLang="en-US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统计 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数值 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|---|---:|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relative L2 p90 / p95 / max | `0.12055 / 0.24996 / 0.45368`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sample R2 mean / median / min | `0.98500 / 0.99727 / 0.75611`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负质量比例 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mean / max | `0.003362 / 0.02113`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重建积分 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mean ± std | `0.999871 ± 0.000898`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| </a:t>
            </a:r>
            <a:r>
              <a:rPr lang="zh-CN" altLang="en-US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重建积分 </a:t>
            </a:r>
            <a:r>
              <a:rPr lang="en-US" altLang="zh-CN" sz="1600" b="0">
                <a:solidFill>
                  <a:schemeClr val="tx1"/>
                </a:solidFill>
                <a:latin typeface="+mj-lt"/>
                <a:ea typeface="Consolas" panose="020B0609020204030204"/>
                <a:cs typeface="+mj-lt"/>
              </a:rPr>
              <a:t>min / max | `0.997112 / 1.002005` |</a:t>
            </a:r>
            <a:endParaRPr lang="en-US" altLang="zh-CN" sz="1600" b="0">
              <a:solidFill>
                <a:schemeClr val="tx1"/>
              </a:solidFill>
              <a:latin typeface="+mj-lt"/>
              <a:ea typeface="Consolas" panose="020B0609020204030204"/>
              <a:cs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51050" y="562610"/>
            <a:ext cx="6792595" cy="5928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22475" y="405130"/>
            <a:ext cx="6727190" cy="6115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2024</Words>
  <Application>WPS 演示</Application>
  <PresentationFormat>宽屏</PresentationFormat>
  <Paragraphs>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Consolas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OTS任意离子分布函数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</dc:creator>
  <cp:lastModifiedBy>Iris wu</cp:lastModifiedBy>
  <cp:revision>7</cp:revision>
  <dcterms:created xsi:type="dcterms:W3CDTF">2023-08-09T12:44:00Z</dcterms:created>
  <dcterms:modified xsi:type="dcterms:W3CDTF">2026-07-19T11:55:20Z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B96277FFA74E4F85BBB7AF7CBB224B8F_12</vt:lpwstr>
  </property>
</Properties>
</file>